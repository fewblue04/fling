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94610"/>
  </p:normalViewPr>
  <p:slideViewPr>
    <p:cSldViewPr snapToGrid="0" snapToObjects="1">
      <p:cViewPr>
        <p:scale>
          <a:sx n="121" d="100"/>
          <a:sy n="121" d="100"/>
        </p:scale>
        <p:origin x="63" y="4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26115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800" b="0" i="0" u="none" strike="noStrike" dirty="0">
                <a:solidFill>
                  <a:srgbClr val="000000"/>
                </a:solidFill>
                <a:effectLst/>
                <a:latin typeface="Arial" panose="020B0604020202020204" pitchFamily="34" charset="0"/>
              </a:rPr>
              <a:t>Hi everyone, this is Fling: a recipe-themed programming language where your units actually mean something. Fling treats values like `500g`, `2cups`, and `35minutes` as meaningful typed values, so the compiler can catch unit mistakes before the program runs. The cooking theme shows up throughout the syntax: you declare ingredients, follow steps, write recipes, and serve a result.</a:t>
            </a:r>
            <a:endParaRPr lang="en-US" b="0" dirty="0">
              <a:effectLst/>
            </a:endParaRPr>
          </a:p>
          <a:p>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800" b="0" i="0" u="none" strike="noStrike" dirty="0">
                <a:solidFill>
                  <a:srgbClr val="000000"/>
                </a:solidFill>
                <a:effectLst/>
                <a:latin typeface="Arial" panose="020B0604020202020204" pitchFamily="34" charset="0"/>
              </a:rPr>
              <a:t>The problem is that most programming languages treat numbers like unlabeled ingredients. If I write `200`, the language does not know whether that means grams, milliliters, degrees, or seconds. That becomes dangerous when different kinds of values get mixed together. Adding grams to milliliters might still look like valid arithmetic, even though it is conceptually wrong. Fling asks: what if the language could understand the meaning of those numbers and stop the mistake immediately?</a:t>
            </a:r>
            <a:endParaRPr lang="en-US" b="0" dirty="0">
              <a:effectLst/>
            </a:endParaRPr>
          </a:p>
          <a:p>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800" b="0" i="0" u="none" strike="noStrike" dirty="0">
                <a:solidFill>
                  <a:srgbClr val="000000"/>
                </a:solidFill>
                <a:effectLst/>
                <a:latin typeface="Arial" panose="020B0604020202020204" pitchFamily="34" charset="0"/>
              </a:rPr>
              <a:t>This slide shows the pain point directly: what happens when a language cannot tell grams from milliliters? Some operations should be valid. `200g + 100g` makes sense because both values are weights, and `1cup + 100ml` makes sense because both values are volumes. But `200g + 350ml` should not compile. That is not a math problem; it is a meaning problem. Fling catches that mismatch before JavaScript is emitted.</a:t>
            </a:r>
            <a:endParaRPr lang="en-US" b="0" dirty="0">
              <a:effectLst/>
            </a:endParaRPr>
          </a:p>
          <a:p>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000000"/>
                </a:solidFill>
                <a:effectLst/>
                <a:latin typeface="Arial" panose="020B0604020202020204" pitchFamily="34" charset="0"/>
              </a:rPr>
              <a:t>Fling handles this by treating every unit as a compile-time type. The analyzer tracks the dimension of each expression as the program is checked. Weight units are compatible with weight units, volume units with volume units, time with time, and temperature with temperature. But cross-dimension operations are rejected. So if I accidentally mix grams with milliliters, the compiler says no before a single line of JavaScript is generated.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800" b="0" i="0" u="none" strike="noStrike" dirty="0">
                <a:solidFill>
                  <a:srgbClr val="000000"/>
                </a:solidFill>
                <a:effectLst/>
                <a:latin typeface="Arial" panose="020B0604020202020204" pitchFamily="34" charset="0"/>
              </a:rPr>
              <a:t>The theme comes from the idea that programming and cooking have the same basic shape. You gather ingredients, follow a process, and produce something at the end. In Fling, variables become ingredients, functions become recipes, loops become simmering or batching, and returns become serving. The theme makes the language memorable, but underneath it are real compiler ideas: static analysis, type checking, optimization, and code generation.</a:t>
            </a:r>
            <a:endParaRPr lang="en-US" b="0" dirty="0">
              <a:effectLst/>
            </a:endParaRPr>
          </a:p>
          <a:p>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000000"/>
                </a:solidFill>
                <a:effectLst/>
                <a:latin typeface="Arial" panose="020B0604020202020204" pitchFamily="34" charset="0"/>
              </a:rPr>
              <a:t>Here is what the theme looks like in actual syntax. You declare a variable with `ingredient`, like `ingredient x: kg = 5kg`. You define a function with `recipe`, and a recipe declares what it `yields`. To return a value, you `serve` it. For control flow, `taste` is an if statement, `simmer` is a while loop, and `batch` is a for-each loop. The language reads like a recipe, but each idea maps to a familiar programming construct.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000000"/>
                </a:solidFill>
                <a:effectLst/>
                <a:latin typeface="Arial" panose="020B0604020202020204" pitchFamily="34" charset="0"/>
              </a:rPr>
              <a:t>Fling performs 36 static checks before it generates JavaScript. These include scope checks like duplicate names and undeclared identifiers, type checks like unit mismatches and incompatible operations, and control-flow checks like missing `serve` statements or using `</a:t>
            </a:r>
            <a:r>
              <a:rPr lang="en-US" sz="1800" b="0" i="0" u="none" strike="noStrike" dirty="0" err="1">
                <a:solidFill>
                  <a:srgbClr val="000000"/>
                </a:solidFill>
                <a:effectLst/>
                <a:latin typeface="Arial" panose="020B0604020202020204" pitchFamily="34" charset="0"/>
              </a:rPr>
              <a:t>toss`</a:t>
            </a:r>
            <a:r>
              <a:rPr lang="en-US" sz="1800" b="0" i="0" u="none" strike="noStrike" dirty="0">
                <a:solidFill>
                  <a:srgbClr val="000000"/>
                </a:solidFill>
                <a:effectLst/>
                <a:latin typeface="Arial" panose="020B0604020202020204" pitchFamily="34" charset="0"/>
              </a:rPr>
              <a:t> and `skip` outside loops. It also checks recipe calls, field access, and immutable assignment. The big point is that all of this happens before runtime, when mistakes are cheaper to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000000"/>
                </a:solidFill>
                <a:effectLst/>
                <a:latin typeface="Arial" panose="020B0604020202020204" pitchFamily="34" charset="0"/>
              </a:rPr>
              <a:t>Under the hood, Fling uses a standard compiler pipeline. An Ohm.js grammar parses `.fling` source into an abstract syntax tree. The semantic analyzer resolves names, tracks scopes, checks types, and enforces unit rules. The optimizer performs constant folding, unit normalization, dead code elimination, and strength reduction. Finally, the generator emits readable JavaScript. Since units are checked at compile time, the generated code stays simple, with no runtime unit-checking overhead.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000000"/>
                </a:solidFill>
                <a:effectLst/>
                <a:latin typeface="Arial" panose="020B0604020202020204" pitchFamily="34" charset="0"/>
              </a:rPr>
              <a:t>Here is a tiny complete Fling program. We declare two ingredients: `x` is `5kg`, and `y` is `6kg`. Then we compute `z` as `x + y`. The compiler verifies that kilograms plus kilograms is valid, and internally Fling normalizes units into base units where needed. Finally, we `serve z`, which becomes the program output. The generated JavaScript is ordinary arithmetic and `console.log`; the unit information already did its job during compilation.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000000"/>
                </a:solidFill>
                <a:effectLst/>
                <a:latin typeface="Arial" panose="020B0604020202020204" pitchFamily="34" charset="0"/>
              </a:rPr>
              <a:t>To try Fling, clone the GitHub repo, run `</a:t>
            </a:r>
            <a:r>
              <a:rPr lang="en-US" sz="1800" b="0" i="0" u="none" strike="noStrike" dirty="0" err="1">
                <a:solidFill>
                  <a:srgbClr val="000000"/>
                </a:solidFill>
                <a:effectLst/>
                <a:latin typeface="Arial" panose="020B0604020202020204" pitchFamily="34" charset="0"/>
              </a:rPr>
              <a:t>npm</a:t>
            </a:r>
            <a:r>
              <a:rPr lang="en-US" sz="1800" b="0" i="0" u="none" strike="noStrike" dirty="0">
                <a:solidFill>
                  <a:srgbClr val="000000"/>
                </a:solidFill>
                <a:effectLst/>
                <a:latin typeface="Arial" panose="020B0604020202020204" pitchFamily="34" charset="0"/>
              </a:rPr>
              <a:t> install`, and compile a program with `node </a:t>
            </a:r>
            <a:r>
              <a:rPr lang="en-US" sz="1800" b="0" i="0" u="none" strike="noStrike" dirty="0" err="1">
                <a:solidFill>
                  <a:srgbClr val="000000"/>
                </a:solidFill>
                <a:effectLst/>
                <a:latin typeface="Arial" panose="020B0604020202020204" pitchFamily="34" charset="0"/>
              </a:rPr>
              <a:t>src</a:t>
            </a:r>
            <a:r>
              <a:rPr lang="en-US" sz="1800" b="0" i="0" u="none" strike="noStrike" dirty="0">
                <a:solidFill>
                  <a:srgbClr val="000000"/>
                </a:solidFill>
                <a:effectLst/>
                <a:latin typeface="Arial" panose="020B0604020202020204" pitchFamily="34" charset="0"/>
              </a:rPr>
              <a:t>/fling.js </a:t>
            </a:r>
            <a:r>
              <a:rPr lang="en-US" sz="1800" b="0" i="0" u="none" strike="noStrike" dirty="0" err="1">
                <a:solidFill>
                  <a:srgbClr val="000000"/>
                </a:solidFill>
                <a:effectLst/>
                <a:latin typeface="Arial" panose="020B0604020202020204" pitchFamily="34" charset="0"/>
              </a:rPr>
              <a:t>yourprogram.fling</a:t>
            </a:r>
            <a:r>
              <a:rPr lang="en-US" sz="1800" b="0" i="0" u="none" strike="noStrike" dirty="0">
                <a:solidFill>
                  <a:srgbClr val="000000"/>
                </a:solidFill>
                <a:effectLst/>
                <a:latin typeface="Arial" panose="020B0604020202020204" pitchFamily="34" charset="0"/>
              </a:rPr>
              <a:t>`. The project also has a companion website with documentation and examples. Fling was built at Loyola Marymount University as a small language project, but it demonstrates a real compiler idea: when a language understands more about your values, it can catch more bugs before your code runs. That is Fling: readable recipe-themed syntax, meaningful units, and safer code served fresh.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slides/_rels/slide4.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9.sv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7.svg"/></Relationships>
</file>

<file path=ppt/slides/_rels/slide7.xml.rels><?xml version="1.0" encoding="UTF-8" standalone="yes"?>
<Relationships xmlns="http://schemas.openxmlformats.org/package/2006/relationships"><Relationship Id="rId8" Type="http://schemas.openxmlformats.org/officeDocument/2006/relationships/image" Target="../media/image32.svg"/><Relationship Id="rId13" Type="http://schemas.openxmlformats.org/officeDocument/2006/relationships/image" Target="../media/image37.png"/><Relationship Id="rId3" Type="http://schemas.openxmlformats.org/officeDocument/2006/relationships/image" Target="../media/image28.png"/><Relationship Id="rId7" Type="http://schemas.openxmlformats.org/officeDocument/2006/relationships/image" Target="../media/image24.png"/><Relationship Id="rId12" Type="http://schemas.openxmlformats.org/officeDocument/2006/relationships/image" Target="../media/image36.sv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1.svg"/><Relationship Id="rId11" Type="http://schemas.openxmlformats.org/officeDocument/2006/relationships/image" Target="../media/image35.svg"/><Relationship Id="rId5" Type="http://schemas.openxmlformats.org/officeDocument/2006/relationships/image" Target="../media/image30.png"/><Relationship Id="rId10" Type="http://schemas.openxmlformats.org/officeDocument/2006/relationships/image" Target="../media/image34.png"/><Relationship Id="rId4" Type="http://schemas.openxmlformats.org/officeDocument/2006/relationships/image" Target="../media/image29.svg"/><Relationship Id="rId9" Type="http://schemas.openxmlformats.org/officeDocument/2006/relationships/image" Target="../media/image33.svg"/><Relationship Id="rId14" Type="http://schemas.openxmlformats.org/officeDocument/2006/relationships/image" Target="../media/image38.svg"/></Relationships>
</file>

<file path=ppt/slides/_rels/slide8.xml.rels><?xml version="1.0" encoding="UTF-8" standalone="yes"?>
<Relationships xmlns="http://schemas.openxmlformats.org/package/2006/relationships"><Relationship Id="rId8" Type="http://schemas.openxmlformats.org/officeDocument/2006/relationships/image" Target="../media/image44.svg"/><Relationship Id="rId13" Type="http://schemas.openxmlformats.org/officeDocument/2006/relationships/image" Target="../media/image49.png"/><Relationship Id="rId3" Type="http://schemas.openxmlformats.org/officeDocument/2006/relationships/image" Target="../media/image39.png"/><Relationship Id="rId7" Type="http://schemas.openxmlformats.org/officeDocument/2006/relationships/image" Target="../media/image43.svg"/><Relationship Id="rId12" Type="http://schemas.openxmlformats.org/officeDocument/2006/relationships/image" Target="../media/image48.svg"/><Relationship Id="rId2" Type="http://schemas.openxmlformats.org/officeDocument/2006/relationships/notesSlide" Target="../notesSlides/notesSlide8.xml"/><Relationship Id="rId16" Type="http://schemas.openxmlformats.org/officeDocument/2006/relationships/image" Target="../media/image52.svg"/><Relationship Id="rId1" Type="http://schemas.openxmlformats.org/officeDocument/2006/relationships/slideLayout" Target="../slideLayouts/slideLayout1.xml"/><Relationship Id="rId6" Type="http://schemas.openxmlformats.org/officeDocument/2006/relationships/image" Target="../media/image42.svg"/><Relationship Id="rId11" Type="http://schemas.openxmlformats.org/officeDocument/2006/relationships/image" Target="../media/image47.png"/><Relationship Id="rId5" Type="http://schemas.openxmlformats.org/officeDocument/2006/relationships/image" Target="../media/image41.png"/><Relationship Id="rId15" Type="http://schemas.openxmlformats.org/officeDocument/2006/relationships/image" Target="../media/image51.png"/><Relationship Id="rId10" Type="http://schemas.openxmlformats.org/officeDocument/2006/relationships/image" Target="../media/image46.svg"/><Relationship Id="rId4" Type="http://schemas.openxmlformats.org/officeDocument/2006/relationships/image" Target="../media/image40.svg"/><Relationship Id="rId9" Type="http://schemas.openxmlformats.org/officeDocument/2006/relationships/image" Target="../media/image45.png"/><Relationship Id="rId14" Type="http://schemas.openxmlformats.org/officeDocument/2006/relationships/image" Target="../media/image50.svg"/></Relationships>
</file>

<file path=ppt/slides/_rels/slide9.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3.png"/><Relationship Id="rId7" Type="http://schemas.openxmlformats.org/officeDocument/2006/relationships/image" Target="../media/image57.sv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6.svg"/><Relationship Id="rId11" Type="http://schemas.openxmlformats.org/officeDocument/2006/relationships/image" Target="../media/image61.svg"/><Relationship Id="rId5" Type="http://schemas.openxmlformats.org/officeDocument/2006/relationships/image" Target="../media/image55.png"/><Relationship Id="rId10" Type="http://schemas.openxmlformats.org/officeDocument/2006/relationships/image" Target="../media/image60.png"/><Relationship Id="rId4" Type="http://schemas.openxmlformats.org/officeDocument/2006/relationships/image" Target="../media/image54.svg"/><Relationship Id="rId9" Type="http://schemas.openxmlformats.org/officeDocument/2006/relationships/image" Target="../media/image59.svg"/></Relationships>
</file>

<file path=ppt/slides/_rels/slide10.xml.rels><?xml version="1.0" encoding="UTF-8" standalone="yes"?>
<Relationships xmlns="http://schemas.openxmlformats.org/package/2006/relationships"><Relationship Id="rId8" Type="http://schemas.openxmlformats.org/officeDocument/2006/relationships/image" Target="../media/image67.svg"/><Relationship Id="rId3" Type="http://schemas.openxmlformats.org/officeDocument/2006/relationships/image" Target="../media/image62.png"/><Relationship Id="rId7" Type="http://schemas.openxmlformats.org/officeDocument/2006/relationships/image" Target="../media/image66.png"/><Relationship Id="rId12" Type="http://schemas.openxmlformats.org/officeDocument/2006/relationships/image" Target="../media/image71.sv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65.svg"/><Relationship Id="rId11" Type="http://schemas.openxmlformats.org/officeDocument/2006/relationships/image" Target="../media/image70.png"/><Relationship Id="rId5" Type="http://schemas.openxmlformats.org/officeDocument/2006/relationships/image" Target="../media/image64.png"/><Relationship Id="rId10" Type="http://schemas.openxmlformats.org/officeDocument/2006/relationships/image" Target="../media/image69.svg"/><Relationship Id="rId4" Type="http://schemas.openxmlformats.org/officeDocument/2006/relationships/image" Target="../media/image63.svg"/><Relationship Id="rId9" Type="http://schemas.openxmlformats.org/officeDocument/2006/relationships/image" Target="../media/image6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F1"/>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FAF6F1">
                  <a:alpha val="97000"/>
                </a:srgbClr>
              </a:gs>
              <a:gs pos="45000">
                <a:srgbClr val="FAF6F1">
                  <a:alpha val="94000"/>
                </a:srgbClr>
              </a:gs>
              <a:gs pos="100000">
                <a:srgbClr val="FAF6F1">
                  <a:alpha val="60000"/>
                </a:srgbClr>
              </a:gs>
            </a:gsLst>
            <a:lin ang="2700000" scaled="1"/>
          </a:gradFill>
          <a:ln/>
        </p:spPr>
        <p:txBody>
          <a:bodyPr wrap="square" rtlCol="0" anchor="t"/>
          <a:lstStyle/>
          <a:p>
            <a:pPr marL="0" indent="0">
              <a:buNone/>
            </a:pPr>
            <a:endParaRPr lang="en-US" dirty="0"/>
          </a:p>
        </p:txBody>
      </p:sp>
      <p:sp>
        <p:nvSpPr>
          <p:cNvPr id="3" name="Text 1"/>
          <p:cNvSpPr/>
          <p:nvPr/>
        </p:nvSpPr>
        <p:spPr>
          <a:xfrm>
            <a:off x="571500" y="4702820"/>
            <a:ext cx="35421" cy="35421"/>
          </a:xfrm>
          <a:prstGeom prst="ellipse">
            <a:avLst/>
          </a:prstGeom>
          <a:solidFill>
            <a:srgbClr val="C4582A"/>
          </a:solidFill>
          <a:ln/>
        </p:spPr>
        <p:txBody>
          <a:bodyPr wrap="none" rtlCol="0" anchor="t"/>
          <a:lstStyle/>
          <a:p>
            <a:pPr marL="0" indent="0">
              <a:buNone/>
            </a:pPr>
            <a:endParaRPr lang="en-US" dirty="0"/>
          </a:p>
        </p:txBody>
      </p:sp>
      <p:sp>
        <p:nvSpPr>
          <p:cNvPr id="4" name="Text 2"/>
          <p:cNvSpPr/>
          <p:nvPr/>
        </p:nvSpPr>
        <p:spPr>
          <a:xfrm>
            <a:off x="8357889" y="0"/>
            <a:ext cx="786111" cy="786086"/>
          </a:xfrm>
          <a:prstGeom prst="ellipse">
            <a:avLst/>
          </a:prstGeom>
          <a:solidFill>
            <a:srgbClr val="C4582A">
              <a:alpha val="8000"/>
            </a:srgbClr>
          </a:solidFill>
          <a:ln/>
        </p:spPr>
        <p:txBody>
          <a:bodyPr wrap="square" rtlCol="0" anchor="t"/>
          <a:lstStyle/>
          <a:p>
            <a:pPr marL="0" indent="0">
              <a:buNone/>
            </a:pPr>
            <a:endParaRPr lang="en-US" dirty="0"/>
          </a:p>
        </p:txBody>
      </p:sp>
      <p:sp>
        <p:nvSpPr>
          <p:cNvPr id="5" name="Text 3"/>
          <p:cNvSpPr/>
          <p:nvPr/>
        </p:nvSpPr>
        <p:spPr>
          <a:xfrm>
            <a:off x="571500" y="1648420"/>
            <a:ext cx="429220" cy="29170"/>
          </a:xfrm>
          <a:prstGeom prst="roundRect">
            <a:avLst>
              <a:gd name="adj" fmla="val 47892"/>
            </a:avLst>
          </a:prstGeom>
          <a:solidFill>
            <a:srgbClr val="C4582A"/>
          </a:solidFill>
          <a:ln/>
        </p:spPr>
        <p:txBody>
          <a:bodyPr wrap="none" rtlCol="0" anchor="t"/>
          <a:lstStyle/>
          <a:p>
            <a:pPr marL="0" indent="0">
              <a:buNone/>
            </a:pPr>
            <a:endParaRPr lang="en-US" dirty="0"/>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1500" y="1849041"/>
            <a:ext cx="279053" cy="279053"/>
          </a:xfrm>
          <a:prstGeom prst="rect">
            <a:avLst/>
          </a:prstGeom>
        </p:spPr>
      </p:pic>
      <p:sp>
        <p:nvSpPr>
          <p:cNvPr id="7" name="Text 4"/>
          <p:cNvSpPr/>
          <p:nvPr/>
        </p:nvSpPr>
        <p:spPr>
          <a:xfrm>
            <a:off x="571500" y="2271564"/>
            <a:ext cx="8401050" cy="600075"/>
          </a:xfrm>
          <a:prstGeom prst="rect">
            <a:avLst/>
          </a:prstGeom>
          <a:noFill/>
          <a:ln/>
        </p:spPr>
        <p:txBody>
          <a:bodyPr wrap="none" lIns="0" tIns="0" rIns="0" bIns="0" rtlCol="0" anchor="t"/>
          <a:lstStyle/>
          <a:p>
            <a:pPr marL="0" indent="0" algn="l">
              <a:lnSpc>
                <a:spcPts val="4725"/>
              </a:lnSpc>
              <a:spcAft>
                <a:spcPts val="450"/>
              </a:spcAft>
              <a:buNone/>
            </a:pPr>
            <a:r>
              <a:rPr lang="en-US" sz="4500" b="1" kern="0" spc="-60" dirty="0">
                <a:solidFill>
                  <a:srgbClr val="2D2520"/>
                </a:solidFill>
                <a:latin typeface="Constantia" pitchFamily="34" charset="0"/>
                <a:ea typeface="Constantia" pitchFamily="34" charset="-122"/>
                <a:cs typeface="Constantia" pitchFamily="34" charset="-120"/>
              </a:rPr>
              <a:t>Fling</a:t>
            </a:r>
            <a:endParaRPr lang="en-US" sz="4500" dirty="0"/>
          </a:p>
        </p:txBody>
      </p:sp>
      <p:sp>
        <p:nvSpPr>
          <p:cNvPr id="8" name="Text 5"/>
          <p:cNvSpPr/>
          <p:nvPr/>
        </p:nvSpPr>
        <p:spPr>
          <a:xfrm>
            <a:off x="571500" y="3015109"/>
            <a:ext cx="4080510" cy="503813"/>
          </a:xfrm>
          <a:prstGeom prst="rect">
            <a:avLst/>
          </a:prstGeom>
          <a:noFill/>
          <a:ln/>
        </p:spPr>
        <p:txBody>
          <a:bodyPr wrap="square" lIns="0" tIns="0" rIns="0" bIns="0" rtlCol="0" anchor="t"/>
          <a:lstStyle/>
          <a:p>
            <a:pPr marL="0" indent="0" algn="l">
              <a:lnSpc>
                <a:spcPts val="1890"/>
              </a:lnSpc>
              <a:spcBef>
                <a:spcPts val="680"/>
              </a:spcBef>
              <a:buNone/>
            </a:pPr>
            <a:r>
              <a:rPr lang="en-US" sz="1350" dirty="0">
                <a:solidFill>
                  <a:srgbClr val="8A7567"/>
                </a:solidFill>
                <a:latin typeface="Corbel" pitchFamily="34" charset="0"/>
                <a:ea typeface="Corbel" pitchFamily="34" charset="-122"/>
                <a:cs typeface="Corbel" pitchFamily="34" charset="-120"/>
              </a:rPr>
              <a:t>A recipe-themed language where your units actually mean something</a:t>
            </a:r>
            <a:endParaRPr lang="en-US" sz="1350" dirty="0"/>
          </a:p>
        </p:txBody>
      </p:sp>
      <p:sp>
        <p:nvSpPr>
          <p:cNvPr id="9" name="Text 6"/>
          <p:cNvSpPr/>
          <p:nvPr/>
        </p:nvSpPr>
        <p:spPr>
          <a:xfrm>
            <a:off x="0" y="5121920"/>
            <a:ext cx="9144000" cy="21580"/>
          </a:xfrm>
          <a:prstGeom prst="rect">
            <a:avLst/>
          </a:prstGeom>
          <a:gradFill rotWithShape="1">
            <a:gsLst>
              <a:gs pos="0">
                <a:srgbClr val="C4582A"/>
              </a:gs>
              <a:gs pos="50000">
                <a:srgbClr val="C4582A">
                  <a:alpha val="15000"/>
                </a:srgbClr>
              </a:gs>
              <a:gs pos="100000">
                <a:srgbClr val="000000">
                  <a:alpha val="0"/>
                </a:srgbClr>
              </a:gs>
            </a:gsLst>
            <a:lin ang="0" scaled="1"/>
          </a:gradFill>
          <a:ln/>
        </p:spPr>
        <p:txBody>
          <a:bodyPr wrap="none" rtlCol="0" anchor="t"/>
          <a:lstStyle/>
          <a:p>
            <a:pPr marL="0" indent="0">
              <a:buNone/>
            </a:pPr>
            <a:endParaRPr lang="en-US" dirty="0"/>
          </a:p>
        </p:txBody>
      </p:sp>
      <p:pic>
        <p:nvPicPr>
          <p:cNvPr id="11" name="Picture 10" descr="A black pan with numbers falling out of it">
            <a:extLst>
              <a:ext uri="{FF2B5EF4-FFF2-40B4-BE49-F238E27FC236}">
                <a16:creationId xmlns:a16="http://schemas.microsoft.com/office/drawing/2014/main" id="{059AC754-EA20-9A85-1A0A-59AE525A2E27}"/>
              </a:ext>
            </a:extLst>
          </p:cNvPr>
          <p:cNvPicPr>
            <a:picLocks noChangeAspect="1"/>
          </p:cNvPicPr>
          <p:nvPr/>
        </p:nvPicPr>
        <p:blipFill>
          <a:blip r:embed="rId5"/>
          <a:stretch>
            <a:fillRect/>
          </a:stretch>
        </p:blipFill>
        <p:spPr>
          <a:xfrm>
            <a:off x="4572000" y="633402"/>
            <a:ext cx="3876398" cy="387639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F1"/>
        </a:solidFill>
        <a:effectLst/>
      </p:bgPr>
    </p:bg>
    <p:spTree>
      <p:nvGrpSpPr>
        <p:cNvPr id="1" name=""/>
        <p:cNvGrpSpPr/>
        <p:nvPr/>
      </p:nvGrpSpPr>
      <p:grpSpPr>
        <a:xfrm>
          <a:off x="0" y="0"/>
          <a:ext cx="0" cy="0"/>
          <a:chOff x="0" y="0"/>
          <a:chExt cx="0" cy="0"/>
        </a:xfrm>
      </p:grpSpPr>
      <p:sp>
        <p:nvSpPr>
          <p:cNvPr id="2" name="Text 0"/>
          <p:cNvSpPr/>
          <p:nvPr/>
        </p:nvSpPr>
        <p:spPr>
          <a:xfrm>
            <a:off x="514350" y="400050"/>
            <a:ext cx="8926830" cy="139005"/>
          </a:xfrm>
          <a:prstGeom prst="rect">
            <a:avLst/>
          </a:prstGeom>
          <a:noFill/>
          <a:ln/>
        </p:spPr>
        <p:txBody>
          <a:bodyPr wrap="none" lIns="0" tIns="0" rIns="0" bIns="0" rtlCol="0" anchor="t"/>
          <a:lstStyle/>
          <a:p>
            <a:pPr marL="0" indent="0" algn="l">
              <a:lnSpc>
                <a:spcPts val="1095"/>
              </a:lnSpc>
              <a:buNone/>
            </a:pPr>
            <a:r>
              <a:rPr lang="en-US" sz="730" b="1" kern="0" spc="140" dirty="0">
                <a:solidFill>
                  <a:srgbClr val="C4582A"/>
                </a:solidFill>
                <a:latin typeface="Corbel" pitchFamily="34" charset="0"/>
                <a:ea typeface="Corbel" pitchFamily="34" charset="-122"/>
                <a:cs typeface="Corbel" pitchFamily="34" charset="-120"/>
              </a:rPr>
              <a:t>THE PROBLEM</a:t>
            </a:r>
            <a:endParaRPr lang="en-US" sz="730" dirty="0"/>
          </a:p>
        </p:txBody>
      </p:sp>
      <p:sp>
        <p:nvSpPr>
          <p:cNvPr id="3" name="Text 1"/>
          <p:cNvSpPr/>
          <p:nvPr/>
        </p:nvSpPr>
        <p:spPr>
          <a:xfrm>
            <a:off x="514350" y="596205"/>
            <a:ext cx="342900" cy="29170"/>
          </a:xfrm>
          <a:prstGeom prst="roundRect">
            <a:avLst>
              <a:gd name="adj" fmla="val 47892"/>
            </a:avLst>
          </a:prstGeom>
          <a:solidFill>
            <a:srgbClr val="C4582A"/>
          </a:solidFill>
          <a:ln/>
        </p:spPr>
        <p:txBody>
          <a:bodyPr wrap="none" rtlCol="0" anchor="t"/>
          <a:lstStyle/>
          <a:p>
            <a:pPr marL="0" indent="0">
              <a:buNone/>
            </a:pPr>
            <a:endParaRPr lang="en-US" dirty="0"/>
          </a:p>
        </p:txBody>
      </p:sp>
      <p:sp>
        <p:nvSpPr>
          <p:cNvPr id="4" name="Text 2"/>
          <p:cNvSpPr/>
          <p:nvPr/>
        </p:nvSpPr>
        <p:spPr>
          <a:xfrm>
            <a:off x="514350" y="739676"/>
            <a:ext cx="8277606" cy="760408"/>
          </a:xfrm>
          <a:prstGeom prst="rect">
            <a:avLst/>
          </a:prstGeom>
          <a:noFill/>
          <a:ln/>
        </p:spPr>
        <p:txBody>
          <a:bodyPr wrap="square" lIns="0" tIns="0" rIns="0" bIns="0" rtlCol="0" anchor="t"/>
          <a:lstStyle/>
          <a:p>
            <a:pPr marL="0" indent="0" algn="l">
              <a:lnSpc>
                <a:spcPts val="2852"/>
              </a:lnSpc>
              <a:spcAft>
                <a:spcPts val="2250"/>
              </a:spcAft>
              <a:buNone/>
            </a:pPr>
            <a:r>
              <a:rPr lang="en-US" sz="2480" dirty="0">
                <a:solidFill>
                  <a:srgbClr val="2D2520"/>
                </a:solidFill>
                <a:latin typeface="Constantia" pitchFamily="34" charset="0"/>
                <a:ea typeface="Constantia" pitchFamily="34" charset="-122"/>
                <a:cs typeface="Constantia" pitchFamily="34" charset="-120"/>
              </a:rPr>
              <a:t>Most languages treat numbers</a:t>
            </a:r>
            <a:br/>
            <a:r>
              <a:rPr lang="en-US" sz="2480" dirty="0">
                <a:solidFill>
                  <a:srgbClr val="2D2520"/>
                </a:solidFill>
                <a:latin typeface="Constantia" pitchFamily="34" charset="0"/>
                <a:ea typeface="Constantia" pitchFamily="34" charset="-122"/>
                <a:cs typeface="Constantia" pitchFamily="34" charset="-120"/>
              </a:rPr>
              <a:t>as unlabeled ingredients</a:t>
            </a:r>
            <a:endParaRPr lang="en-US" sz="2480" dirty="0"/>
          </a:p>
        </p:txBody>
      </p:sp>
      <p:sp>
        <p:nvSpPr>
          <p:cNvPr id="5" name="Text 3"/>
          <p:cNvSpPr/>
          <p:nvPr/>
        </p:nvSpPr>
        <p:spPr>
          <a:xfrm>
            <a:off x="514350" y="1749623"/>
            <a:ext cx="8115300" cy="718691"/>
          </a:xfrm>
          <a:prstGeom prst="roundRect">
            <a:avLst>
              <a:gd name="adj" fmla="val 13960"/>
            </a:avLst>
          </a:prstGeom>
          <a:solidFill>
            <a:srgbClr val="FFF8F2"/>
          </a:solidFill>
          <a:ln w="9525">
            <a:solidFill>
              <a:srgbClr val="C4582A">
                <a:alpha val="10000"/>
              </a:srgbClr>
            </a:solidFill>
          </a:ln>
        </p:spPr>
        <p:txBody>
          <a:bodyPr wrap="square" rtlCol="0" anchor="t"/>
          <a:lstStyle/>
          <a:p>
            <a:pPr marL="0" indent="0">
              <a:buNone/>
            </a:pPr>
            <a:endParaRPr lang="en-US" dirty="0"/>
          </a:p>
        </p:txBody>
      </p:sp>
      <p:sp>
        <p:nvSpPr>
          <p:cNvPr id="6" name="Text 4"/>
          <p:cNvSpPr/>
          <p:nvPr/>
        </p:nvSpPr>
        <p:spPr>
          <a:xfrm>
            <a:off x="724495" y="1916609"/>
            <a:ext cx="372070" cy="372070"/>
          </a:xfrm>
          <a:prstGeom prst="roundRect">
            <a:avLst>
              <a:gd name="adj" fmla="val 23211"/>
            </a:avLst>
          </a:prstGeom>
          <a:solidFill>
            <a:srgbClr val="C4582A">
              <a:alpha val="10000"/>
            </a:srgbClr>
          </a:solidFill>
          <a:ln/>
        </p:spPr>
        <p:txBody>
          <a:bodyPr wrap="square" rtlCol="0" anchor="t"/>
          <a:lstStyle/>
          <a:p>
            <a:pPr marL="0" indent="0">
              <a:buNone/>
            </a:pPr>
            <a:endParaRPr lang="en-US" dirty="0"/>
          </a:p>
        </p:txBody>
      </p:sp>
      <p:pic>
        <p:nvPicPr>
          <p:cNvPr id="7"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1028" y="2033141"/>
            <a:ext cx="139005" cy="139005"/>
          </a:xfrm>
          <a:prstGeom prst="rect">
            <a:avLst/>
          </a:prstGeom>
        </p:spPr>
      </p:pic>
      <p:sp>
        <p:nvSpPr>
          <p:cNvPr id="8" name="Text 5"/>
          <p:cNvSpPr/>
          <p:nvPr/>
        </p:nvSpPr>
        <p:spPr>
          <a:xfrm>
            <a:off x="1268016" y="1916609"/>
            <a:ext cx="4773156" cy="186482"/>
          </a:xfrm>
          <a:prstGeom prst="rect">
            <a:avLst/>
          </a:prstGeom>
          <a:noFill/>
          <a:ln/>
        </p:spPr>
        <p:txBody>
          <a:bodyPr wrap="none" lIns="0" tIns="0" rIns="0" bIns="0" rtlCol="0" anchor="t"/>
          <a:lstStyle/>
          <a:p>
            <a:pPr marL="0" indent="0" algn="l">
              <a:lnSpc>
                <a:spcPts val="1469"/>
              </a:lnSpc>
              <a:buNone/>
            </a:pPr>
            <a:r>
              <a:rPr lang="en-US" sz="1130" b="1" dirty="0">
                <a:solidFill>
                  <a:srgbClr val="2D2520"/>
                </a:solidFill>
                <a:latin typeface="Constantia" pitchFamily="34" charset="0"/>
                <a:ea typeface="Constantia" pitchFamily="34" charset="-122"/>
                <a:cs typeface="Constantia" pitchFamily="34" charset="-120"/>
              </a:rPr>
              <a:t>Numbers without meaning</a:t>
            </a:r>
            <a:endParaRPr lang="en-US" sz="1130" dirty="0"/>
          </a:p>
        </p:txBody>
      </p:sp>
      <p:sp>
        <p:nvSpPr>
          <p:cNvPr id="9" name="Text 6"/>
          <p:cNvSpPr/>
          <p:nvPr/>
        </p:nvSpPr>
        <p:spPr>
          <a:xfrm>
            <a:off x="1268016" y="2124670"/>
            <a:ext cx="4773156" cy="176659"/>
          </a:xfrm>
          <a:prstGeom prst="rect">
            <a:avLst/>
          </a:prstGeom>
          <a:noFill/>
          <a:ln/>
        </p:spPr>
        <p:txBody>
          <a:bodyPr wrap="none" lIns="0" tIns="0" rIns="0" bIns="0" rtlCol="0" anchor="t"/>
          <a:lstStyle/>
          <a:p>
            <a:pPr marL="0" indent="0" algn="l">
              <a:lnSpc>
                <a:spcPts val="1392"/>
              </a:lnSpc>
              <a:buNone/>
            </a:pPr>
            <a:r>
              <a:rPr lang="en-US" sz="960" dirty="0">
                <a:solidFill>
                  <a:srgbClr val="8A7567"/>
                </a:solidFill>
                <a:latin typeface="Corbel" pitchFamily="34" charset="0"/>
                <a:ea typeface="Corbel" pitchFamily="34" charset="-122"/>
                <a:cs typeface="Corbel" pitchFamily="34" charset="-120"/>
              </a:rPr>
              <a:t>200 could be grams, milliliters, or degrees — the language doesn't know or care.</a:t>
            </a:r>
            <a:endParaRPr lang="en-US" sz="960" dirty="0"/>
          </a:p>
        </p:txBody>
      </p:sp>
      <p:sp>
        <p:nvSpPr>
          <p:cNvPr id="10" name="Text 7"/>
          <p:cNvSpPr/>
          <p:nvPr/>
        </p:nvSpPr>
        <p:spPr>
          <a:xfrm>
            <a:off x="514350" y="2639764"/>
            <a:ext cx="8115300" cy="718691"/>
          </a:xfrm>
          <a:prstGeom prst="roundRect">
            <a:avLst>
              <a:gd name="adj" fmla="val 13960"/>
            </a:avLst>
          </a:prstGeom>
          <a:solidFill>
            <a:srgbClr val="FFF8F2"/>
          </a:solidFill>
          <a:ln w="9525">
            <a:solidFill>
              <a:srgbClr val="C4582A">
                <a:alpha val="10000"/>
              </a:srgbClr>
            </a:solidFill>
          </a:ln>
        </p:spPr>
        <p:txBody>
          <a:bodyPr wrap="square" rtlCol="0" anchor="t"/>
          <a:lstStyle/>
          <a:p>
            <a:pPr marL="0" indent="0">
              <a:buNone/>
            </a:pPr>
            <a:endParaRPr lang="en-US" dirty="0"/>
          </a:p>
        </p:txBody>
      </p:sp>
      <p:sp>
        <p:nvSpPr>
          <p:cNvPr id="11" name="Text 8"/>
          <p:cNvSpPr/>
          <p:nvPr/>
        </p:nvSpPr>
        <p:spPr>
          <a:xfrm>
            <a:off x="724495" y="2806750"/>
            <a:ext cx="372070" cy="372070"/>
          </a:xfrm>
          <a:prstGeom prst="roundRect">
            <a:avLst>
              <a:gd name="adj" fmla="val 23211"/>
            </a:avLst>
          </a:prstGeom>
          <a:solidFill>
            <a:srgbClr val="C4582A">
              <a:alpha val="10000"/>
            </a:srgbClr>
          </a:solidFill>
          <a:ln/>
        </p:spPr>
        <p:txBody>
          <a:bodyPr wrap="square" rtlCol="0" anchor="t"/>
          <a:lstStyle/>
          <a:p>
            <a:pPr marL="0" indent="0">
              <a:buNone/>
            </a:pPr>
            <a:endParaRPr lang="en-US" dirty="0"/>
          </a:p>
        </p:txBody>
      </p:sp>
      <p:pic>
        <p:nvPicPr>
          <p:cNvPr id="12"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41028" y="2923282"/>
            <a:ext cx="139005" cy="139005"/>
          </a:xfrm>
          <a:prstGeom prst="rect">
            <a:avLst/>
          </a:prstGeom>
        </p:spPr>
      </p:pic>
      <p:sp>
        <p:nvSpPr>
          <p:cNvPr id="13" name="Text 9"/>
          <p:cNvSpPr/>
          <p:nvPr/>
        </p:nvSpPr>
        <p:spPr>
          <a:xfrm>
            <a:off x="1268016" y="2806750"/>
            <a:ext cx="4769554" cy="186482"/>
          </a:xfrm>
          <a:prstGeom prst="rect">
            <a:avLst/>
          </a:prstGeom>
          <a:noFill/>
          <a:ln/>
        </p:spPr>
        <p:txBody>
          <a:bodyPr wrap="none" lIns="0" tIns="0" rIns="0" bIns="0" rtlCol="0" anchor="t"/>
          <a:lstStyle/>
          <a:p>
            <a:pPr marL="0" indent="0" algn="l">
              <a:lnSpc>
                <a:spcPts val="1469"/>
              </a:lnSpc>
              <a:buNone/>
            </a:pPr>
            <a:r>
              <a:rPr lang="en-US" sz="1130" b="1" dirty="0">
                <a:solidFill>
                  <a:srgbClr val="2D2520"/>
                </a:solidFill>
                <a:latin typeface="Constantia" pitchFamily="34" charset="0"/>
                <a:ea typeface="Constantia" pitchFamily="34" charset="-122"/>
                <a:cs typeface="Constantia" pitchFamily="34" charset="-120"/>
              </a:rPr>
              <a:t>No safety net</a:t>
            </a:r>
            <a:endParaRPr lang="en-US" sz="1130" dirty="0"/>
          </a:p>
        </p:txBody>
      </p:sp>
      <p:sp>
        <p:nvSpPr>
          <p:cNvPr id="14" name="Text 10"/>
          <p:cNvSpPr/>
          <p:nvPr/>
        </p:nvSpPr>
        <p:spPr>
          <a:xfrm>
            <a:off x="1268016" y="3014811"/>
            <a:ext cx="4769554" cy="176659"/>
          </a:xfrm>
          <a:prstGeom prst="rect">
            <a:avLst/>
          </a:prstGeom>
          <a:noFill/>
          <a:ln/>
        </p:spPr>
        <p:txBody>
          <a:bodyPr wrap="none" lIns="0" tIns="0" rIns="0" bIns="0" rtlCol="0" anchor="t"/>
          <a:lstStyle/>
          <a:p>
            <a:pPr marL="0" indent="0" algn="l">
              <a:lnSpc>
                <a:spcPts val="1392"/>
              </a:lnSpc>
              <a:buNone/>
            </a:pPr>
            <a:r>
              <a:rPr lang="en-US" sz="960" dirty="0">
                <a:solidFill>
                  <a:srgbClr val="8A7567"/>
                </a:solidFill>
                <a:latin typeface="Corbel" pitchFamily="34" charset="0"/>
                <a:ea typeface="Corbel" pitchFamily="34" charset="-122"/>
                <a:cs typeface="Corbel" pitchFamily="34" charset="-120"/>
              </a:rPr>
              <a:t>Add grams to milliliters and the compiler shrugs — no error, no warning, no help.</a:t>
            </a:r>
            <a:endParaRPr lang="en-US" sz="960" dirty="0"/>
          </a:p>
        </p:txBody>
      </p:sp>
      <p:sp>
        <p:nvSpPr>
          <p:cNvPr id="15" name="Text 11"/>
          <p:cNvSpPr/>
          <p:nvPr/>
        </p:nvSpPr>
        <p:spPr>
          <a:xfrm>
            <a:off x="514350" y="3529905"/>
            <a:ext cx="8115300" cy="718691"/>
          </a:xfrm>
          <a:prstGeom prst="roundRect">
            <a:avLst>
              <a:gd name="adj" fmla="val 13960"/>
            </a:avLst>
          </a:prstGeom>
          <a:solidFill>
            <a:srgbClr val="FFF8F2"/>
          </a:solidFill>
          <a:ln w="9525">
            <a:solidFill>
              <a:srgbClr val="C4582A">
                <a:alpha val="10000"/>
              </a:srgbClr>
            </a:solidFill>
          </a:ln>
        </p:spPr>
        <p:txBody>
          <a:bodyPr wrap="square" rtlCol="0" anchor="t"/>
          <a:lstStyle/>
          <a:p>
            <a:pPr marL="0" indent="0">
              <a:buNone/>
            </a:pPr>
            <a:endParaRPr lang="en-US" dirty="0"/>
          </a:p>
        </p:txBody>
      </p:sp>
      <p:sp>
        <p:nvSpPr>
          <p:cNvPr id="16" name="Text 12"/>
          <p:cNvSpPr/>
          <p:nvPr/>
        </p:nvSpPr>
        <p:spPr>
          <a:xfrm>
            <a:off x="724495" y="3696891"/>
            <a:ext cx="372070" cy="372070"/>
          </a:xfrm>
          <a:prstGeom prst="roundRect">
            <a:avLst>
              <a:gd name="adj" fmla="val 23211"/>
            </a:avLst>
          </a:prstGeom>
          <a:solidFill>
            <a:srgbClr val="C4582A">
              <a:alpha val="10000"/>
            </a:srgbClr>
          </a:solidFill>
          <a:ln/>
        </p:spPr>
        <p:txBody>
          <a:bodyPr wrap="square" rtlCol="0" anchor="t"/>
          <a:lstStyle/>
          <a:p>
            <a:pPr marL="0" indent="0">
              <a:buNone/>
            </a:pPr>
            <a:endParaRPr lang="en-US" dirty="0"/>
          </a:p>
        </p:txBody>
      </p:sp>
      <p:pic>
        <p:nvPicPr>
          <p:cNvPr id="17"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1028" y="3813423"/>
            <a:ext cx="139005" cy="139005"/>
          </a:xfrm>
          <a:prstGeom prst="rect">
            <a:avLst/>
          </a:prstGeom>
        </p:spPr>
      </p:pic>
      <p:sp>
        <p:nvSpPr>
          <p:cNvPr id="18" name="Text 13"/>
          <p:cNvSpPr/>
          <p:nvPr/>
        </p:nvSpPr>
        <p:spPr>
          <a:xfrm>
            <a:off x="1268016" y="3696891"/>
            <a:ext cx="4347999" cy="186482"/>
          </a:xfrm>
          <a:prstGeom prst="rect">
            <a:avLst/>
          </a:prstGeom>
          <a:noFill/>
          <a:ln/>
        </p:spPr>
        <p:txBody>
          <a:bodyPr wrap="none" lIns="0" tIns="0" rIns="0" bIns="0" rtlCol="0" anchor="t"/>
          <a:lstStyle/>
          <a:p>
            <a:pPr marL="0" indent="0" algn="l">
              <a:lnSpc>
                <a:spcPts val="1469"/>
              </a:lnSpc>
              <a:buNone/>
            </a:pPr>
            <a:r>
              <a:rPr lang="en-US" sz="1130" b="1" dirty="0">
                <a:solidFill>
                  <a:srgbClr val="2D2520"/>
                </a:solidFill>
                <a:latin typeface="Constantia" pitchFamily="34" charset="0"/>
                <a:ea typeface="Constantia" pitchFamily="34" charset="-122"/>
                <a:cs typeface="Constantia" pitchFamily="34" charset="-120"/>
              </a:rPr>
              <a:t>Silent bugs</a:t>
            </a:r>
            <a:endParaRPr lang="en-US" sz="1130" dirty="0"/>
          </a:p>
        </p:txBody>
      </p:sp>
      <p:sp>
        <p:nvSpPr>
          <p:cNvPr id="19" name="Text 14"/>
          <p:cNvSpPr/>
          <p:nvPr/>
        </p:nvSpPr>
        <p:spPr>
          <a:xfrm>
            <a:off x="1268016" y="3904952"/>
            <a:ext cx="4347999" cy="176659"/>
          </a:xfrm>
          <a:prstGeom prst="rect">
            <a:avLst/>
          </a:prstGeom>
          <a:noFill/>
          <a:ln/>
        </p:spPr>
        <p:txBody>
          <a:bodyPr wrap="none" lIns="0" tIns="0" rIns="0" bIns="0" rtlCol="0" anchor="t"/>
          <a:lstStyle/>
          <a:p>
            <a:pPr marL="0" indent="0" algn="l">
              <a:lnSpc>
                <a:spcPts val="1392"/>
              </a:lnSpc>
              <a:buNone/>
            </a:pPr>
            <a:r>
              <a:rPr lang="en-US" sz="960" dirty="0">
                <a:solidFill>
                  <a:srgbClr val="8A7567"/>
                </a:solidFill>
                <a:latin typeface="Corbel" pitchFamily="34" charset="0"/>
                <a:ea typeface="Corbel" pitchFamily="34" charset="-122"/>
                <a:cs typeface="Corbel" pitchFamily="34" charset="-120"/>
              </a:rPr>
              <a:t>Unit errors hide until runtime — or worse, production. By then it's too late.</a:t>
            </a:r>
            <a:endParaRPr lang="en-US" sz="960" dirty="0"/>
          </a:p>
        </p:txBody>
      </p:sp>
      <p:sp>
        <p:nvSpPr>
          <p:cNvPr id="20" name="Text 15"/>
          <p:cNvSpPr/>
          <p:nvPr/>
        </p:nvSpPr>
        <p:spPr>
          <a:xfrm>
            <a:off x="514350" y="4420046"/>
            <a:ext cx="8115300" cy="706041"/>
          </a:xfrm>
          <a:prstGeom prst="roundRect">
            <a:avLst>
              <a:gd name="adj" fmla="val 14210"/>
            </a:avLst>
          </a:prstGeom>
          <a:gradFill rotWithShape="1">
            <a:gsLst>
              <a:gs pos="0">
                <a:srgbClr val="C4582A">
                  <a:alpha val="8000"/>
                </a:srgbClr>
              </a:gs>
              <a:gs pos="100000">
                <a:srgbClr val="C4582A">
                  <a:alpha val="3000"/>
                </a:srgbClr>
              </a:gs>
            </a:gsLst>
            <a:lin ang="2700000" scaled="1"/>
          </a:gradFill>
          <a:ln w="9525">
            <a:solidFill>
              <a:srgbClr val="C4582A">
                <a:alpha val="20000"/>
              </a:srgbClr>
            </a:solidFill>
          </a:ln>
        </p:spPr>
        <p:txBody>
          <a:bodyPr wrap="square" rtlCol="0" anchor="t"/>
          <a:lstStyle/>
          <a:p>
            <a:pPr marL="0" indent="0">
              <a:buNone/>
            </a:pPr>
            <a:endParaRPr lang="en-US" dirty="0"/>
          </a:p>
        </p:txBody>
      </p:sp>
      <p:sp>
        <p:nvSpPr>
          <p:cNvPr id="21" name="Text 16"/>
          <p:cNvSpPr/>
          <p:nvPr/>
        </p:nvSpPr>
        <p:spPr>
          <a:xfrm>
            <a:off x="724495" y="4587032"/>
            <a:ext cx="372070" cy="372070"/>
          </a:xfrm>
          <a:prstGeom prst="roundRect">
            <a:avLst>
              <a:gd name="adj" fmla="val 23211"/>
            </a:avLst>
          </a:prstGeom>
          <a:solidFill>
            <a:srgbClr val="C4582A"/>
          </a:solidFill>
          <a:ln/>
        </p:spPr>
        <p:txBody>
          <a:bodyPr wrap="square" rtlCol="0" anchor="t"/>
          <a:lstStyle/>
          <a:p>
            <a:pPr marL="0" indent="0">
              <a:buNone/>
            </a:pPr>
            <a:endParaRPr lang="en-US" dirty="0"/>
          </a:p>
        </p:txBody>
      </p:sp>
      <p:pic>
        <p:nvPicPr>
          <p:cNvPr id="22"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41028" y="4703564"/>
            <a:ext cx="139005" cy="139005"/>
          </a:xfrm>
          <a:prstGeom prst="rect">
            <a:avLst/>
          </a:prstGeom>
        </p:spPr>
      </p:pic>
      <p:sp>
        <p:nvSpPr>
          <p:cNvPr id="23" name="Text 17"/>
          <p:cNvSpPr/>
          <p:nvPr/>
        </p:nvSpPr>
        <p:spPr>
          <a:xfrm>
            <a:off x="1268016" y="4587032"/>
            <a:ext cx="4903143" cy="186482"/>
          </a:xfrm>
          <a:prstGeom prst="rect">
            <a:avLst/>
          </a:prstGeom>
          <a:noFill/>
          <a:ln/>
        </p:spPr>
        <p:txBody>
          <a:bodyPr wrap="none" lIns="0" tIns="0" rIns="0" bIns="0" rtlCol="0" anchor="t"/>
          <a:lstStyle/>
          <a:p>
            <a:pPr marL="0" indent="0" algn="l">
              <a:lnSpc>
                <a:spcPts val="1469"/>
              </a:lnSpc>
              <a:buNone/>
            </a:pPr>
            <a:r>
              <a:rPr lang="en-US" sz="1130" b="1" dirty="0">
                <a:solidFill>
                  <a:srgbClr val="2D2520"/>
                </a:solidFill>
                <a:latin typeface="Constantia" pitchFamily="34" charset="0"/>
                <a:ea typeface="Constantia" pitchFamily="34" charset="-122"/>
                <a:cs typeface="Constantia" pitchFamily="34" charset="-120"/>
              </a:rPr>
              <a:t>What if your language could catch these mistakes before code even runs?</a:t>
            </a:r>
            <a:endParaRPr lang="en-US" sz="113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1A17"/>
        </a:solidFill>
        <a:effectLst/>
      </p:bgPr>
    </p:bg>
    <p:spTree>
      <p:nvGrpSpPr>
        <p:cNvPr id="1" name=""/>
        <p:cNvGrpSpPr/>
        <p:nvPr/>
      </p:nvGrpSpPr>
      <p:grpSpPr>
        <a:xfrm>
          <a:off x="0" y="0"/>
          <a:ext cx="0" cy="0"/>
          <a:chOff x="0" y="0"/>
          <a:chExt cx="0" cy="0"/>
        </a:xfrm>
      </p:grpSpPr>
      <p:sp>
        <p:nvSpPr>
          <p:cNvPr id="2" name="Text 0"/>
          <p:cNvSpPr/>
          <p:nvPr/>
        </p:nvSpPr>
        <p:spPr>
          <a:xfrm>
            <a:off x="457200" y="342900"/>
            <a:ext cx="429220" cy="21580"/>
          </a:xfrm>
          <a:prstGeom prst="roundRect">
            <a:avLst>
              <a:gd name="adj" fmla="val 64736"/>
            </a:avLst>
          </a:prstGeom>
          <a:solidFill>
            <a:srgbClr val="C4582A"/>
          </a:solidFill>
          <a:ln/>
        </p:spPr>
        <p:txBody>
          <a:bodyPr wrap="none" rtlCol="0" anchor="t"/>
          <a:lstStyle/>
          <a:p>
            <a:pPr marL="0" indent="0">
              <a:buNone/>
            </a:pPr>
            <a:endParaRPr lang="en-US" dirty="0"/>
          </a:p>
        </p:txBody>
      </p:sp>
      <p:sp>
        <p:nvSpPr>
          <p:cNvPr id="3" name="Text 1"/>
          <p:cNvSpPr/>
          <p:nvPr/>
        </p:nvSpPr>
        <p:spPr>
          <a:xfrm>
            <a:off x="457200" y="450800"/>
            <a:ext cx="8805672" cy="344686"/>
          </a:xfrm>
          <a:prstGeom prst="rect">
            <a:avLst/>
          </a:prstGeom>
          <a:noFill/>
          <a:ln/>
        </p:spPr>
        <p:txBody>
          <a:bodyPr wrap="none" lIns="0" tIns="0" rIns="0" bIns="0" rtlCol="0" anchor="t"/>
          <a:lstStyle/>
          <a:p>
            <a:pPr marL="0" indent="0" algn="l">
              <a:lnSpc>
                <a:spcPts val="2714"/>
              </a:lnSpc>
              <a:spcAft>
                <a:spcPts val="340"/>
              </a:spcAft>
              <a:buNone/>
            </a:pPr>
            <a:r>
              <a:rPr lang="en-US" sz="2360" b="1" dirty="0">
                <a:solidFill>
                  <a:srgbClr val="FAF6F1"/>
                </a:solidFill>
                <a:latin typeface="Constantia" pitchFamily="34" charset="0"/>
                <a:ea typeface="Constantia" pitchFamily="34" charset="-122"/>
                <a:cs typeface="Constantia" pitchFamily="34" charset="-120"/>
              </a:rPr>
              <a:t>The Pain Point</a:t>
            </a:r>
            <a:endParaRPr lang="en-US" sz="2360" dirty="0"/>
          </a:p>
        </p:txBody>
      </p:sp>
      <p:sp>
        <p:nvSpPr>
          <p:cNvPr id="4" name="Text 2"/>
          <p:cNvSpPr/>
          <p:nvPr/>
        </p:nvSpPr>
        <p:spPr>
          <a:xfrm>
            <a:off x="457200" y="838646"/>
            <a:ext cx="9052560" cy="192435"/>
          </a:xfrm>
          <a:prstGeom prst="rect">
            <a:avLst/>
          </a:prstGeom>
          <a:noFill/>
          <a:ln/>
        </p:spPr>
        <p:txBody>
          <a:bodyPr wrap="none" lIns="0" tIns="0" rIns="0" bIns="0" rtlCol="0" anchor="t"/>
          <a:lstStyle/>
          <a:p>
            <a:pPr marL="0" indent="0" algn="l">
              <a:lnSpc>
                <a:spcPts val="1515"/>
              </a:lnSpc>
              <a:spcAft>
                <a:spcPts val="2030"/>
              </a:spcAft>
              <a:buNone/>
            </a:pPr>
            <a:r>
              <a:rPr lang="en-US" sz="1010" dirty="0">
                <a:solidFill>
                  <a:srgbClr val="B8A99A"/>
                </a:solidFill>
                <a:latin typeface="Corbel" pitchFamily="34" charset="0"/>
                <a:ea typeface="Corbel" pitchFamily="34" charset="-122"/>
                <a:cs typeface="Corbel" pitchFamily="34" charset="-120"/>
              </a:rPr>
              <a:t>What happens when your language can't tell grams from milliliters?</a:t>
            </a:r>
            <a:endParaRPr lang="en-US" sz="1010" dirty="0"/>
          </a:p>
        </p:txBody>
      </p:sp>
      <p:sp>
        <p:nvSpPr>
          <p:cNvPr id="5" name="Text 3"/>
          <p:cNvSpPr/>
          <p:nvPr/>
        </p:nvSpPr>
        <p:spPr>
          <a:xfrm>
            <a:off x="457200" y="1288852"/>
            <a:ext cx="3971925" cy="3196828"/>
          </a:xfrm>
          <a:prstGeom prst="roundRect">
            <a:avLst>
              <a:gd name="adj" fmla="val 3575"/>
            </a:avLst>
          </a:prstGeom>
          <a:solidFill>
            <a:srgbClr val="3A9E6E">
              <a:alpha val="12000"/>
            </a:srgbClr>
          </a:solidFill>
          <a:ln w="9525">
            <a:solidFill>
              <a:srgbClr val="3A9E6E">
                <a:alpha val="30000"/>
              </a:srgbClr>
            </a:solidFill>
          </a:ln>
        </p:spPr>
        <p:txBody>
          <a:bodyPr wrap="square" rtlCol="0" anchor="t"/>
          <a:lstStyle/>
          <a:p>
            <a:pPr marL="0" indent="0">
              <a:buNone/>
            </a:pPr>
            <a:endParaRPr lang="en-US" dirty="0"/>
          </a:p>
        </p:txBody>
      </p:sp>
      <p:sp>
        <p:nvSpPr>
          <p:cNvPr id="6" name="Text 4"/>
          <p:cNvSpPr/>
          <p:nvPr/>
        </p:nvSpPr>
        <p:spPr>
          <a:xfrm>
            <a:off x="667345" y="1526977"/>
            <a:ext cx="285750" cy="285750"/>
          </a:xfrm>
          <a:prstGeom prst="ellipse">
            <a:avLst/>
          </a:prstGeom>
          <a:solidFill>
            <a:srgbClr val="3A9E6E">
              <a:alpha val="22000"/>
            </a:srgbClr>
          </a:solidFill>
          <a:ln/>
        </p:spPr>
        <p:txBody>
          <a:bodyPr wrap="square" rtlCol="0" anchor="t"/>
          <a:lstStyle/>
          <a:p>
            <a:pPr marL="0" indent="0">
              <a:buNone/>
            </a:pPr>
            <a:endParaRPr lang="en-US" dirty="0"/>
          </a:p>
        </p:txBody>
      </p:sp>
      <p:pic>
        <p:nvPicPr>
          <p:cNvPr id="7"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3926" y="1603558"/>
            <a:ext cx="132588" cy="132588"/>
          </a:xfrm>
          <a:prstGeom prst="rect">
            <a:avLst/>
          </a:prstGeom>
        </p:spPr>
      </p:pic>
      <p:sp>
        <p:nvSpPr>
          <p:cNvPr id="8" name="Text 5"/>
          <p:cNvSpPr/>
          <p:nvPr/>
        </p:nvSpPr>
        <p:spPr>
          <a:xfrm>
            <a:off x="1039416" y="1541264"/>
            <a:ext cx="1371243" cy="257175"/>
          </a:xfrm>
          <a:prstGeom prst="rect">
            <a:avLst/>
          </a:prstGeom>
          <a:noFill/>
          <a:ln/>
        </p:spPr>
        <p:txBody>
          <a:bodyPr wrap="none" lIns="0" tIns="0" rIns="0" bIns="0" rtlCol="0" anchor="ctr"/>
          <a:lstStyle/>
          <a:p>
            <a:pPr marL="0" indent="0" algn="l">
              <a:lnSpc>
                <a:spcPts val="2025"/>
              </a:lnSpc>
              <a:buNone/>
            </a:pPr>
            <a:r>
              <a:rPr lang="en-US" sz="1350" b="1" dirty="0">
                <a:solidFill>
                  <a:srgbClr val="FAF6F1"/>
                </a:solidFill>
                <a:latin typeface="Constantia" pitchFamily="34" charset="0"/>
                <a:ea typeface="Constantia" pitchFamily="34" charset="-122"/>
                <a:cs typeface="Constantia" pitchFamily="34" charset="-120"/>
              </a:rPr>
              <a:t>Valid Operations</a:t>
            </a:r>
            <a:endParaRPr lang="en-US" sz="1350" dirty="0"/>
          </a:p>
        </p:txBody>
      </p:sp>
      <p:sp>
        <p:nvSpPr>
          <p:cNvPr id="9" name="Text 6"/>
          <p:cNvSpPr/>
          <p:nvPr/>
        </p:nvSpPr>
        <p:spPr>
          <a:xfrm>
            <a:off x="667345" y="1984177"/>
            <a:ext cx="3551634" cy="383381"/>
          </a:xfrm>
          <a:prstGeom prst="roundRect">
            <a:avLst>
              <a:gd name="adj" fmla="val 18551"/>
            </a:avLst>
          </a:prstGeom>
          <a:solidFill>
            <a:srgbClr val="FFFFFF">
              <a:alpha val="5000"/>
            </a:srgbClr>
          </a:solidFill>
          <a:ln/>
        </p:spPr>
        <p:txBody>
          <a:bodyPr wrap="square" rtlCol="0" anchor="t"/>
          <a:lstStyle/>
          <a:p>
            <a:pPr marL="0" indent="0">
              <a:buNone/>
            </a:pPr>
            <a:r>
              <a:rPr lang="en-US" b="0" i="0" dirty="0">
                <a:solidFill>
                  <a:srgbClr val="FAF6F1"/>
                </a:solidFill>
                <a:effectLst/>
                <a:latin typeface="Consolas" panose="020B0609020204030204" pitchFamily="49" charset="0"/>
              </a:rPr>
              <a:t>200g + 100g</a:t>
            </a:r>
            <a:r>
              <a:rPr lang="en-US" b="0" i="0" dirty="0">
                <a:solidFill>
                  <a:srgbClr val="B8A99A"/>
                </a:solidFill>
                <a:effectLst/>
                <a:latin typeface="Consolas" panose="020B0609020204030204" pitchFamily="49" charset="0"/>
              </a:rPr>
              <a:t>→</a:t>
            </a:r>
            <a:r>
              <a:rPr lang="en-US" b="1" i="0" dirty="0">
                <a:solidFill>
                  <a:srgbClr val="3A9E6E"/>
                </a:solidFill>
                <a:effectLst/>
                <a:latin typeface="Consolas" panose="020B0609020204030204" pitchFamily="49" charset="0"/>
              </a:rPr>
              <a:t>300g</a:t>
            </a:r>
            <a:endParaRPr lang="en-US" dirty="0"/>
          </a:p>
        </p:txBody>
      </p:sp>
      <p:sp>
        <p:nvSpPr>
          <p:cNvPr id="10" name="Text 7"/>
          <p:cNvSpPr/>
          <p:nvPr/>
        </p:nvSpPr>
        <p:spPr>
          <a:xfrm>
            <a:off x="667345" y="1984177"/>
            <a:ext cx="19050" cy="383381"/>
          </a:xfrm>
          <a:custGeom>
            <a:avLst/>
            <a:gdLst/>
            <a:ahLst/>
            <a:cxnLst/>
            <a:rect l="l" t="t" r="r" b="b"/>
            <a:pathLst>
              <a:path w="19050" h="383381">
                <a:moveTo>
                  <a:pt x="0" y="71120"/>
                </a:moveTo>
                <a:lnTo>
                  <a:pt x="2381" y="52871"/>
                </a:lnTo>
                <a:lnTo>
                  <a:pt x="4763" y="45532"/>
                </a:lnTo>
                <a:lnTo>
                  <a:pt x="7144" y="40054"/>
                </a:lnTo>
                <a:lnTo>
                  <a:pt x="9525" y="35566"/>
                </a:lnTo>
                <a:lnTo>
                  <a:pt x="11906" y="31727"/>
                </a:lnTo>
                <a:lnTo>
                  <a:pt x="14288" y="28363"/>
                </a:lnTo>
                <a:lnTo>
                  <a:pt x="16669" y="25369"/>
                </a:lnTo>
                <a:lnTo>
                  <a:pt x="19050" y="22677"/>
                </a:lnTo>
                <a:lnTo>
                  <a:pt x="19050" y="360705"/>
                </a:lnTo>
                <a:lnTo>
                  <a:pt x="16669" y="358012"/>
                </a:lnTo>
                <a:lnTo>
                  <a:pt x="14288" y="355018"/>
                </a:lnTo>
                <a:lnTo>
                  <a:pt x="11906" y="351654"/>
                </a:lnTo>
                <a:lnTo>
                  <a:pt x="9525" y="347816"/>
                </a:lnTo>
                <a:lnTo>
                  <a:pt x="7144" y="343327"/>
                </a:lnTo>
                <a:lnTo>
                  <a:pt x="4763" y="337849"/>
                </a:lnTo>
                <a:lnTo>
                  <a:pt x="2381" y="330511"/>
                </a:lnTo>
                <a:lnTo>
                  <a:pt x="0" y="312261"/>
                </a:lnTo>
                <a:close/>
              </a:path>
            </a:pathLst>
          </a:custGeom>
          <a:solidFill>
            <a:srgbClr val="3A9E6E"/>
          </a:solidFill>
          <a:ln/>
        </p:spPr>
        <p:txBody>
          <a:bodyPr wrap="square" rtlCol="0" anchor="t"/>
          <a:lstStyle/>
          <a:p>
            <a:pPr marL="0" indent="0">
              <a:buNone/>
            </a:pPr>
            <a:endParaRPr lang="en-US" dirty="0"/>
          </a:p>
        </p:txBody>
      </p:sp>
      <p:sp>
        <p:nvSpPr>
          <p:cNvPr id="11" name="Text 8"/>
          <p:cNvSpPr/>
          <p:nvPr/>
        </p:nvSpPr>
        <p:spPr>
          <a:xfrm>
            <a:off x="667345" y="2453878"/>
            <a:ext cx="3551634" cy="383381"/>
          </a:xfrm>
          <a:prstGeom prst="roundRect">
            <a:avLst>
              <a:gd name="adj" fmla="val 18551"/>
            </a:avLst>
          </a:prstGeom>
          <a:solidFill>
            <a:srgbClr val="FFFFFF">
              <a:alpha val="5000"/>
            </a:srgbClr>
          </a:solidFill>
          <a:ln/>
        </p:spPr>
        <p:txBody>
          <a:bodyPr wrap="square" rtlCol="0" anchor="t"/>
          <a:lstStyle/>
          <a:p>
            <a:pPr marL="0" indent="0">
              <a:buNone/>
            </a:pPr>
            <a:r>
              <a:rPr lang="en-US" b="0" i="0">
                <a:solidFill>
                  <a:srgbClr val="FAF6F1"/>
                </a:solidFill>
                <a:effectLst/>
                <a:latin typeface="Consolas" panose="020B0609020204030204" pitchFamily="49" charset="0"/>
              </a:rPr>
              <a:t>1cups + 236.6ml</a:t>
            </a:r>
            <a:r>
              <a:rPr lang="en-US" b="0" i="0">
                <a:solidFill>
                  <a:srgbClr val="B8A99A"/>
                </a:solidFill>
                <a:effectLst/>
                <a:latin typeface="Consolas" panose="020B0609020204030204" pitchFamily="49" charset="0"/>
              </a:rPr>
              <a:t>→</a:t>
            </a:r>
            <a:r>
              <a:rPr lang="en-US" b="1" i="0">
                <a:solidFill>
                  <a:srgbClr val="3A9E6E"/>
                </a:solidFill>
                <a:effectLst/>
                <a:latin typeface="Consolas" panose="020B0609020204030204" pitchFamily="49" charset="0"/>
              </a:rPr>
              <a:t>473.2ml</a:t>
            </a:r>
            <a:endParaRPr lang="en-US" dirty="0"/>
          </a:p>
        </p:txBody>
      </p:sp>
      <p:sp>
        <p:nvSpPr>
          <p:cNvPr id="12" name="Text 9"/>
          <p:cNvSpPr/>
          <p:nvPr/>
        </p:nvSpPr>
        <p:spPr>
          <a:xfrm>
            <a:off x="667345" y="2453878"/>
            <a:ext cx="19050" cy="383381"/>
          </a:xfrm>
          <a:custGeom>
            <a:avLst/>
            <a:gdLst/>
            <a:ahLst/>
            <a:cxnLst/>
            <a:rect l="l" t="t" r="r" b="b"/>
            <a:pathLst>
              <a:path w="19050" h="383381">
                <a:moveTo>
                  <a:pt x="0" y="71120"/>
                </a:moveTo>
                <a:lnTo>
                  <a:pt x="2381" y="52871"/>
                </a:lnTo>
                <a:lnTo>
                  <a:pt x="4763" y="45532"/>
                </a:lnTo>
                <a:lnTo>
                  <a:pt x="7144" y="40054"/>
                </a:lnTo>
                <a:lnTo>
                  <a:pt x="9525" y="35566"/>
                </a:lnTo>
                <a:lnTo>
                  <a:pt x="11906" y="31727"/>
                </a:lnTo>
                <a:lnTo>
                  <a:pt x="14288" y="28363"/>
                </a:lnTo>
                <a:lnTo>
                  <a:pt x="16669" y="25369"/>
                </a:lnTo>
                <a:lnTo>
                  <a:pt x="19050" y="22677"/>
                </a:lnTo>
                <a:lnTo>
                  <a:pt x="19050" y="360705"/>
                </a:lnTo>
                <a:lnTo>
                  <a:pt x="16669" y="358012"/>
                </a:lnTo>
                <a:lnTo>
                  <a:pt x="14288" y="355018"/>
                </a:lnTo>
                <a:lnTo>
                  <a:pt x="11906" y="351654"/>
                </a:lnTo>
                <a:lnTo>
                  <a:pt x="9525" y="347816"/>
                </a:lnTo>
                <a:lnTo>
                  <a:pt x="7144" y="343327"/>
                </a:lnTo>
                <a:lnTo>
                  <a:pt x="4763" y="337849"/>
                </a:lnTo>
                <a:lnTo>
                  <a:pt x="2381" y="330511"/>
                </a:lnTo>
                <a:lnTo>
                  <a:pt x="0" y="312261"/>
                </a:lnTo>
                <a:close/>
              </a:path>
            </a:pathLst>
          </a:custGeom>
          <a:solidFill>
            <a:srgbClr val="3A9E6E"/>
          </a:solidFill>
          <a:ln/>
        </p:spPr>
        <p:txBody>
          <a:bodyPr wrap="square" rtlCol="0" anchor="t"/>
          <a:lstStyle/>
          <a:p>
            <a:pPr marL="0" indent="0">
              <a:buNone/>
            </a:pPr>
            <a:endParaRPr lang="en-US" dirty="0"/>
          </a:p>
        </p:txBody>
      </p:sp>
      <p:sp>
        <p:nvSpPr>
          <p:cNvPr id="13" name="Text 10"/>
          <p:cNvSpPr/>
          <p:nvPr/>
        </p:nvSpPr>
        <p:spPr>
          <a:xfrm>
            <a:off x="667345" y="2923580"/>
            <a:ext cx="3551634" cy="383381"/>
          </a:xfrm>
          <a:prstGeom prst="roundRect">
            <a:avLst>
              <a:gd name="adj" fmla="val 18551"/>
            </a:avLst>
          </a:prstGeom>
          <a:solidFill>
            <a:srgbClr val="FFFFFF">
              <a:alpha val="5000"/>
            </a:srgbClr>
          </a:solidFill>
          <a:ln/>
        </p:spPr>
        <p:txBody>
          <a:bodyPr wrap="square" rtlCol="0" anchor="t"/>
          <a:lstStyle/>
          <a:p>
            <a:pPr marL="0" indent="0">
              <a:buNone/>
            </a:pPr>
            <a:r>
              <a:rPr lang="en-US" b="0" i="0">
                <a:solidFill>
                  <a:srgbClr val="FAF6F1"/>
                </a:solidFill>
                <a:effectLst/>
                <a:latin typeface="Consolas" panose="020B0609020204030204" pitchFamily="49" charset="0"/>
              </a:rPr>
              <a:t>500g * 2</a:t>
            </a:r>
            <a:r>
              <a:rPr lang="en-US" b="0" i="0">
                <a:solidFill>
                  <a:srgbClr val="B8A99A"/>
                </a:solidFill>
                <a:effectLst/>
                <a:latin typeface="Consolas" panose="020B0609020204030204" pitchFamily="49" charset="0"/>
              </a:rPr>
              <a:t>→</a:t>
            </a:r>
            <a:r>
              <a:rPr lang="en-US" b="1" i="0">
                <a:solidFill>
                  <a:srgbClr val="3A9E6E"/>
                </a:solidFill>
                <a:effectLst/>
                <a:latin typeface="Consolas" panose="020B0609020204030204" pitchFamily="49" charset="0"/>
              </a:rPr>
              <a:t>1000g</a:t>
            </a:r>
            <a:endParaRPr lang="en-US" dirty="0"/>
          </a:p>
        </p:txBody>
      </p:sp>
      <p:sp>
        <p:nvSpPr>
          <p:cNvPr id="14" name="Text 11"/>
          <p:cNvSpPr/>
          <p:nvPr/>
        </p:nvSpPr>
        <p:spPr>
          <a:xfrm>
            <a:off x="667345" y="2923580"/>
            <a:ext cx="19050" cy="383381"/>
          </a:xfrm>
          <a:custGeom>
            <a:avLst/>
            <a:gdLst/>
            <a:ahLst/>
            <a:cxnLst/>
            <a:rect l="l" t="t" r="r" b="b"/>
            <a:pathLst>
              <a:path w="19050" h="383381">
                <a:moveTo>
                  <a:pt x="0" y="71120"/>
                </a:moveTo>
                <a:lnTo>
                  <a:pt x="2381" y="52871"/>
                </a:lnTo>
                <a:lnTo>
                  <a:pt x="4763" y="45532"/>
                </a:lnTo>
                <a:lnTo>
                  <a:pt x="7144" y="40054"/>
                </a:lnTo>
                <a:lnTo>
                  <a:pt x="9525" y="35566"/>
                </a:lnTo>
                <a:lnTo>
                  <a:pt x="11906" y="31727"/>
                </a:lnTo>
                <a:lnTo>
                  <a:pt x="14288" y="28363"/>
                </a:lnTo>
                <a:lnTo>
                  <a:pt x="16669" y="25369"/>
                </a:lnTo>
                <a:lnTo>
                  <a:pt x="19050" y="22677"/>
                </a:lnTo>
                <a:lnTo>
                  <a:pt x="19050" y="360705"/>
                </a:lnTo>
                <a:lnTo>
                  <a:pt x="16669" y="358012"/>
                </a:lnTo>
                <a:lnTo>
                  <a:pt x="14288" y="355018"/>
                </a:lnTo>
                <a:lnTo>
                  <a:pt x="11906" y="351654"/>
                </a:lnTo>
                <a:lnTo>
                  <a:pt x="9525" y="347816"/>
                </a:lnTo>
                <a:lnTo>
                  <a:pt x="7144" y="343327"/>
                </a:lnTo>
                <a:lnTo>
                  <a:pt x="4763" y="337849"/>
                </a:lnTo>
                <a:lnTo>
                  <a:pt x="2381" y="330511"/>
                </a:lnTo>
                <a:lnTo>
                  <a:pt x="0" y="312261"/>
                </a:lnTo>
                <a:close/>
              </a:path>
            </a:pathLst>
          </a:custGeom>
          <a:solidFill>
            <a:srgbClr val="3A9E6E"/>
          </a:solidFill>
          <a:ln/>
        </p:spPr>
        <p:txBody>
          <a:bodyPr wrap="square" rtlCol="0" anchor="t"/>
          <a:lstStyle/>
          <a:p>
            <a:pPr marL="0" indent="0">
              <a:buNone/>
            </a:pPr>
            <a:endParaRPr lang="en-US" dirty="0"/>
          </a:p>
        </p:txBody>
      </p:sp>
      <p:sp>
        <p:nvSpPr>
          <p:cNvPr id="15" name="Text 12"/>
          <p:cNvSpPr/>
          <p:nvPr/>
        </p:nvSpPr>
        <p:spPr>
          <a:xfrm>
            <a:off x="667345" y="3393281"/>
            <a:ext cx="3551634" cy="391567"/>
          </a:xfrm>
          <a:prstGeom prst="roundRect">
            <a:avLst>
              <a:gd name="adj" fmla="val 18163"/>
            </a:avLst>
          </a:prstGeom>
          <a:solidFill>
            <a:srgbClr val="FFFFFF">
              <a:alpha val="5000"/>
            </a:srgbClr>
          </a:solidFill>
          <a:ln/>
        </p:spPr>
        <p:txBody>
          <a:bodyPr wrap="square" rtlCol="0" anchor="t"/>
          <a:lstStyle/>
          <a:p>
            <a:pPr marL="0" indent="0">
              <a:buNone/>
            </a:pPr>
            <a:r>
              <a:rPr lang="en-US" b="0" i="0">
                <a:solidFill>
                  <a:srgbClr val="FAF6F1"/>
                </a:solidFill>
                <a:effectLst/>
                <a:latin typeface="Consolas" panose="020B0609020204030204" pitchFamily="49" charset="0"/>
              </a:rPr>
              <a:t>500g / 500g</a:t>
            </a:r>
            <a:r>
              <a:rPr lang="en-US" b="0" i="0">
                <a:solidFill>
                  <a:srgbClr val="B8A99A"/>
                </a:solidFill>
                <a:effectLst/>
                <a:latin typeface="Consolas" panose="020B0609020204030204" pitchFamily="49" charset="0"/>
              </a:rPr>
              <a:t>→</a:t>
            </a:r>
            <a:r>
              <a:rPr lang="en-US" b="1" i="0">
                <a:solidFill>
                  <a:srgbClr val="3A9E6E"/>
                </a:solidFill>
                <a:effectLst/>
                <a:latin typeface="Consolas" panose="020B0609020204030204" pitchFamily="49" charset="0"/>
              </a:rPr>
              <a:t>1.0 amount</a:t>
            </a:r>
            <a:endParaRPr lang="en-US" dirty="0"/>
          </a:p>
        </p:txBody>
      </p:sp>
      <p:sp>
        <p:nvSpPr>
          <p:cNvPr id="16" name="Text 13"/>
          <p:cNvSpPr/>
          <p:nvPr/>
        </p:nvSpPr>
        <p:spPr>
          <a:xfrm>
            <a:off x="667345" y="3393281"/>
            <a:ext cx="19050" cy="391567"/>
          </a:xfrm>
          <a:custGeom>
            <a:avLst/>
            <a:gdLst/>
            <a:ahLst/>
            <a:cxnLst/>
            <a:rect l="l" t="t" r="r" b="b"/>
            <a:pathLst>
              <a:path w="19050" h="391567">
                <a:moveTo>
                  <a:pt x="0" y="71120"/>
                </a:moveTo>
                <a:lnTo>
                  <a:pt x="2381" y="52871"/>
                </a:lnTo>
                <a:lnTo>
                  <a:pt x="4763" y="45532"/>
                </a:lnTo>
                <a:lnTo>
                  <a:pt x="7144" y="40054"/>
                </a:lnTo>
                <a:lnTo>
                  <a:pt x="9525" y="35566"/>
                </a:lnTo>
                <a:lnTo>
                  <a:pt x="11906" y="31727"/>
                </a:lnTo>
                <a:lnTo>
                  <a:pt x="14288" y="28363"/>
                </a:lnTo>
                <a:lnTo>
                  <a:pt x="16669" y="25369"/>
                </a:lnTo>
                <a:lnTo>
                  <a:pt x="19050" y="22677"/>
                </a:lnTo>
                <a:lnTo>
                  <a:pt x="19050" y="368890"/>
                </a:lnTo>
                <a:lnTo>
                  <a:pt x="16669" y="366197"/>
                </a:lnTo>
                <a:lnTo>
                  <a:pt x="14288" y="363203"/>
                </a:lnTo>
                <a:lnTo>
                  <a:pt x="11906" y="359839"/>
                </a:lnTo>
                <a:lnTo>
                  <a:pt x="9525" y="356001"/>
                </a:lnTo>
                <a:lnTo>
                  <a:pt x="7144" y="351513"/>
                </a:lnTo>
                <a:lnTo>
                  <a:pt x="4763" y="346035"/>
                </a:lnTo>
                <a:lnTo>
                  <a:pt x="2381" y="338696"/>
                </a:lnTo>
                <a:lnTo>
                  <a:pt x="0" y="320447"/>
                </a:lnTo>
                <a:close/>
              </a:path>
            </a:pathLst>
          </a:custGeom>
          <a:solidFill>
            <a:srgbClr val="3A9E6E"/>
          </a:solidFill>
          <a:ln/>
        </p:spPr>
        <p:txBody>
          <a:bodyPr wrap="square" rtlCol="0" anchor="t"/>
          <a:lstStyle/>
          <a:p>
            <a:pPr marL="0" indent="0">
              <a:buNone/>
            </a:pPr>
            <a:endParaRPr lang="en-US" dirty="0"/>
          </a:p>
        </p:txBody>
      </p:sp>
      <p:sp>
        <p:nvSpPr>
          <p:cNvPr id="18" name="Text 15"/>
          <p:cNvSpPr/>
          <p:nvPr/>
        </p:nvSpPr>
        <p:spPr>
          <a:xfrm>
            <a:off x="4714875" y="1288852"/>
            <a:ext cx="3971925" cy="3196828"/>
          </a:xfrm>
          <a:prstGeom prst="roundRect">
            <a:avLst>
              <a:gd name="adj" fmla="val 3575"/>
            </a:avLst>
          </a:prstGeom>
          <a:solidFill>
            <a:srgbClr val="D94444">
              <a:alpha val="12000"/>
            </a:srgbClr>
          </a:solidFill>
          <a:ln w="9525">
            <a:solidFill>
              <a:srgbClr val="D94444">
                <a:alpha val="30000"/>
              </a:srgbClr>
            </a:solidFill>
          </a:ln>
        </p:spPr>
        <p:txBody>
          <a:bodyPr wrap="square" rtlCol="0" anchor="t"/>
          <a:lstStyle/>
          <a:p>
            <a:pPr marL="0" indent="0">
              <a:buNone/>
            </a:pPr>
            <a:endParaRPr lang="en-US" dirty="0"/>
          </a:p>
        </p:txBody>
      </p:sp>
      <p:sp>
        <p:nvSpPr>
          <p:cNvPr id="19" name="Text 16"/>
          <p:cNvSpPr/>
          <p:nvPr/>
        </p:nvSpPr>
        <p:spPr>
          <a:xfrm>
            <a:off x="4925020" y="1526977"/>
            <a:ext cx="285750" cy="285750"/>
          </a:xfrm>
          <a:prstGeom prst="ellipse">
            <a:avLst/>
          </a:prstGeom>
          <a:solidFill>
            <a:srgbClr val="D94444">
              <a:alpha val="22000"/>
            </a:srgbClr>
          </a:solidFill>
          <a:ln/>
        </p:spPr>
        <p:txBody>
          <a:bodyPr wrap="square" rtlCol="0" anchor="t"/>
          <a:lstStyle/>
          <a:p>
            <a:pPr marL="0" indent="0">
              <a:buNone/>
            </a:pPr>
            <a:endParaRPr lang="en-US" dirty="0"/>
          </a:p>
        </p:txBody>
      </p:sp>
      <p:pic>
        <p:nvPicPr>
          <p:cNvPr id="2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001601" y="1603558"/>
            <a:ext cx="132588" cy="132588"/>
          </a:xfrm>
          <a:prstGeom prst="rect">
            <a:avLst/>
          </a:prstGeom>
        </p:spPr>
      </p:pic>
      <p:sp>
        <p:nvSpPr>
          <p:cNvPr id="21" name="Text 17"/>
          <p:cNvSpPr/>
          <p:nvPr/>
        </p:nvSpPr>
        <p:spPr>
          <a:xfrm>
            <a:off x="5297091" y="1541264"/>
            <a:ext cx="1524804" cy="257175"/>
          </a:xfrm>
          <a:prstGeom prst="rect">
            <a:avLst/>
          </a:prstGeom>
          <a:noFill/>
          <a:ln/>
        </p:spPr>
        <p:txBody>
          <a:bodyPr wrap="none" lIns="0" tIns="0" rIns="0" bIns="0" rtlCol="0" anchor="ctr"/>
          <a:lstStyle/>
          <a:p>
            <a:pPr marL="0" indent="0" algn="l">
              <a:lnSpc>
                <a:spcPts val="2025"/>
              </a:lnSpc>
              <a:buNone/>
            </a:pPr>
            <a:r>
              <a:rPr lang="en-US" sz="1350" b="1" dirty="0">
                <a:solidFill>
                  <a:srgbClr val="FAF6F1"/>
                </a:solidFill>
                <a:latin typeface="Constantia" pitchFamily="34" charset="0"/>
                <a:ea typeface="Constantia" pitchFamily="34" charset="-122"/>
                <a:cs typeface="Constantia" pitchFamily="34" charset="-120"/>
              </a:rPr>
              <a:t>Invalid Operations</a:t>
            </a:r>
            <a:endParaRPr lang="en-US" sz="1350" dirty="0"/>
          </a:p>
        </p:txBody>
      </p:sp>
      <p:sp>
        <p:nvSpPr>
          <p:cNvPr id="22" name="Text 18"/>
          <p:cNvSpPr/>
          <p:nvPr/>
        </p:nvSpPr>
        <p:spPr>
          <a:xfrm>
            <a:off x="4925020" y="1984177"/>
            <a:ext cx="3551634" cy="383381"/>
          </a:xfrm>
          <a:prstGeom prst="roundRect">
            <a:avLst>
              <a:gd name="adj" fmla="val 18551"/>
            </a:avLst>
          </a:prstGeom>
          <a:solidFill>
            <a:srgbClr val="FFFFFF">
              <a:alpha val="5000"/>
            </a:srgbClr>
          </a:solidFill>
          <a:ln/>
        </p:spPr>
        <p:txBody>
          <a:bodyPr wrap="square" rtlCol="0" anchor="t"/>
          <a:lstStyle/>
          <a:p>
            <a:pPr marL="0" indent="0">
              <a:buNone/>
            </a:pPr>
            <a:r>
              <a:rPr lang="en-US" b="0" i="0">
                <a:solidFill>
                  <a:srgbClr val="FAF6F1"/>
                </a:solidFill>
                <a:effectLst/>
                <a:latin typeface="Consolas" panose="020B0609020204030204" pitchFamily="49" charset="0"/>
              </a:rPr>
              <a:t>200g + 350ml</a:t>
            </a:r>
            <a:r>
              <a:rPr lang="en-US" b="0" i="0">
                <a:solidFill>
                  <a:srgbClr val="B8A99A"/>
                </a:solidFill>
                <a:effectLst/>
                <a:latin typeface="Consolas" panose="020B0609020204030204" pitchFamily="49" charset="0"/>
              </a:rPr>
              <a:t>→</a:t>
            </a:r>
            <a:r>
              <a:rPr lang="en-US" b="1" i="0">
                <a:solidFill>
                  <a:srgbClr val="D94444"/>
                </a:solidFill>
                <a:effectLst/>
                <a:latin typeface="Consolas" panose="020B0609020204030204" pitchFamily="49" charset="0"/>
              </a:rPr>
              <a:t>TypeError</a:t>
            </a:r>
            <a:endParaRPr lang="en-US" dirty="0"/>
          </a:p>
        </p:txBody>
      </p:sp>
      <p:sp>
        <p:nvSpPr>
          <p:cNvPr id="23" name="Text 19"/>
          <p:cNvSpPr/>
          <p:nvPr/>
        </p:nvSpPr>
        <p:spPr>
          <a:xfrm>
            <a:off x="4925020" y="1984177"/>
            <a:ext cx="19050" cy="383381"/>
          </a:xfrm>
          <a:custGeom>
            <a:avLst/>
            <a:gdLst/>
            <a:ahLst/>
            <a:cxnLst/>
            <a:rect l="l" t="t" r="r" b="b"/>
            <a:pathLst>
              <a:path w="19050" h="383381">
                <a:moveTo>
                  <a:pt x="0" y="71120"/>
                </a:moveTo>
                <a:lnTo>
                  <a:pt x="2381" y="52871"/>
                </a:lnTo>
                <a:lnTo>
                  <a:pt x="4763" y="45532"/>
                </a:lnTo>
                <a:lnTo>
                  <a:pt x="7144" y="40054"/>
                </a:lnTo>
                <a:lnTo>
                  <a:pt x="9525" y="35566"/>
                </a:lnTo>
                <a:lnTo>
                  <a:pt x="11906" y="31727"/>
                </a:lnTo>
                <a:lnTo>
                  <a:pt x="14288" y="28363"/>
                </a:lnTo>
                <a:lnTo>
                  <a:pt x="16669" y="25369"/>
                </a:lnTo>
                <a:lnTo>
                  <a:pt x="19050" y="22677"/>
                </a:lnTo>
                <a:lnTo>
                  <a:pt x="19050" y="360705"/>
                </a:lnTo>
                <a:lnTo>
                  <a:pt x="16669" y="358012"/>
                </a:lnTo>
                <a:lnTo>
                  <a:pt x="14288" y="355018"/>
                </a:lnTo>
                <a:lnTo>
                  <a:pt x="11906" y="351654"/>
                </a:lnTo>
                <a:lnTo>
                  <a:pt x="9525" y="347816"/>
                </a:lnTo>
                <a:lnTo>
                  <a:pt x="7144" y="343327"/>
                </a:lnTo>
                <a:lnTo>
                  <a:pt x="4763" y="337849"/>
                </a:lnTo>
                <a:lnTo>
                  <a:pt x="2381" y="330511"/>
                </a:lnTo>
                <a:lnTo>
                  <a:pt x="0" y="312261"/>
                </a:lnTo>
                <a:close/>
              </a:path>
            </a:pathLst>
          </a:custGeom>
          <a:solidFill>
            <a:srgbClr val="D94444"/>
          </a:solidFill>
          <a:ln/>
        </p:spPr>
        <p:txBody>
          <a:bodyPr wrap="square" rtlCol="0" anchor="t"/>
          <a:lstStyle/>
          <a:p>
            <a:pPr marL="0" indent="0">
              <a:buNone/>
            </a:pPr>
            <a:endParaRPr lang="en-US" dirty="0"/>
          </a:p>
        </p:txBody>
      </p:sp>
      <p:sp>
        <p:nvSpPr>
          <p:cNvPr id="24" name="Text 20"/>
          <p:cNvSpPr/>
          <p:nvPr/>
        </p:nvSpPr>
        <p:spPr>
          <a:xfrm>
            <a:off x="4925020" y="2453878"/>
            <a:ext cx="3551634" cy="383381"/>
          </a:xfrm>
          <a:prstGeom prst="roundRect">
            <a:avLst>
              <a:gd name="adj" fmla="val 18551"/>
            </a:avLst>
          </a:prstGeom>
          <a:solidFill>
            <a:srgbClr val="FFFFFF">
              <a:alpha val="5000"/>
            </a:srgbClr>
          </a:solidFill>
          <a:ln/>
        </p:spPr>
        <p:txBody>
          <a:bodyPr wrap="square" rtlCol="0" anchor="t"/>
          <a:lstStyle/>
          <a:p>
            <a:pPr marL="0" indent="0">
              <a:buNone/>
            </a:pPr>
            <a:r>
              <a:rPr lang="en-US" b="0" i="0" dirty="0">
                <a:solidFill>
                  <a:srgbClr val="FAF6F1"/>
                </a:solidFill>
                <a:effectLst/>
                <a:latin typeface="Consolas" panose="020B0609020204030204" pitchFamily="49" charset="0"/>
              </a:rPr>
              <a:t>35min + 100°C</a:t>
            </a:r>
            <a:r>
              <a:rPr lang="en-US" b="0" i="0" dirty="0">
                <a:solidFill>
                  <a:srgbClr val="B8A99A"/>
                </a:solidFill>
                <a:effectLst/>
                <a:latin typeface="Consolas" panose="020B0609020204030204" pitchFamily="49" charset="0"/>
              </a:rPr>
              <a:t>→</a:t>
            </a:r>
            <a:r>
              <a:rPr lang="en-US" b="1" i="0" dirty="0">
                <a:solidFill>
                  <a:srgbClr val="D94444"/>
                </a:solidFill>
                <a:effectLst/>
                <a:latin typeface="Consolas" panose="020B0609020204030204" pitchFamily="49" charset="0"/>
              </a:rPr>
              <a:t>TypeError</a:t>
            </a:r>
            <a:endParaRPr lang="en-US" dirty="0"/>
          </a:p>
        </p:txBody>
      </p:sp>
      <p:sp>
        <p:nvSpPr>
          <p:cNvPr id="25" name="Text 21"/>
          <p:cNvSpPr/>
          <p:nvPr/>
        </p:nvSpPr>
        <p:spPr>
          <a:xfrm>
            <a:off x="4925020" y="2453878"/>
            <a:ext cx="19050" cy="383381"/>
          </a:xfrm>
          <a:custGeom>
            <a:avLst/>
            <a:gdLst/>
            <a:ahLst/>
            <a:cxnLst/>
            <a:rect l="l" t="t" r="r" b="b"/>
            <a:pathLst>
              <a:path w="19050" h="383381">
                <a:moveTo>
                  <a:pt x="0" y="71120"/>
                </a:moveTo>
                <a:lnTo>
                  <a:pt x="2381" y="52871"/>
                </a:lnTo>
                <a:lnTo>
                  <a:pt x="4763" y="45532"/>
                </a:lnTo>
                <a:lnTo>
                  <a:pt x="7144" y="40054"/>
                </a:lnTo>
                <a:lnTo>
                  <a:pt x="9525" y="35566"/>
                </a:lnTo>
                <a:lnTo>
                  <a:pt x="11906" y="31727"/>
                </a:lnTo>
                <a:lnTo>
                  <a:pt x="14288" y="28363"/>
                </a:lnTo>
                <a:lnTo>
                  <a:pt x="16669" y="25369"/>
                </a:lnTo>
                <a:lnTo>
                  <a:pt x="19050" y="22677"/>
                </a:lnTo>
                <a:lnTo>
                  <a:pt x="19050" y="360705"/>
                </a:lnTo>
                <a:lnTo>
                  <a:pt x="16669" y="358012"/>
                </a:lnTo>
                <a:lnTo>
                  <a:pt x="14288" y="355018"/>
                </a:lnTo>
                <a:lnTo>
                  <a:pt x="11906" y="351654"/>
                </a:lnTo>
                <a:lnTo>
                  <a:pt x="9525" y="347816"/>
                </a:lnTo>
                <a:lnTo>
                  <a:pt x="7144" y="343327"/>
                </a:lnTo>
                <a:lnTo>
                  <a:pt x="4763" y="337849"/>
                </a:lnTo>
                <a:lnTo>
                  <a:pt x="2381" y="330511"/>
                </a:lnTo>
                <a:lnTo>
                  <a:pt x="0" y="312261"/>
                </a:lnTo>
                <a:close/>
              </a:path>
            </a:pathLst>
          </a:custGeom>
          <a:solidFill>
            <a:srgbClr val="D94444"/>
          </a:solidFill>
          <a:ln/>
        </p:spPr>
        <p:txBody>
          <a:bodyPr wrap="square" rtlCol="0" anchor="t"/>
          <a:lstStyle/>
          <a:p>
            <a:pPr marL="0" indent="0">
              <a:buNone/>
            </a:pPr>
            <a:endParaRPr lang="en-US" dirty="0"/>
          </a:p>
        </p:txBody>
      </p:sp>
      <p:sp>
        <p:nvSpPr>
          <p:cNvPr id="26" name="Text 22"/>
          <p:cNvSpPr/>
          <p:nvPr/>
        </p:nvSpPr>
        <p:spPr>
          <a:xfrm>
            <a:off x="4925020" y="2923580"/>
            <a:ext cx="3551634" cy="383381"/>
          </a:xfrm>
          <a:prstGeom prst="roundRect">
            <a:avLst>
              <a:gd name="adj" fmla="val 18551"/>
            </a:avLst>
          </a:prstGeom>
          <a:solidFill>
            <a:srgbClr val="FFFFFF">
              <a:alpha val="5000"/>
            </a:srgbClr>
          </a:solidFill>
          <a:ln/>
        </p:spPr>
        <p:txBody>
          <a:bodyPr wrap="square" rtlCol="0" anchor="t"/>
          <a:lstStyle/>
          <a:p>
            <a:pPr marL="0" indent="0">
              <a:buNone/>
            </a:pPr>
            <a:r>
              <a:rPr lang="en-US" b="0" i="0">
                <a:solidFill>
                  <a:srgbClr val="FAF6F1"/>
                </a:solidFill>
                <a:effectLst/>
                <a:latin typeface="Consolas" panose="020B0609020204030204" pitchFamily="49" charset="0"/>
              </a:rPr>
              <a:t>200g * 350ml</a:t>
            </a:r>
            <a:r>
              <a:rPr lang="en-US" b="0" i="0">
                <a:solidFill>
                  <a:srgbClr val="B8A99A"/>
                </a:solidFill>
                <a:effectLst/>
                <a:latin typeface="Consolas" panose="020B0609020204030204" pitchFamily="49" charset="0"/>
              </a:rPr>
              <a:t>→</a:t>
            </a:r>
            <a:r>
              <a:rPr lang="en-US" b="1" i="0">
                <a:solidFill>
                  <a:srgbClr val="D94444"/>
                </a:solidFill>
                <a:effectLst/>
                <a:latin typeface="Consolas" panose="020B0609020204030204" pitchFamily="49" charset="0"/>
              </a:rPr>
              <a:t>TypeError</a:t>
            </a:r>
            <a:endParaRPr lang="en-US" dirty="0"/>
          </a:p>
        </p:txBody>
      </p:sp>
      <p:sp>
        <p:nvSpPr>
          <p:cNvPr id="27" name="Text 23"/>
          <p:cNvSpPr/>
          <p:nvPr/>
        </p:nvSpPr>
        <p:spPr>
          <a:xfrm>
            <a:off x="4925020" y="2923580"/>
            <a:ext cx="19050" cy="383381"/>
          </a:xfrm>
          <a:custGeom>
            <a:avLst/>
            <a:gdLst/>
            <a:ahLst/>
            <a:cxnLst/>
            <a:rect l="l" t="t" r="r" b="b"/>
            <a:pathLst>
              <a:path w="19050" h="383381">
                <a:moveTo>
                  <a:pt x="0" y="71120"/>
                </a:moveTo>
                <a:lnTo>
                  <a:pt x="2381" y="52871"/>
                </a:lnTo>
                <a:lnTo>
                  <a:pt x="4763" y="45532"/>
                </a:lnTo>
                <a:lnTo>
                  <a:pt x="7144" y="40054"/>
                </a:lnTo>
                <a:lnTo>
                  <a:pt x="9525" y="35566"/>
                </a:lnTo>
                <a:lnTo>
                  <a:pt x="11906" y="31727"/>
                </a:lnTo>
                <a:lnTo>
                  <a:pt x="14288" y="28363"/>
                </a:lnTo>
                <a:lnTo>
                  <a:pt x="16669" y="25369"/>
                </a:lnTo>
                <a:lnTo>
                  <a:pt x="19050" y="22677"/>
                </a:lnTo>
                <a:lnTo>
                  <a:pt x="19050" y="360705"/>
                </a:lnTo>
                <a:lnTo>
                  <a:pt x="16669" y="358012"/>
                </a:lnTo>
                <a:lnTo>
                  <a:pt x="14288" y="355018"/>
                </a:lnTo>
                <a:lnTo>
                  <a:pt x="11906" y="351654"/>
                </a:lnTo>
                <a:lnTo>
                  <a:pt x="9525" y="347816"/>
                </a:lnTo>
                <a:lnTo>
                  <a:pt x="7144" y="343327"/>
                </a:lnTo>
                <a:lnTo>
                  <a:pt x="4763" y="337849"/>
                </a:lnTo>
                <a:lnTo>
                  <a:pt x="2381" y="330511"/>
                </a:lnTo>
                <a:lnTo>
                  <a:pt x="0" y="312261"/>
                </a:lnTo>
                <a:close/>
              </a:path>
            </a:pathLst>
          </a:custGeom>
          <a:solidFill>
            <a:srgbClr val="D94444"/>
          </a:solidFill>
          <a:ln/>
        </p:spPr>
        <p:txBody>
          <a:bodyPr wrap="square" rtlCol="0" anchor="t"/>
          <a:lstStyle/>
          <a:p>
            <a:pPr marL="0" indent="0">
              <a:buNone/>
            </a:pPr>
            <a:endParaRPr lang="en-US" dirty="0"/>
          </a:p>
        </p:txBody>
      </p:sp>
      <p:sp>
        <p:nvSpPr>
          <p:cNvPr id="28" name="Text 24"/>
          <p:cNvSpPr/>
          <p:nvPr/>
        </p:nvSpPr>
        <p:spPr>
          <a:xfrm>
            <a:off x="4925020" y="3824585"/>
            <a:ext cx="3622667" cy="422970"/>
          </a:xfrm>
          <a:prstGeom prst="roundRect">
            <a:avLst>
              <a:gd name="adj" fmla="val 13512"/>
            </a:avLst>
          </a:prstGeom>
          <a:solidFill>
            <a:srgbClr val="D94444">
              <a:alpha val="8000"/>
            </a:srgbClr>
          </a:solidFill>
          <a:ln/>
        </p:spPr>
        <p:txBody>
          <a:bodyPr wrap="none" lIns="114300" tIns="100330" rIns="114300" bIns="100330" rtlCol="0" anchor="t"/>
          <a:lstStyle/>
          <a:p>
            <a:pPr marL="0" indent="0" algn="l">
              <a:buNone/>
            </a:pPr>
            <a:r>
              <a:rPr lang="en-US" sz="790" dirty="0">
                <a:solidFill>
                  <a:srgbClr val="B8A99A"/>
                </a:solidFill>
                <a:latin typeface="Corbel" pitchFamily="34" charset="0"/>
                <a:ea typeface="Corbel" pitchFamily="34" charset="-122"/>
                <a:cs typeface="Corbel" pitchFamily="34" charset="-120"/>
              </a:rPr>
              <a:t>These never compile — caught </a:t>
            </a:r>
            <a:r>
              <a:rPr lang="en-US" sz="790" i="1" dirty="0">
                <a:solidFill>
                  <a:srgbClr val="B8A99A"/>
                </a:solidFill>
                <a:latin typeface="Corbel" pitchFamily="34" charset="0"/>
                <a:ea typeface="Corbel" pitchFamily="34" charset="-122"/>
                <a:cs typeface="Corbel" pitchFamily="34" charset="-120"/>
              </a:rPr>
              <a:t>before</a:t>
            </a:r>
            <a:r>
              <a:rPr lang="en-US" sz="790" dirty="0">
                <a:solidFill>
                  <a:srgbClr val="B8A99A"/>
                </a:solidFill>
                <a:latin typeface="Corbel" pitchFamily="34" charset="0"/>
                <a:ea typeface="Corbel" pitchFamily="34" charset="-122"/>
                <a:cs typeface="Corbel" pitchFamily="34" charset="-120"/>
              </a:rPr>
              <a:t> JavaScript is emitted.</a:t>
            </a:r>
            <a:endParaRPr lang="en-US" sz="790" dirty="0"/>
          </a:p>
        </p:txBody>
      </p:sp>
      <p:sp>
        <p:nvSpPr>
          <p:cNvPr id="29" name="Text 25"/>
          <p:cNvSpPr/>
          <p:nvPr/>
        </p:nvSpPr>
        <p:spPr>
          <a:xfrm>
            <a:off x="374904" y="4485680"/>
            <a:ext cx="8394192" cy="330666"/>
          </a:xfrm>
          <a:prstGeom prst="rect">
            <a:avLst/>
          </a:prstGeom>
          <a:noFill/>
          <a:ln/>
        </p:spPr>
        <p:txBody>
          <a:bodyPr wrap="square" lIns="0" tIns="143510" rIns="0" bIns="0" rtlCol="0" anchor="t"/>
          <a:lstStyle/>
          <a:p>
            <a:pPr marL="0" indent="0" algn="ctr">
              <a:lnSpc>
                <a:spcPts val="1350"/>
              </a:lnSpc>
              <a:buNone/>
            </a:pPr>
            <a:r>
              <a:rPr lang="en-US" sz="900" dirty="0">
                <a:solidFill>
                  <a:srgbClr val="B8A99A"/>
                </a:solidFill>
                <a:latin typeface="Corbel" pitchFamily="34" charset="0"/>
                <a:ea typeface="Corbel" pitchFamily="34" charset="-122"/>
                <a:cs typeface="Corbel" pitchFamily="34" charset="-120"/>
              </a:rPr>
              <a:t>Fling catches unit mismatches at </a:t>
            </a:r>
            <a:r>
              <a:rPr lang="en-US" sz="900" b="1" dirty="0">
                <a:solidFill>
                  <a:srgbClr val="C4582A"/>
                </a:solidFill>
                <a:latin typeface="Corbel" pitchFamily="34" charset="0"/>
                <a:ea typeface="Corbel" pitchFamily="34" charset="-122"/>
                <a:cs typeface="Corbel" pitchFamily="34" charset="-120"/>
              </a:rPr>
              <a:t>compile time</a:t>
            </a:r>
            <a:r>
              <a:rPr lang="en-US" sz="900" dirty="0">
                <a:solidFill>
                  <a:srgbClr val="B8A99A"/>
                </a:solidFill>
                <a:latin typeface="Corbel" pitchFamily="34" charset="0"/>
                <a:ea typeface="Corbel" pitchFamily="34" charset="-122"/>
                <a:cs typeface="Corbel" pitchFamily="34" charset="-120"/>
              </a:rPr>
              <a:t> — no runtime surprises, no silent bugs.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F1"/>
        </a:solidFill>
        <a:effectLst/>
      </p:bgPr>
    </p:bg>
    <p:spTree>
      <p:nvGrpSpPr>
        <p:cNvPr id="1" name=""/>
        <p:cNvGrpSpPr/>
        <p:nvPr/>
      </p:nvGrpSpPr>
      <p:grpSpPr>
        <a:xfrm>
          <a:off x="0" y="0"/>
          <a:ext cx="0" cy="0"/>
          <a:chOff x="0" y="0"/>
          <a:chExt cx="0" cy="0"/>
        </a:xfrm>
      </p:grpSpPr>
      <p:sp>
        <p:nvSpPr>
          <p:cNvPr id="2" name="Text 0"/>
          <p:cNvSpPr/>
          <p:nvPr/>
        </p:nvSpPr>
        <p:spPr>
          <a:xfrm>
            <a:off x="4069415" y="342900"/>
            <a:ext cx="1005021" cy="139005"/>
          </a:xfrm>
          <a:prstGeom prst="rect">
            <a:avLst/>
          </a:prstGeom>
          <a:noFill/>
          <a:ln/>
        </p:spPr>
        <p:txBody>
          <a:bodyPr wrap="none" lIns="0" tIns="0" rIns="0" bIns="0" rtlCol="0" anchor="t"/>
          <a:lstStyle/>
          <a:p>
            <a:pPr marL="0" indent="0" algn="ctr">
              <a:lnSpc>
                <a:spcPts val="1095"/>
              </a:lnSpc>
              <a:buNone/>
            </a:pPr>
            <a:r>
              <a:rPr lang="en-US" sz="730" b="1" kern="0" spc="88" dirty="0">
                <a:solidFill>
                  <a:srgbClr val="C4582A"/>
                </a:solidFill>
                <a:latin typeface="Corbel" pitchFamily="34" charset="0"/>
                <a:ea typeface="Corbel" pitchFamily="34" charset="-122"/>
                <a:cs typeface="Corbel" pitchFamily="34" charset="-120"/>
              </a:rPr>
              <a:t>UNITS AS TYPES</a:t>
            </a:r>
            <a:endParaRPr lang="en-US" sz="730" dirty="0"/>
          </a:p>
        </p:txBody>
      </p:sp>
      <p:sp>
        <p:nvSpPr>
          <p:cNvPr id="3" name="Text 1"/>
          <p:cNvSpPr/>
          <p:nvPr/>
        </p:nvSpPr>
        <p:spPr>
          <a:xfrm>
            <a:off x="251460" y="568226"/>
            <a:ext cx="8641080" cy="362099"/>
          </a:xfrm>
          <a:prstGeom prst="rect">
            <a:avLst/>
          </a:prstGeom>
          <a:noFill/>
          <a:ln/>
        </p:spPr>
        <p:txBody>
          <a:bodyPr wrap="none" lIns="0" tIns="0" rIns="0" bIns="0" rtlCol="0" anchor="t"/>
          <a:lstStyle/>
          <a:p>
            <a:pPr marL="0" indent="0" algn="ctr">
              <a:lnSpc>
                <a:spcPts val="2852"/>
              </a:lnSpc>
              <a:spcAft>
                <a:spcPts val="680"/>
              </a:spcAft>
              <a:buNone/>
            </a:pPr>
            <a:r>
              <a:rPr lang="en-US" sz="2480" dirty="0">
                <a:solidFill>
                  <a:srgbClr val="2D2520"/>
                </a:solidFill>
                <a:latin typeface="Constantia" pitchFamily="34" charset="0"/>
                <a:ea typeface="Constantia" pitchFamily="34" charset="-122"/>
                <a:cs typeface="Constantia" pitchFamily="34" charset="-120"/>
              </a:rPr>
              <a:t>Every Unit Is a </a:t>
            </a:r>
            <a:r>
              <a:rPr lang="en-US" sz="2480" b="1" dirty="0">
                <a:solidFill>
                  <a:srgbClr val="C4582A"/>
                </a:solidFill>
                <a:latin typeface="Constantia" pitchFamily="34" charset="0"/>
                <a:ea typeface="Constantia" pitchFamily="34" charset="-122"/>
                <a:cs typeface="Constantia" pitchFamily="34" charset="-120"/>
              </a:rPr>
              <a:t>Compile-Time Type</a:t>
            </a:r>
            <a:endParaRPr lang="en-US" sz="2480" dirty="0"/>
          </a:p>
        </p:txBody>
      </p:sp>
      <p:sp>
        <p:nvSpPr>
          <p:cNvPr id="4" name="Text 2"/>
          <p:cNvSpPr/>
          <p:nvPr/>
        </p:nvSpPr>
        <p:spPr>
          <a:xfrm>
            <a:off x="1729913" y="1016645"/>
            <a:ext cx="5684175" cy="396612"/>
          </a:xfrm>
          <a:prstGeom prst="rect">
            <a:avLst/>
          </a:prstGeom>
          <a:noFill/>
          <a:ln/>
        </p:spPr>
        <p:txBody>
          <a:bodyPr wrap="square" lIns="0" tIns="0" rIns="0" bIns="0" rtlCol="0" anchor="t"/>
          <a:lstStyle/>
          <a:p>
            <a:pPr marL="0" indent="0" algn="ctr">
              <a:lnSpc>
                <a:spcPts val="1488"/>
              </a:lnSpc>
              <a:spcAft>
                <a:spcPts val="2250"/>
              </a:spcAft>
              <a:buNone/>
            </a:pPr>
            <a:r>
              <a:rPr lang="en-US" sz="960" dirty="0">
                <a:solidFill>
                  <a:srgbClr val="8A7567"/>
                </a:solidFill>
                <a:latin typeface="Corbel" pitchFamily="34" charset="0"/>
                <a:ea typeface="Corbel" pitchFamily="34" charset="-122"/>
                <a:cs typeface="Corbel" pitchFamily="34" charset="-120"/>
              </a:rPr>
              <a:t>The analyzer tracks dimensions through every expression and rejects cross-dimension operations before code generation begins.</a:t>
            </a:r>
            <a:endParaRPr lang="en-US" sz="960" dirty="0"/>
          </a:p>
        </p:txBody>
      </p:sp>
      <p:sp>
        <p:nvSpPr>
          <p:cNvPr id="5" name="Text 3"/>
          <p:cNvSpPr/>
          <p:nvPr/>
        </p:nvSpPr>
        <p:spPr>
          <a:xfrm>
            <a:off x="457200" y="1680121"/>
            <a:ext cx="1906935" cy="1612702"/>
          </a:xfrm>
          <a:prstGeom prst="roundRect">
            <a:avLst>
              <a:gd name="adj" fmla="val 7087"/>
            </a:avLst>
          </a:prstGeom>
          <a:solidFill>
            <a:srgbClr val="FFF8F2"/>
          </a:solidFill>
          <a:ln w="9525">
            <a:solidFill>
              <a:srgbClr val="C4582A">
                <a:alpha val="12000"/>
              </a:srgbClr>
            </a:solidFill>
          </a:ln>
          <a:effectLst>
            <a:outerShdw blurRad="114300" dist="13970" dir="5400000" algn="bl" rotWithShape="0">
              <a:srgbClr val="2D2520">
                <a:alpha val="6000"/>
              </a:srgbClr>
            </a:outerShdw>
          </a:effectLst>
        </p:spPr>
        <p:txBody>
          <a:bodyPr wrap="square" rtlCol="0" anchor="t"/>
          <a:lstStyle/>
          <a:p>
            <a:pPr marL="0" indent="0">
              <a:buNone/>
            </a:pPr>
            <a:endParaRPr lang="en-US" dirty="0"/>
          </a:p>
        </p:txBody>
      </p:sp>
      <p:sp>
        <p:nvSpPr>
          <p:cNvPr id="6" name="Text 4"/>
          <p:cNvSpPr/>
          <p:nvPr/>
        </p:nvSpPr>
        <p:spPr>
          <a:xfrm>
            <a:off x="1153418" y="1947416"/>
            <a:ext cx="514350" cy="514350"/>
          </a:xfrm>
          <a:prstGeom prst="ellipse">
            <a:avLst/>
          </a:prstGeom>
          <a:gradFill rotWithShape="1">
            <a:gsLst>
              <a:gs pos="0">
                <a:srgbClr val="C4582A">
                  <a:alpha val="10000"/>
                </a:srgbClr>
              </a:gs>
              <a:gs pos="100000">
                <a:srgbClr val="C4582A">
                  <a:alpha val="5000"/>
                </a:srgbClr>
              </a:gs>
            </a:gsLst>
            <a:lin ang="2700000" scaled="1"/>
          </a:gradFill>
          <a:ln/>
        </p:spPr>
        <p:txBody>
          <a:bodyPr wrap="square" rtlCol="0" anchor="t"/>
          <a:lstStyle/>
          <a:p>
            <a:pPr marL="0" indent="0">
              <a:buNone/>
            </a:pPr>
            <a:endParaRPr lang="en-US" dirty="0"/>
          </a:p>
        </p:txBody>
      </p:sp>
      <p:pic>
        <p:nvPicPr>
          <p:cNvPr id="7"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13855" y="2107853"/>
            <a:ext cx="193328" cy="193328"/>
          </a:xfrm>
          <a:prstGeom prst="rect">
            <a:avLst/>
          </a:prstGeom>
        </p:spPr>
      </p:pic>
      <p:sp>
        <p:nvSpPr>
          <p:cNvPr id="8" name="Text 5"/>
          <p:cNvSpPr/>
          <p:nvPr/>
        </p:nvSpPr>
        <p:spPr>
          <a:xfrm>
            <a:off x="1140961" y="2589907"/>
            <a:ext cx="539264" cy="236190"/>
          </a:xfrm>
          <a:prstGeom prst="rect">
            <a:avLst/>
          </a:prstGeom>
          <a:noFill/>
          <a:ln/>
        </p:spPr>
        <p:txBody>
          <a:bodyPr wrap="none" lIns="0" tIns="0" rIns="0" bIns="0" rtlCol="0" anchor="t"/>
          <a:lstStyle/>
          <a:p>
            <a:pPr marL="0" indent="0" algn="ctr">
              <a:lnSpc>
                <a:spcPts val="1860"/>
              </a:lnSpc>
              <a:spcAft>
                <a:spcPts val="450"/>
              </a:spcAft>
              <a:buNone/>
            </a:pPr>
            <a:r>
              <a:rPr lang="en-US" sz="1240" b="1" kern="0" spc="12" dirty="0">
                <a:solidFill>
                  <a:srgbClr val="2D2520"/>
                </a:solidFill>
                <a:latin typeface="Constantia" pitchFamily="34" charset="0"/>
                <a:ea typeface="Constantia" pitchFamily="34" charset="-122"/>
                <a:cs typeface="Constantia" pitchFamily="34" charset="-120"/>
              </a:rPr>
              <a:t>Weight</a:t>
            </a:r>
            <a:endParaRPr lang="en-US" sz="1240" dirty="0"/>
          </a:p>
        </p:txBody>
      </p:sp>
      <p:sp>
        <p:nvSpPr>
          <p:cNvPr id="9" name="Text 6"/>
          <p:cNvSpPr/>
          <p:nvPr/>
        </p:nvSpPr>
        <p:spPr>
          <a:xfrm>
            <a:off x="917987" y="2883247"/>
            <a:ext cx="985212" cy="171450"/>
          </a:xfrm>
          <a:prstGeom prst="rect">
            <a:avLst/>
          </a:prstGeom>
          <a:noFill/>
          <a:ln/>
        </p:spPr>
        <p:txBody>
          <a:bodyPr wrap="none" lIns="0" tIns="0" rIns="0" bIns="0" rtlCol="0" anchor="t"/>
          <a:lstStyle/>
          <a:p>
            <a:pPr marL="0" indent="0" algn="ctr">
              <a:lnSpc>
                <a:spcPts val="1350"/>
              </a:lnSpc>
              <a:buNone/>
            </a:pPr>
            <a:r>
              <a:rPr lang="en-US" sz="900" dirty="0">
                <a:solidFill>
                  <a:srgbClr val="8A7567"/>
                </a:solidFill>
                <a:latin typeface="Corbel" pitchFamily="34" charset="0"/>
                <a:ea typeface="Corbel" pitchFamily="34" charset="-122"/>
                <a:cs typeface="Corbel" pitchFamily="34" charset="-120"/>
              </a:rPr>
              <a:t>grams, kg, oz, lbs</a:t>
            </a:r>
            <a:endParaRPr lang="en-US" sz="900" dirty="0"/>
          </a:p>
        </p:txBody>
      </p:sp>
      <p:sp>
        <p:nvSpPr>
          <p:cNvPr id="10" name="Text 7"/>
          <p:cNvSpPr/>
          <p:nvPr/>
        </p:nvSpPr>
        <p:spPr>
          <a:xfrm>
            <a:off x="2564755" y="1680121"/>
            <a:ext cx="1906935" cy="1612702"/>
          </a:xfrm>
          <a:prstGeom prst="roundRect">
            <a:avLst>
              <a:gd name="adj" fmla="val 7087"/>
            </a:avLst>
          </a:prstGeom>
          <a:solidFill>
            <a:srgbClr val="FFF8F2"/>
          </a:solidFill>
          <a:ln w="9525">
            <a:solidFill>
              <a:srgbClr val="C4582A">
                <a:alpha val="12000"/>
              </a:srgbClr>
            </a:solidFill>
          </a:ln>
          <a:effectLst>
            <a:outerShdw blurRad="114300" dist="13970" dir="5400000" algn="bl" rotWithShape="0">
              <a:srgbClr val="2D2520">
                <a:alpha val="6000"/>
              </a:srgbClr>
            </a:outerShdw>
          </a:effectLst>
        </p:spPr>
        <p:txBody>
          <a:bodyPr wrap="square" rtlCol="0" anchor="t"/>
          <a:lstStyle/>
          <a:p>
            <a:pPr marL="0" indent="0">
              <a:buNone/>
            </a:pPr>
            <a:endParaRPr lang="en-US" dirty="0"/>
          </a:p>
        </p:txBody>
      </p:sp>
      <p:sp>
        <p:nvSpPr>
          <p:cNvPr id="11" name="Text 8"/>
          <p:cNvSpPr/>
          <p:nvPr/>
        </p:nvSpPr>
        <p:spPr>
          <a:xfrm>
            <a:off x="3260973" y="1947416"/>
            <a:ext cx="514350" cy="514350"/>
          </a:xfrm>
          <a:prstGeom prst="ellipse">
            <a:avLst/>
          </a:prstGeom>
          <a:gradFill rotWithShape="1">
            <a:gsLst>
              <a:gs pos="0">
                <a:srgbClr val="C4582A">
                  <a:alpha val="10000"/>
                </a:srgbClr>
              </a:gs>
              <a:gs pos="100000">
                <a:srgbClr val="C4582A">
                  <a:alpha val="5000"/>
                </a:srgbClr>
              </a:gs>
            </a:gsLst>
            <a:lin ang="2700000" scaled="1"/>
          </a:gradFill>
          <a:ln/>
        </p:spPr>
        <p:txBody>
          <a:bodyPr wrap="square" rtlCol="0" anchor="t"/>
          <a:lstStyle/>
          <a:p>
            <a:pPr marL="0" indent="0">
              <a:buNone/>
            </a:pPr>
            <a:endParaRPr lang="en-US" dirty="0"/>
          </a:p>
        </p:txBody>
      </p:sp>
      <p:pic>
        <p:nvPicPr>
          <p:cNvPr id="12"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421410" y="2107853"/>
            <a:ext cx="193328" cy="193328"/>
          </a:xfrm>
          <a:prstGeom prst="rect">
            <a:avLst/>
          </a:prstGeom>
        </p:spPr>
      </p:pic>
      <p:sp>
        <p:nvSpPr>
          <p:cNvPr id="13" name="Text 9"/>
          <p:cNvSpPr/>
          <p:nvPr/>
        </p:nvSpPr>
        <p:spPr>
          <a:xfrm>
            <a:off x="3232472" y="2589907"/>
            <a:ext cx="571351" cy="236190"/>
          </a:xfrm>
          <a:prstGeom prst="rect">
            <a:avLst/>
          </a:prstGeom>
          <a:noFill/>
          <a:ln/>
        </p:spPr>
        <p:txBody>
          <a:bodyPr wrap="none" lIns="0" tIns="0" rIns="0" bIns="0" rtlCol="0" anchor="t"/>
          <a:lstStyle/>
          <a:p>
            <a:pPr marL="0" indent="0" algn="ctr">
              <a:lnSpc>
                <a:spcPts val="1860"/>
              </a:lnSpc>
              <a:spcAft>
                <a:spcPts val="450"/>
              </a:spcAft>
              <a:buNone/>
            </a:pPr>
            <a:r>
              <a:rPr lang="en-US" sz="1240" b="1" kern="0" spc="12" dirty="0">
                <a:solidFill>
                  <a:srgbClr val="2D2520"/>
                </a:solidFill>
                <a:latin typeface="Constantia" pitchFamily="34" charset="0"/>
                <a:ea typeface="Constantia" pitchFamily="34" charset="-122"/>
                <a:cs typeface="Constantia" pitchFamily="34" charset="-120"/>
              </a:rPr>
              <a:t>Volume</a:t>
            </a:r>
            <a:endParaRPr lang="en-US" sz="1240" dirty="0"/>
          </a:p>
        </p:txBody>
      </p:sp>
      <p:sp>
        <p:nvSpPr>
          <p:cNvPr id="14" name="Text 10"/>
          <p:cNvSpPr/>
          <p:nvPr/>
        </p:nvSpPr>
        <p:spPr>
          <a:xfrm>
            <a:off x="2711053" y="2883247"/>
            <a:ext cx="1614190" cy="171450"/>
          </a:xfrm>
          <a:prstGeom prst="rect">
            <a:avLst/>
          </a:prstGeom>
          <a:noFill/>
          <a:ln/>
        </p:spPr>
        <p:txBody>
          <a:bodyPr wrap="none" lIns="0" tIns="0" rIns="0" bIns="0" rtlCol="0" anchor="t"/>
          <a:lstStyle/>
          <a:p>
            <a:pPr marL="0" indent="0" algn="ctr">
              <a:lnSpc>
                <a:spcPts val="1350"/>
              </a:lnSpc>
              <a:buNone/>
            </a:pPr>
            <a:r>
              <a:rPr lang="en-US" sz="900" dirty="0">
                <a:solidFill>
                  <a:srgbClr val="8A7567"/>
                </a:solidFill>
                <a:latin typeface="Corbel" pitchFamily="34" charset="0"/>
                <a:ea typeface="Corbel" pitchFamily="34" charset="-122"/>
                <a:cs typeface="Corbel" pitchFamily="34" charset="-120"/>
              </a:rPr>
              <a:t>ml, liters, cups, tbsp, tsp, floz</a:t>
            </a:r>
            <a:endParaRPr lang="en-US" sz="900" dirty="0"/>
          </a:p>
        </p:txBody>
      </p:sp>
      <p:sp>
        <p:nvSpPr>
          <p:cNvPr id="15" name="Text 11"/>
          <p:cNvSpPr/>
          <p:nvPr/>
        </p:nvSpPr>
        <p:spPr>
          <a:xfrm>
            <a:off x="4672310" y="1680121"/>
            <a:ext cx="1906935" cy="1612702"/>
          </a:xfrm>
          <a:prstGeom prst="roundRect">
            <a:avLst>
              <a:gd name="adj" fmla="val 7087"/>
            </a:avLst>
          </a:prstGeom>
          <a:solidFill>
            <a:srgbClr val="FFF8F2"/>
          </a:solidFill>
          <a:ln w="9525">
            <a:solidFill>
              <a:srgbClr val="C4582A">
                <a:alpha val="12000"/>
              </a:srgbClr>
            </a:solidFill>
          </a:ln>
          <a:effectLst>
            <a:outerShdw blurRad="114300" dist="13970" dir="5400000" algn="bl" rotWithShape="0">
              <a:srgbClr val="2D2520">
                <a:alpha val="6000"/>
              </a:srgbClr>
            </a:outerShdw>
          </a:effectLst>
        </p:spPr>
        <p:txBody>
          <a:bodyPr wrap="square" rtlCol="0" anchor="t"/>
          <a:lstStyle/>
          <a:p>
            <a:pPr marL="0" indent="0">
              <a:buNone/>
            </a:pPr>
            <a:endParaRPr lang="en-US" dirty="0"/>
          </a:p>
        </p:txBody>
      </p:sp>
      <p:sp>
        <p:nvSpPr>
          <p:cNvPr id="16" name="Text 12"/>
          <p:cNvSpPr/>
          <p:nvPr/>
        </p:nvSpPr>
        <p:spPr>
          <a:xfrm>
            <a:off x="5368528" y="1947416"/>
            <a:ext cx="514350" cy="514350"/>
          </a:xfrm>
          <a:prstGeom prst="ellipse">
            <a:avLst/>
          </a:prstGeom>
          <a:gradFill rotWithShape="1">
            <a:gsLst>
              <a:gs pos="0">
                <a:srgbClr val="C4582A">
                  <a:alpha val="10000"/>
                </a:srgbClr>
              </a:gs>
              <a:gs pos="100000">
                <a:srgbClr val="C4582A">
                  <a:alpha val="5000"/>
                </a:srgbClr>
              </a:gs>
            </a:gsLst>
            <a:lin ang="2700000" scaled="1"/>
          </a:gradFill>
          <a:ln/>
        </p:spPr>
        <p:txBody>
          <a:bodyPr wrap="square" rtlCol="0" anchor="t"/>
          <a:lstStyle/>
          <a:p>
            <a:pPr marL="0" indent="0">
              <a:buNone/>
            </a:pPr>
            <a:endParaRPr lang="en-US" dirty="0"/>
          </a:p>
        </p:txBody>
      </p:sp>
      <p:pic>
        <p:nvPicPr>
          <p:cNvPr id="17"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528965" y="2107853"/>
            <a:ext cx="193328" cy="193328"/>
          </a:xfrm>
          <a:prstGeom prst="rect">
            <a:avLst/>
          </a:prstGeom>
        </p:spPr>
      </p:pic>
      <p:sp>
        <p:nvSpPr>
          <p:cNvPr id="18" name="Text 13"/>
          <p:cNvSpPr/>
          <p:nvPr/>
        </p:nvSpPr>
        <p:spPr>
          <a:xfrm>
            <a:off x="5135553" y="2589907"/>
            <a:ext cx="980301" cy="236190"/>
          </a:xfrm>
          <a:prstGeom prst="rect">
            <a:avLst/>
          </a:prstGeom>
          <a:noFill/>
          <a:ln/>
        </p:spPr>
        <p:txBody>
          <a:bodyPr wrap="none" lIns="0" tIns="0" rIns="0" bIns="0" rtlCol="0" anchor="t"/>
          <a:lstStyle/>
          <a:p>
            <a:pPr marL="0" indent="0" algn="ctr">
              <a:lnSpc>
                <a:spcPts val="1860"/>
              </a:lnSpc>
              <a:spcAft>
                <a:spcPts val="450"/>
              </a:spcAft>
              <a:buNone/>
            </a:pPr>
            <a:r>
              <a:rPr lang="en-US" sz="1240" b="1" kern="0" spc="12" dirty="0">
                <a:solidFill>
                  <a:srgbClr val="2D2520"/>
                </a:solidFill>
                <a:latin typeface="Constantia" pitchFamily="34" charset="0"/>
                <a:ea typeface="Constantia" pitchFamily="34" charset="-122"/>
                <a:cs typeface="Constantia" pitchFamily="34" charset="-120"/>
              </a:rPr>
              <a:t>Temperature</a:t>
            </a:r>
            <a:endParaRPr lang="en-US" sz="1240" dirty="0"/>
          </a:p>
        </p:txBody>
      </p:sp>
      <p:sp>
        <p:nvSpPr>
          <p:cNvPr id="19" name="Text 14"/>
          <p:cNvSpPr/>
          <p:nvPr/>
        </p:nvSpPr>
        <p:spPr>
          <a:xfrm>
            <a:off x="5119010" y="2883247"/>
            <a:ext cx="1013534" cy="171450"/>
          </a:xfrm>
          <a:prstGeom prst="rect">
            <a:avLst/>
          </a:prstGeom>
          <a:noFill/>
          <a:ln/>
        </p:spPr>
        <p:txBody>
          <a:bodyPr wrap="none" lIns="0" tIns="0" rIns="0" bIns="0" rtlCol="0" anchor="t"/>
          <a:lstStyle/>
          <a:p>
            <a:pPr marL="0" indent="0" algn="ctr">
              <a:lnSpc>
                <a:spcPts val="1350"/>
              </a:lnSpc>
              <a:buNone/>
            </a:pPr>
            <a:r>
              <a:rPr lang="en-US" sz="900" dirty="0">
                <a:solidFill>
                  <a:srgbClr val="8A7567"/>
                </a:solidFill>
                <a:latin typeface="Corbel" pitchFamily="34" charset="0"/>
                <a:ea typeface="Corbel" pitchFamily="34" charset="-122"/>
                <a:cs typeface="Corbel" pitchFamily="34" charset="-120"/>
              </a:rPr>
              <a:t>celsius, fahrenheit</a:t>
            </a:r>
            <a:endParaRPr lang="en-US" sz="900" dirty="0"/>
          </a:p>
        </p:txBody>
      </p:sp>
      <p:sp>
        <p:nvSpPr>
          <p:cNvPr id="20" name="Text 15"/>
          <p:cNvSpPr/>
          <p:nvPr/>
        </p:nvSpPr>
        <p:spPr>
          <a:xfrm>
            <a:off x="6779865" y="1680121"/>
            <a:ext cx="1906935" cy="1612702"/>
          </a:xfrm>
          <a:prstGeom prst="roundRect">
            <a:avLst>
              <a:gd name="adj" fmla="val 7087"/>
            </a:avLst>
          </a:prstGeom>
          <a:solidFill>
            <a:srgbClr val="FFF8F2"/>
          </a:solidFill>
          <a:ln w="9525">
            <a:solidFill>
              <a:srgbClr val="C4582A">
                <a:alpha val="12000"/>
              </a:srgbClr>
            </a:solidFill>
          </a:ln>
          <a:effectLst>
            <a:outerShdw blurRad="114300" dist="13970" dir="5400000" algn="bl" rotWithShape="0">
              <a:srgbClr val="2D2520">
                <a:alpha val="6000"/>
              </a:srgbClr>
            </a:outerShdw>
          </a:effectLst>
        </p:spPr>
        <p:txBody>
          <a:bodyPr wrap="square" rtlCol="0" anchor="t"/>
          <a:lstStyle/>
          <a:p>
            <a:pPr marL="0" indent="0">
              <a:buNone/>
            </a:pPr>
            <a:endParaRPr lang="en-US" dirty="0"/>
          </a:p>
        </p:txBody>
      </p:sp>
      <p:sp>
        <p:nvSpPr>
          <p:cNvPr id="21" name="Text 16"/>
          <p:cNvSpPr/>
          <p:nvPr/>
        </p:nvSpPr>
        <p:spPr>
          <a:xfrm>
            <a:off x="7476083" y="1947416"/>
            <a:ext cx="514350" cy="514350"/>
          </a:xfrm>
          <a:prstGeom prst="ellipse">
            <a:avLst/>
          </a:prstGeom>
          <a:gradFill rotWithShape="1">
            <a:gsLst>
              <a:gs pos="0">
                <a:srgbClr val="C4582A">
                  <a:alpha val="10000"/>
                </a:srgbClr>
              </a:gs>
              <a:gs pos="100000">
                <a:srgbClr val="C4582A">
                  <a:alpha val="5000"/>
                </a:srgbClr>
              </a:gs>
            </a:gsLst>
            <a:lin ang="2700000" scaled="1"/>
          </a:gradFill>
          <a:ln/>
        </p:spPr>
        <p:txBody>
          <a:bodyPr wrap="square" rtlCol="0" anchor="t"/>
          <a:lstStyle/>
          <a:p>
            <a:pPr marL="0" indent="0">
              <a:buNone/>
            </a:pPr>
            <a:endParaRPr lang="en-US" dirty="0"/>
          </a:p>
        </p:txBody>
      </p:sp>
      <p:pic>
        <p:nvPicPr>
          <p:cNvPr id="22"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636520" y="2107853"/>
            <a:ext cx="193328" cy="193328"/>
          </a:xfrm>
          <a:prstGeom prst="rect">
            <a:avLst/>
          </a:prstGeom>
        </p:spPr>
      </p:pic>
      <p:sp>
        <p:nvSpPr>
          <p:cNvPr id="23" name="Text 17"/>
          <p:cNvSpPr/>
          <p:nvPr/>
        </p:nvSpPr>
        <p:spPr>
          <a:xfrm>
            <a:off x="7539097" y="2589907"/>
            <a:ext cx="388322" cy="236190"/>
          </a:xfrm>
          <a:prstGeom prst="rect">
            <a:avLst/>
          </a:prstGeom>
          <a:noFill/>
          <a:ln/>
        </p:spPr>
        <p:txBody>
          <a:bodyPr wrap="none" lIns="0" tIns="0" rIns="0" bIns="0" rtlCol="0" anchor="t"/>
          <a:lstStyle/>
          <a:p>
            <a:pPr marL="0" indent="0" algn="ctr">
              <a:lnSpc>
                <a:spcPts val="1860"/>
              </a:lnSpc>
              <a:spcAft>
                <a:spcPts val="450"/>
              </a:spcAft>
              <a:buNone/>
            </a:pPr>
            <a:r>
              <a:rPr lang="en-US" sz="1240" b="1" kern="0" spc="12" dirty="0">
                <a:solidFill>
                  <a:srgbClr val="2D2520"/>
                </a:solidFill>
                <a:latin typeface="Constantia" pitchFamily="34" charset="0"/>
                <a:ea typeface="Constantia" pitchFamily="34" charset="-122"/>
                <a:cs typeface="Constantia" pitchFamily="34" charset="-120"/>
              </a:rPr>
              <a:t>Time</a:t>
            </a:r>
            <a:endParaRPr lang="en-US" sz="1240" dirty="0"/>
          </a:p>
        </p:txBody>
      </p:sp>
      <p:sp>
        <p:nvSpPr>
          <p:cNvPr id="24" name="Text 18"/>
          <p:cNvSpPr/>
          <p:nvPr/>
        </p:nvSpPr>
        <p:spPr>
          <a:xfrm>
            <a:off x="7051886" y="2883247"/>
            <a:ext cx="1362894" cy="171450"/>
          </a:xfrm>
          <a:prstGeom prst="rect">
            <a:avLst/>
          </a:prstGeom>
          <a:noFill/>
          <a:ln/>
        </p:spPr>
        <p:txBody>
          <a:bodyPr wrap="none" lIns="0" tIns="0" rIns="0" bIns="0" rtlCol="0" anchor="t"/>
          <a:lstStyle/>
          <a:p>
            <a:pPr marL="0" indent="0" algn="ctr">
              <a:lnSpc>
                <a:spcPts val="1350"/>
              </a:lnSpc>
              <a:buNone/>
            </a:pPr>
            <a:r>
              <a:rPr lang="en-US" sz="900" dirty="0">
                <a:solidFill>
                  <a:srgbClr val="8A7567"/>
                </a:solidFill>
                <a:latin typeface="Corbel" pitchFamily="34" charset="0"/>
                <a:ea typeface="Corbel" pitchFamily="34" charset="-122"/>
                <a:cs typeface="Corbel" pitchFamily="34" charset="-120"/>
              </a:rPr>
              <a:t>seconds, minutes, hours</a:t>
            </a:r>
            <a:endParaRPr lang="en-US" sz="900" dirty="0"/>
          </a:p>
        </p:txBody>
      </p:sp>
      <p:sp>
        <p:nvSpPr>
          <p:cNvPr id="25" name="Text 19"/>
          <p:cNvSpPr/>
          <p:nvPr/>
        </p:nvSpPr>
        <p:spPr>
          <a:xfrm>
            <a:off x="45720" y="4707285"/>
            <a:ext cx="9052560" cy="150465"/>
          </a:xfrm>
          <a:prstGeom prst="rect">
            <a:avLst/>
          </a:prstGeom>
          <a:noFill/>
          <a:ln/>
        </p:spPr>
        <p:txBody>
          <a:bodyPr wrap="none" lIns="0" tIns="0" rIns="0" bIns="0" rtlCol="0" anchor="t"/>
          <a:lstStyle/>
          <a:p>
            <a:pPr marL="0" indent="0" algn="ctr">
              <a:lnSpc>
                <a:spcPts val="1185"/>
              </a:lnSpc>
              <a:buNone/>
            </a:pPr>
            <a:r>
              <a:rPr lang="en-US" sz="790" kern="0" spc="16" dirty="0">
                <a:solidFill>
                  <a:srgbClr val="2D2520"/>
                </a:solidFill>
                <a:latin typeface="Corbel" pitchFamily="34" charset="0"/>
                <a:ea typeface="Corbel" pitchFamily="34" charset="-122"/>
                <a:cs typeface="Corbel" pitchFamily="34" charset="-120"/>
              </a:rPr>
              <a:t>Mix grams with milliliters? The compiler says no — before a single line of JavaScript is emitted.</a:t>
            </a:r>
            <a:endParaRPr lang="en-US" sz="790" dirty="0"/>
          </a:p>
        </p:txBody>
      </p:sp>
      <p:pic>
        <p:nvPicPr>
          <p:cNvPr id="26"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271349" y="4716744"/>
            <a:ext cx="132588" cy="132588"/>
          </a:xfrm>
          <a:prstGeom prst="rect">
            <a:avLst/>
          </a:prstGeom>
        </p:spPr>
      </p:pic>
      <p:sp>
        <p:nvSpPr>
          <p:cNvPr id="27" name="Text 20"/>
          <p:cNvSpPr/>
          <p:nvPr/>
        </p:nvSpPr>
        <p:spPr>
          <a:xfrm>
            <a:off x="466725" y="1689646"/>
            <a:ext cx="1887884" cy="29170"/>
          </a:xfrm>
          <a:custGeom>
            <a:avLst/>
            <a:gdLst/>
            <a:ahLst/>
            <a:cxnLst/>
            <a:rect l="l" t="t" r="r" b="b"/>
            <a:pathLst>
              <a:path w="1887884" h="29170">
                <a:moveTo>
                  <a:pt x="114300" y="0"/>
                </a:moveTo>
                <a:lnTo>
                  <a:pt x="1773584" y="0"/>
                </a:lnTo>
                <a:lnTo>
                  <a:pt x="1802224" y="3646"/>
                </a:lnTo>
                <a:lnTo>
                  <a:pt x="1813757" y="7293"/>
                </a:lnTo>
                <a:lnTo>
                  <a:pt x="1822379" y="10939"/>
                </a:lnTo>
                <a:lnTo>
                  <a:pt x="1829453" y="14585"/>
                </a:lnTo>
                <a:lnTo>
                  <a:pt x="1835514" y="18231"/>
                </a:lnTo>
                <a:lnTo>
                  <a:pt x="1840834" y="21878"/>
                </a:lnTo>
                <a:lnTo>
                  <a:pt x="1845579" y="25524"/>
                </a:lnTo>
                <a:lnTo>
                  <a:pt x="1849856" y="29170"/>
                </a:lnTo>
                <a:lnTo>
                  <a:pt x="38028" y="29170"/>
                </a:lnTo>
                <a:lnTo>
                  <a:pt x="42305" y="25524"/>
                </a:lnTo>
                <a:lnTo>
                  <a:pt x="47050" y="21878"/>
                </a:lnTo>
                <a:lnTo>
                  <a:pt x="52370" y="18231"/>
                </a:lnTo>
                <a:lnTo>
                  <a:pt x="58430" y="14585"/>
                </a:lnTo>
                <a:lnTo>
                  <a:pt x="65505" y="10939"/>
                </a:lnTo>
                <a:lnTo>
                  <a:pt x="74127" y="7293"/>
                </a:lnTo>
                <a:lnTo>
                  <a:pt x="85660" y="3646"/>
                </a:lnTo>
                <a:close/>
              </a:path>
            </a:pathLst>
          </a:custGeom>
          <a:solidFill>
            <a:srgbClr val="C4582A"/>
          </a:solidFill>
          <a:ln/>
        </p:spPr>
        <p:txBody>
          <a:bodyPr wrap="none" rtlCol="0" anchor="t"/>
          <a:lstStyle/>
          <a:p>
            <a:pPr marL="0" indent="0">
              <a:buNone/>
            </a:pPr>
            <a:endParaRPr lang="en-US" dirty="0"/>
          </a:p>
        </p:txBody>
      </p:sp>
      <p:sp>
        <p:nvSpPr>
          <p:cNvPr id="28" name="Text 21"/>
          <p:cNvSpPr/>
          <p:nvPr/>
        </p:nvSpPr>
        <p:spPr>
          <a:xfrm>
            <a:off x="2574280" y="1689646"/>
            <a:ext cx="1887884" cy="29170"/>
          </a:xfrm>
          <a:custGeom>
            <a:avLst/>
            <a:gdLst/>
            <a:ahLst/>
            <a:cxnLst/>
            <a:rect l="l" t="t" r="r" b="b"/>
            <a:pathLst>
              <a:path w="1887884" h="29170">
                <a:moveTo>
                  <a:pt x="114300" y="0"/>
                </a:moveTo>
                <a:lnTo>
                  <a:pt x="1773584" y="0"/>
                </a:lnTo>
                <a:lnTo>
                  <a:pt x="1802224" y="3646"/>
                </a:lnTo>
                <a:lnTo>
                  <a:pt x="1813757" y="7293"/>
                </a:lnTo>
                <a:lnTo>
                  <a:pt x="1822379" y="10939"/>
                </a:lnTo>
                <a:lnTo>
                  <a:pt x="1829453" y="14585"/>
                </a:lnTo>
                <a:lnTo>
                  <a:pt x="1835514" y="18231"/>
                </a:lnTo>
                <a:lnTo>
                  <a:pt x="1840834" y="21878"/>
                </a:lnTo>
                <a:lnTo>
                  <a:pt x="1845579" y="25524"/>
                </a:lnTo>
                <a:lnTo>
                  <a:pt x="1849856" y="29170"/>
                </a:lnTo>
                <a:lnTo>
                  <a:pt x="38028" y="29170"/>
                </a:lnTo>
                <a:lnTo>
                  <a:pt x="42305" y="25524"/>
                </a:lnTo>
                <a:lnTo>
                  <a:pt x="47050" y="21878"/>
                </a:lnTo>
                <a:lnTo>
                  <a:pt x="52370" y="18231"/>
                </a:lnTo>
                <a:lnTo>
                  <a:pt x="58430" y="14585"/>
                </a:lnTo>
                <a:lnTo>
                  <a:pt x="65505" y="10939"/>
                </a:lnTo>
                <a:lnTo>
                  <a:pt x="74127" y="7293"/>
                </a:lnTo>
                <a:lnTo>
                  <a:pt x="85660" y="3646"/>
                </a:lnTo>
                <a:close/>
              </a:path>
            </a:pathLst>
          </a:custGeom>
          <a:solidFill>
            <a:srgbClr val="C4582A"/>
          </a:solidFill>
          <a:ln/>
        </p:spPr>
        <p:txBody>
          <a:bodyPr wrap="none" rtlCol="0" anchor="t"/>
          <a:lstStyle/>
          <a:p>
            <a:pPr marL="0" indent="0">
              <a:buNone/>
            </a:pPr>
            <a:endParaRPr lang="en-US" dirty="0"/>
          </a:p>
        </p:txBody>
      </p:sp>
      <p:sp>
        <p:nvSpPr>
          <p:cNvPr id="29" name="Text 22"/>
          <p:cNvSpPr/>
          <p:nvPr/>
        </p:nvSpPr>
        <p:spPr>
          <a:xfrm>
            <a:off x="4681835" y="1689646"/>
            <a:ext cx="1887884" cy="29170"/>
          </a:xfrm>
          <a:custGeom>
            <a:avLst/>
            <a:gdLst/>
            <a:ahLst/>
            <a:cxnLst/>
            <a:rect l="l" t="t" r="r" b="b"/>
            <a:pathLst>
              <a:path w="1887884" h="29170">
                <a:moveTo>
                  <a:pt x="114300" y="0"/>
                </a:moveTo>
                <a:lnTo>
                  <a:pt x="1773584" y="0"/>
                </a:lnTo>
                <a:lnTo>
                  <a:pt x="1802224" y="3646"/>
                </a:lnTo>
                <a:lnTo>
                  <a:pt x="1813757" y="7293"/>
                </a:lnTo>
                <a:lnTo>
                  <a:pt x="1822379" y="10939"/>
                </a:lnTo>
                <a:lnTo>
                  <a:pt x="1829453" y="14585"/>
                </a:lnTo>
                <a:lnTo>
                  <a:pt x="1835514" y="18231"/>
                </a:lnTo>
                <a:lnTo>
                  <a:pt x="1840834" y="21878"/>
                </a:lnTo>
                <a:lnTo>
                  <a:pt x="1845579" y="25524"/>
                </a:lnTo>
                <a:lnTo>
                  <a:pt x="1849856" y="29170"/>
                </a:lnTo>
                <a:lnTo>
                  <a:pt x="38028" y="29170"/>
                </a:lnTo>
                <a:lnTo>
                  <a:pt x="42305" y="25524"/>
                </a:lnTo>
                <a:lnTo>
                  <a:pt x="47050" y="21878"/>
                </a:lnTo>
                <a:lnTo>
                  <a:pt x="52370" y="18231"/>
                </a:lnTo>
                <a:lnTo>
                  <a:pt x="58430" y="14585"/>
                </a:lnTo>
                <a:lnTo>
                  <a:pt x="65505" y="10939"/>
                </a:lnTo>
                <a:lnTo>
                  <a:pt x="74127" y="7293"/>
                </a:lnTo>
                <a:lnTo>
                  <a:pt x="85660" y="3646"/>
                </a:lnTo>
                <a:close/>
              </a:path>
            </a:pathLst>
          </a:custGeom>
          <a:solidFill>
            <a:srgbClr val="C4582A"/>
          </a:solidFill>
          <a:ln/>
        </p:spPr>
        <p:txBody>
          <a:bodyPr wrap="none" rtlCol="0" anchor="t"/>
          <a:lstStyle/>
          <a:p>
            <a:pPr marL="0" indent="0">
              <a:buNone/>
            </a:pPr>
            <a:endParaRPr lang="en-US" dirty="0"/>
          </a:p>
        </p:txBody>
      </p:sp>
      <p:sp>
        <p:nvSpPr>
          <p:cNvPr id="30" name="Text 23"/>
          <p:cNvSpPr/>
          <p:nvPr/>
        </p:nvSpPr>
        <p:spPr>
          <a:xfrm>
            <a:off x="6789390" y="1689646"/>
            <a:ext cx="1887884" cy="29170"/>
          </a:xfrm>
          <a:custGeom>
            <a:avLst/>
            <a:gdLst/>
            <a:ahLst/>
            <a:cxnLst/>
            <a:rect l="l" t="t" r="r" b="b"/>
            <a:pathLst>
              <a:path w="1887884" h="29170">
                <a:moveTo>
                  <a:pt x="114300" y="0"/>
                </a:moveTo>
                <a:lnTo>
                  <a:pt x="1773584" y="0"/>
                </a:lnTo>
                <a:lnTo>
                  <a:pt x="1802224" y="3646"/>
                </a:lnTo>
                <a:lnTo>
                  <a:pt x="1813757" y="7293"/>
                </a:lnTo>
                <a:lnTo>
                  <a:pt x="1822379" y="10939"/>
                </a:lnTo>
                <a:lnTo>
                  <a:pt x="1829453" y="14585"/>
                </a:lnTo>
                <a:lnTo>
                  <a:pt x="1835514" y="18231"/>
                </a:lnTo>
                <a:lnTo>
                  <a:pt x="1840834" y="21878"/>
                </a:lnTo>
                <a:lnTo>
                  <a:pt x="1845579" y="25524"/>
                </a:lnTo>
                <a:lnTo>
                  <a:pt x="1849856" y="29170"/>
                </a:lnTo>
                <a:lnTo>
                  <a:pt x="38028" y="29170"/>
                </a:lnTo>
                <a:lnTo>
                  <a:pt x="42305" y="25524"/>
                </a:lnTo>
                <a:lnTo>
                  <a:pt x="47050" y="21878"/>
                </a:lnTo>
                <a:lnTo>
                  <a:pt x="52370" y="18231"/>
                </a:lnTo>
                <a:lnTo>
                  <a:pt x="58430" y="14585"/>
                </a:lnTo>
                <a:lnTo>
                  <a:pt x="65505" y="10939"/>
                </a:lnTo>
                <a:lnTo>
                  <a:pt x="74127" y="7293"/>
                </a:lnTo>
                <a:lnTo>
                  <a:pt x="85660" y="3646"/>
                </a:lnTo>
                <a:close/>
              </a:path>
            </a:pathLst>
          </a:custGeom>
          <a:solidFill>
            <a:srgbClr val="C4582A"/>
          </a:solidFill>
          <a:ln/>
        </p:spPr>
        <p:txBody>
          <a:bodyPr wrap="none" rtlCol="0" anchor="t"/>
          <a:lstStyle/>
          <a:p>
            <a:pPr marL="0" indent="0">
              <a:buNone/>
            </a:pPr>
            <a:endParaRPr lang="en-US" dirty="0"/>
          </a:p>
        </p:txBody>
      </p:sp>
      <p:sp>
        <p:nvSpPr>
          <p:cNvPr id="31" name="Text 24"/>
          <p:cNvSpPr/>
          <p:nvPr/>
        </p:nvSpPr>
        <p:spPr>
          <a:xfrm>
            <a:off x="3886498" y="407343"/>
            <a:ext cx="171450" cy="10120"/>
          </a:xfrm>
          <a:prstGeom prst="rect">
            <a:avLst/>
          </a:prstGeom>
          <a:solidFill>
            <a:srgbClr val="C4582A">
              <a:alpha val="40000"/>
            </a:srgbClr>
          </a:solidFill>
          <a:ln/>
        </p:spPr>
        <p:txBody>
          <a:bodyPr wrap="none" rtlCol="0" anchor="t"/>
          <a:lstStyle/>
          <a:p>
            <a:pPr marL="0" indent="0">
              <a:buNone/>
            </a:pPr>
            <a:endParaRPr lang="en-US" dirty="0"/>
          </a:p>
        </p:txBody>
      </p:sp>
      <p:sp>
        <p:nvSpPr>
          <p:cNvPr id="32" name="Text 25"/>
          <p:cNvSpPr/>
          <p:nvPr/>
        </p:nvSpPr>
        <p:spPr>
          <a:xfrm>
            <a:off x="5085904" y="407343"/>
            <a:ext cx="171450" cy="10120"/>
          </a:xfrm>
          <a:prstGeom prst="rect">
            <a:avLst/>
          </a:prstGeom>
          <a:solidFill>
            <a:srgbClr val="C4582A">
              <a:alpha val="40000"/>
            </a:srgbClr>
          </a:solidFill>
          <a:ln/>
        </p:spPr>
        <p:txBody>
          <a:bodyPr wrap="none" rtlCol="0" anchor="t"/>
          <a:lstStyle/>
          <a:p>
            <a:pPr marL="0" indent="0">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F1"/>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FAF6F1">
                  <a:alpha val="92000"/>
                </a:srgbClr>
              </a:gs>
              <a:gs pos="50000">
                <a:srgbClr val="FFF8F2">
                  <a:alpha val="88000"/>
                </a:srgbClr>
              </a:gs>
              <a:gs pos="100000">
                <a:srgbClr val="FAF6F1">
                  <a:alpha val="82000"/>
                </a:srgbClr>
              </a:gs>
            </a:gsLst>
            <a:lin ang="2700000" scaled="1"/>
          </a:gradFill>
          <a:ln/>
        </p:spPr>
        <p:txBody>
          <a:bodyPr wrap="square" rtlCol="0" anchor="t"/>
          <a:lstStyle/>
          <a:p>
            <a:pPr marL="0" indent="0">
              <a:buNone/>
            </a:pPr>
            <a:endParaRPr lang="en-US" dirty="0"/>
          </a:p>
        </p:txBody>
      </p:sp>
      <p:sp>
        <p:nvSpPr>
          <p:cNvPr id="3" name="Text 1"/>
          <p:cNvSpPr/>
          <p:nvPr/>
        </p:nvSpPr>
        <p:spPr>
          <a:xfrm>
            <a:off x="1205389" y="1491109"/>
            <a:ext cx="367546" cy="857250"/>
          </a:xfrm>
          <a:prstGeom prst="rect">
            <a:avLst/>
          </a:prstGeom>
          <a:noFill/>
          <a:ln/>
        </p:spPr>
        <p:txBody>
          <a:bodyPr wrap="none" lIns="0" tIns="0" rIns="0" bIns="0" rtlCol="0" anchor="t"/>
          <a:lstStyle/>
          <a:p>
            <a:pPr marL="0" indent="0" algn="ctr">
              <a:lnSpc>
                <a:spcPts val="6750"/>
              </a:lnSpc>
              <a:buNone/>
            </a:pPr>
            <a:r>
              <a:rPr lang="en-US" sz="6750" dirty="0">
                <a:solidFill>
                  <a:srgbClr val="C4582A">
                    <a:alpha val="25000"/>
                  </a:srgbClr>
                </a:solidFill>
                <a:latin typeface="Constantia" pitchFamily="34" charset="0"/>
                <a:ea typeface="Constantia" pitchFamily="34" charset="-122"/>
                <a:cs typeface="Constantia" pitchFamily="34" charset="-120"/>
              </a:rPr>
              <a:t>"</a:t>
            </a:r>
            <a:endParaRPr lang="en-US" sz="6750" dirty="0"/>
          </a:p>
        </p:txBody>
      </p:sp>
      <p:sp>
        <p:nvSpPr>
          <p:cNvPr id="4" name="Text 2"/>
          <p:cNvSpPr/>
          <p:nvPr/>
        </p:nvSpPr>
        <p:spPr>
          <a:xfrm>
            <a:off x="1438448" y="1634579"/>
            <a:ext cx="6267105" cy="676022"/>
          </a:xfrm>
          <a:prstGeom prst="rect">
            <a:avLst/>
          </a:prstGeom>
          <a:noFill/>
          <a:ln/>
        </p:spPr>
        <p:txBody>
          <a:bodyPr wrap="square" lIns="0" tIns="0" rIns="0" bIns="0" rtlCol="0" anchor="t"/>
          <a:lstStyle/>
          <a:p>
            <a:pPr marL="0" indent="0" algn="ctr">
              <a:lnSpc>
                <a:spcPts val="2535"/>
              </a:lnSpc>
              <a:buNone/>
            </a:pPr>
            <a:r>
              <a:rPr lang="en-US" sz="1690" i="1" kern="0" spc="17" dirty="0">
                <a:solidFill>
                  <a:srgbClr val="2D2520"/>
                </a:solidFill>
                <a:latin typeface="Constantia" pitchFamily="34" charset="0"/>
                <a:ea typeface="Constantia" pitchFamily="34" charset="-122"/>
                <a:cs typeface="Constantia" pitchFamily="34" charset="-120"/>
              </a:rPr>
              <a:t>Programming and cooking share the same DNA. You gather ingredients, follow a process, and yield something worth serving.</a:t>
            </a:r>
            <a:endParaRPr lang="en-US" sz="1690" dirty="0"/>
          </a:p>
        </p:txBody>
      </p:sp>
      <p:sp>
        <p:nvSpPr>
          <p:cNvPr id="5" name="Text 3"/>
          <p:cNvSpPr/>
          <p:nvPr/>
        </p:nvSpPr>
        <p:spPr>
          <a:xfrm>
            <a:off x="1425625" y="2564160"/>
            <a:ext cx="1722983" cy="391120"/>
          </a:xfrm>
          <a:prstGeom prst="roundRect">
            <a:avLst>
              <a:gd name="adj" fmla="val 22080"/>
            </a:avLst>
          </a:prstGeom>
          <a:solidFill>
            <a:srgbClr val="C4582A">
              <a:alpha val="8000"/>
            </a:srgbClr>
          </a:solidFill>
          <a:ln w="9525">
            <a:solidFill>
              <a:srgbClr val="C4582A">
                <a:alpha val="18000"/>
              </a:srgbClr>
            </a:solidFill>
          </a:ln>
        </p:spPr>
        <p:txBody>
          <a:bodyPr wrap="square" rtlCol="0" anchor="t"/>
          <a:lstStyle/>
          <a:p>
            <a:pPr marL="0" indent="0">
              <a:buNone/>
            </a:pPr>
            <a:endParaRPr lang="en-US" dirty="0"/>
          </a:p>
        </p:txBody>
      </p:sp>
      <p:sp>
        <p:nvSpPr>
          <p:cNvPr id="6" name="Text 4"/>
          <p:cNvSpPr/>
          <p:nvPr/>
        </p:nvSpPr>
        <p:spPr>
          <a:xfrm>
            <a:off x="1577727" y="2679650"/>
            <a:ext cx="635198" cy="159990"/>
          </a:xfrm>
          <a:prstGeom prst="rect">
            <a:avLst/>
          </a:prstGeom>
          <a:noFill/>
          <a:ln/>
        </p:spPr>
        <p:txBody>
          <a:bodyPr wrap="none" lIns="0" tIns="0" rIns="0" bIns="0" rtlCol="0" anchor="ctr"/>
          <a:lstStyle/>
          <a:p>
            <a:pPr marL="0" indent="0" algn="ctr">
              <a:lnSpc>
                <a:spcPts val="1260"/>
              </a:lnSpc>
              <a:buNone/>
            </a:pPr>
            <a:r>
              <a:rPr lang="en-US" sz="840" b="1" dirty="0">
                <a:solidFill>
                  <a:srgbClr val="C4582A"/>
                </a:solidFill>
                <a:latin typeface="Consolas" pitchFamily="34" charset="0"/>
                <a:ea typeface="Consolas" pitchFamily="34" charset="-122"/>
                <a:cs typeface="Consolas" pitchFamily="34" charset="-120"/>
              </a:rPr>
              <a:t>Variables</a:t>
            </a:r>
            <a:endParaRPr lang="en-US" sz="840" dirty="0"/>
          </a:p>
        </p:txBody>
      </p:sp>
      <p:sp>
        <p:nvSpPr>
          <p:cNvPr id="7" name="Text 5"/>
          <p:cNvSpPr/>
          <p:nvPr/>
        </p:nvSpPr>
        <p:spPr>
          <a:xfrm>
            <a:off x="2249329" y="2673995"/>
            <a:ext cx="125730" cy="171450"/>
          </a:xfrm>
          <a:prstGeom prst="rect">
            <a:avLst/>
          </a:prstGeom>
          <a:noFill/>
          <a:ln/>
        </p:spPr>
        <p:txBody>
          <a:bodyPr wrap="none" lIns="0" tIns="0" rIns="0" bIns="0" rtlCol="0" anchor="ctr"/>
          <a:lstStyle/>
          <a:p>
            <a:pPr marL="0" indent="0" algn="ctr">
              <a:lnSpc>
                <a:spcPts val="1350"/>
              </a:lnSpc>
              <a:buNone/>
            </a:pPr>
            <a:r>
              <a:rPr lang="en-US" sz="900" dirty="0">
                <a:solidFill>
                  <a:srgbClr val="8A7567"/>
                </a:solidFill>
                <a:latin typeface="Corbel" pitchFamily="34" charset="0"/>
                <a:ea typeface="Corbel" pitchFamily="34" charset="-122"/>
                <a:cs typeface="Corbel" pitchFamily="34" charset="-120"/>
              </a:rPr>
              <a:t>→</a:t>
            </a:r>
            <a:endParaRPr lang="en-US" sz="900" dirty="0"/>
          </a:p>
        </p:txBody>
      </p:sp>
      <p:sp>
        <p:nvSpPr>
          <p:cNvPr id="8" name="Text 6"/>
          <p:cNvSpPr/>
          <p:nvPr/>
        </p:nvSpPr>
        <p:spPr>
          <a:xfrm>
            <a:off x="2413970" y="2679650"/>
            <a:ext cx="580028" cy="159990"/>
          </a:xfrm>
          <a:prstGeom prst="rect">
            <a:avLst/>
          </a:prstGeom>
          <a:noFill/>
          <a:ln/>
        </p:spPr>
        <p:txBody>
          <a:bodyPr wrap="none" lIns="0" tIns="0" rIns="0" bIns="0" rtlCol="0" anchor="ctr"/>
          <a:lstStyle/>
          <a:p>
            <a:pPr marL="0" indent="0" algn="ctr">
              <a:lnSpc>
                <a:spcPts val="1260"/>
              </a:lnSpc>
              <a:buNone/>
            </a:pPr>
            <a:r>
              <a:rPr lang="en-US" sz="840" dirty="0">
                <a:solidFill>
                  <a:srgbClr val="2D2520"/>
                </a:solidFill>
                <a:latin typeface="Corbel" pitchFamily="34" charset="0"/>
                <a:ea typeface="Corbel" pitchFamily="34" charset="-122"/>
                <a:cs typeface="Corbel" pitchFamily="34" charset="-120"/>
              </a:rPr>
              <a:t>Ingredients</a:t>
            </a:r>
            <a:endParaRPr lang="en-US" sz="840" dirty="0"/>
          </a:p>
        </p:txBody>
      </p:sp>
      <p:sp>
        <p:nvSpPr>
          <p:cNvPr id="9" name="Text 7"/>
          <p:cNvSpPr/>
          <p:nvPr/>
        </p:nvSpPr>
        <p:spPr>
          <a:xfrm>
            <a:off x="3234928" y="2564160"/>
            <a:ext cx="1580704" cy="391120"/>
          </a:xfrm>
          <a:prstGeom prst="roundRect">
            <a:avLst>
              <a:gd name="adj" fmla="val 22080"/>
            </a:avLst>
          </a:prstGeom>
          <a:solidFill>
            <a:srgbClr val="C4582A">
              <a:alpha val="8000"/>
            </a:srgbClr>
          </a:solidFill>
          <a:ln w="9525">
            <a:solidFill>
              <a:srgbClr val="C4582A">
                <a:alpha val="18000"/>
              </a:srgbClr>
            </a:solidFill>
          </a:ln>
        </p:spPr>
        <p:txBody>
          <a:bodyPr wrap="square" rtlCol="0" anchor="t"/>
          <a:lstStyle/>
          <a:p>
            <a:pPr marL="0" indent="0">
              <a:buNone/>
            </a:pPr>
            <a:endParaRPr lang="en-US" dirty="0"/>
          </a:p>
        </p:txBody>
      </p:sp>
      <p:sp>
        <p:nvSpPr>
          <p:cNvPr id="10" name="Text 8"/>
          <p:cNvSpPr/>
          <p:nvPr/>
        </p:nvSpPr>
        <p:spPr>
          <a:xfrm>
            <a:off x="3387030" y="2679650"/>
            <a:ext cx="635198" cy="159990"/>
          </a:xfrm>
          <a:prstGeom prst="rect">
            <a:avLst/>
          </a:prstGeom>
          <a:noFill/>
          <a:ln/>
        </p:spPr>
        <p:txBody>
          <a:bodyPr wrap="none" lIns="0" tIns="0" rIns="0" bIns="0" rtlCol="0" anchor="ctr"/>
          <a:lstStyle/>
          <a:p>
            <a:pPr marL="0" indent="0" algn="ctr">
              <a:lnSpc>
                <a:spcPts val="1260"/>
              </a:lnSpc>
              <a:buNone/>
            </a:pPr>
            <a:r>
              <a:rPr lang="en-US" sz="840" b="1" dirty="0">
                <a:solidFill>
                  <a:srgbClr val="C4582A"/>
                </a:solidFill>
                <a:latin typeface="Consolas" pitchFamily="34" charset="0"/>
                <a:ea typeface="Consolas" pitchFamily="34" charset="-122"/>
                <a:cs typeface="Consolas" pitchFamily="34" charset="-120"/>
              </a:rPr>
              <a:t>Functions</a:t>
            </a:r>
            <a:endParaRPr lang="en-US" sz="840" dirty="0"/>
          </a:p>
        </p:txBody>
      </p:sp>
      <p:sp>
        <p:nvSpPr>
          <p:cNvPr id="11" name="Text 9"/>
          <p:cNvSpPr/>
          <p:nvPr/>
        </p:nvSpPr>
        <p:spPr>
          <a:xfrm>
            <a:off x="4058632" y="2673995"/>
            <a:ext cx="125730" cy="171450"/>
          </a:xfrm>
          <a:prstGeom prst="rect">
            <a:avLst/>
          </a:prstGeom>
          <a:noFill/>
          <a:ln/>
        </p:spPr>
        <p:txBody>
          <a:bodyPr wrap="none" lIns="0" tIns="0" rIns="0" bIns="0" rtlCol="0" anchor="ctr"/>
          <a:lstStyle/>
          <a:p>
            <a:pPr marL="0" indent="0" algn="ctr">
              <a:lnSpc>
                <a:spcPts val="1350"/>
              </a:lnSpc>
              <a:buNone/>
            </a:pPr>
            <a:r>
              <a:rPr lang="en-US" sz="900" dirty="0">
                <a:solidFill>
                  <a:srgbClr val="8A7567"/>
                </a:solidFill>
                <a:latin typeface="Corbel" pitchFamily="34" charset="0"/>
                <a:ea typeface="Corbel" pitchFamily="34" charset="-122"/>
                <a:cs typeface="Corbel" pitchFamily="34" charset="-120"/>
              </a:rPr>
              <a:t>→</a:t>
            </a:r>
            <a:endParaRPr lang="en-US" sz="900" dirty="0"/>
          </a:p>
        </p:txBody>
      </p:sp>
      <p:sp>
        <p:nvSpPr>
          <p:cNvPr id="12" name="Text 10"/>
          <p:cNvSpPr/>
          <p:nvPr/>
        </p:nvSpPr>
        <p:spPr>
          <a:xfrm>
            <a:off x="4230387" y="2679650"/>
            <a:ext cx="423520" cy="159990"/>
          </a:xfrm>
          <a:prstGeom prst="rect">
            <a:avLst/>
          </a:prstGeom>
          <a:noFill/>
          <a:ln/>
        </p:spPr>
        <p:txBody>
          <a:bodyPr wrap="none" lIns="0" tIns="0" rIns="0" bIns="0" rtlCol="0" anchor="ctr"/>
          <a:lstStyle/>
          <a:p>
            <a:pPr marL="0" indent="0" algn="ctr">
              <a:lnSpc>
                <a:spcPts val="1260"/>
              </a:lnSpc>
              <a:buNone/>
            </a:pPr>
            <a:r>
              <a:rPr lang="en-US" sz="840" dirty="0">
                <a:solidFill>
                  <a:srgbClr val="2D2520"/>
                </a:solidFill>
                <a:latin typeface="Corbel" pitchFamily="34" charset="0"/>
                <a:ea typeface="Corbel" pitchFamily="34" charset="-122"/>
                <a:cs typeface="Corbel" pitchFamily="34" charset="-120"/>
              </a:rPr>
              <a:t>Recipes</a:t>
            </a:r>
            <a:endParaRPr lang="en-US" sz="840" dirty="0"/>
          </a:p>
        </p:txBody>
      </p:sp>
      <p:sp>
        <p:nvSpPr>
          <p:cNvPr id="13" name="Text 11"/>
          <p:cNvSpPr/>
          <p:nvPr/>
        </p:nvSpPr>
        <p:spPr>
          <a:xfrm>
            <a:off x="4901952" y="2564160"/>
            <a:ext cx="1448395" cy="391120"/>
          </a:xfrm>
          <a:prstGeom prst="roundRect">
            <a:avLst>
              <a:gd name="adj" fmla="val 22080"/>
            </a:avLst>
          </a:prstGeom>
          <a:solidFill>
            <a:srgbClr val="C4582A">
              <a:alpha val="8000"/>
            </a:srgbClr>
          </a:solidFill>
          <a:ln w="9525">
            <a:solidFill>
              <a:srgbClr val="C4582A">
                <a:alpha val="18000"/>
              </a:srgbClr>
            </a:solidFill>
          </a:ln>
        </p:spPr>
        <p:txBody>
          <a:bodyPr wrap="square" rtlCol="0" anchor="t"/>
          <a:lstStyle/>
          <a:p>
            <a:pPr marL="0" indent="0">
              <a:buNone/>
            </a:pPr>
            <a:endParaRPr lang="en-US" dirty="0"/>
          </a:p>
        </p:txBody>
      </p:sp>
      <p:sp>
        <p:nvSpPr>
          <p:cNvPr id="14" name="Text 12"/>
          <p:cNvSpPr/>
          <p:nvPr/>
        </p:nvSpPr>
        <p:spPr>
          <a:xfrm>
            <a:off x="5066883" y="2679650"/>
            <a:ext cx="352961" cy="159990"/>
          </a:xfrm>
          <a:prstGeom prst="rect">
            <a:avLst/>
          </a:prstGeom>
          <a:noFill/>
          <a:ln/>
        </p:spPr>
        <p:txBody>
          <a:bodyPr wrap="none" lIns="0" tIns="0" rIns="0" bIns="0" rtlCol="0" anchor="ctr"/>
          <a:lstStyle/>
          <a:p>
            <a:pPr marL="0" indent="0" algn="ctr">
              <a:lnSpc>
                <a:spcPts val="1260"/>
              </a:lnSpc>
              <a:buNone/>
            </a:pPr>
            <a:r>
              <a:rPr lang="en-US" sz="840" b="1" dirty="0">
                <a:solidFill>
                  <a:srgbClr val="C4582A"/>
                </a:solidFill>
                <a:latin typeface="Consolas" pitchFamily="34" charset="0"/>
                <a:ea typeface="Consolas" pitchFamily="34" charset="-122"/>
                <a:cs typeface="Consolas" pitchFamily="34" charset="-120"/>
              </a:rPr>
              <a:t>Loops</a:t>
            </a:r>
            <a:endParaRPr lang="en-US" sz="840" dirty="0"/>
          </a:p>
        </p:txBody>
      </p:sp>
      <p:sp>
        <p:nvSpPr>
          <p:cNvPr id="15" name="Text 13"/>
          <p:cNvSpPr/>
          <p:nvPr/>
        </p:nvSpPr>
        <p:spPr>
          <a:xfrm>
            <a:off x="5469076" y="2673995"/>
            <a:ext cx="125730" cy="171450"/>
          </a:xfrm>
          <a:prstGeom prst="rect">
            <a:avLst/>
          </a:prstGeom>
          <a:noFill/>
          <a:ln/>
        </p:spPr>
        <p:txBody>
          <a:bodyPr wrap="none" lIns="0" tIns="0" rIns="0" bIns="0" rtlCol="0" anchor="ctr"/>
          <a:lstStyle/>
          <a:p>
            <a:pPr marL="0" indent="0" algn="ctr">
              <a:lnSpc>
                <a:spcPts val="1350"/>
              </a:lnSpc>
              <a:buNone/>
            </a:pPr>
            <a:r>
              <a:rPr lang="en-US" sz="900" dirty="0">
                <a:solidFill>
                  <a:srgbClr val="8A7567"/>
                </a:solidFill>
                <a:latin typeface="Corbel" pitchFamily="34" charset="0"/>
                <a:ea typeface="Corbel" pitchFamily="34" charset="-122"/>
                <a:cs typeface="Corbel" pitchFamily="34" charset="-120"/>
              </a:rPr>
              <a:t>→</a:t>
            </a:r>
            <a:endParaRPr lang="en-US" sz="900" dirty="0"/>
          </a:p>
        </p:txBody>
      </p:sp>
      <p:sp>
        <p:nvSpPr>
          <p:cNvPr id="16" name="Text 14"/>
          <p:cNvSpPr/>
          <p:nvPr/>
        </p:nvSpPr>
        <p:spPr>
          <a:xfrm>
            <a:off x="5634618" y="2679650"/>
            <a:ext cx="560219" cy="159990"/>
          </a:xfrm>
          <a:prstGeom prst="rect">
            <a:avLst/>
          </a:prstGeom>
          <a:noFill/>
          <a:ln/>
        </p:spPr>
        <p:txBody>
          <a:bodyPr wrap="none" lIns="0" tIns="0" rIns="0" bIns="0" rtlCol="0" anchor="ctr"/>
          <a:lstStyle/>
          <a:p>
            <a:pPr marL="0" indent="0" algn="ctr">
              <a:lnSpc>
                <a:spcPts val="1260"/>
              </a:lnSpc>
              <a:buNone/>
            </a:pPr>
            <a:r>
              <a:rPr lang="en-US" sz="840" dirty="0">
                <a:solidFill>
                  <a:srgbClr val="2D2520"/>
                </a:solidFill>
                <a:latin typeface="Corbel" pitchFamily="34" charset="0"/>
                <a:ea typeface="Corbel" pitchFamily="34" charset="-122"/>
                <a:cs typeface="Corbel" pitchFamily="34" charset="-120"/>
              </a:rPr>
              <a:t>Simmering</a:t>
            </a:r>
            <a:endParaRPr lang="en-US" sz="840" dirty="0"/>
          </a:p>
        </p:txBody>
      </p:sp>
      <p:sp>
        <p:nvSpPr>
          <p:cNvPr id="17" name="Text 15"/>
          <p:cNvSpPr/>
          <p:nvPr/>
        </p:nvSpPr>
        <p:spPr>
          <a:xfrm>
            <a:off x="6436668" y="2564160"/>
            <a:ext cx="1281708" cy="391120"/>
          </a:xfrm>
          <a:prstGeom prst="roundRect">
            <a:avLst>
              <a:gd name="adj" fmla="val 22080"/>
            </a:avLst>
          </a:prstGeom>
          <a:solidFill>
            <a:srgbClr val="C4582A">
              <a:alpha val="8000"/>
            </a:srgbClr>
          </a:solidFill>
          <a:ln w="9525">
            <a:solidFill>
              <a:srgbClr val="C4582A">
                <a:alpha val="18000"/>
              </a:srgbClr>
            </a:solidFill>
          </a:ln>
        </p:spPr>
        <p:txBody>
          <a:bodyPr wrap="square" rtlCol="0" anchor="t"/>
          <a:lstStyle/>
          <a:p>
            <a:pPr marL="0" indent="0">
              <a:buNone/>
            </a:pPr>
            <a:endParaRPr lang="en-US" dirty="0"/>
          </a:p>
        </p:txBody>
      </p:sp>
      <p:sp>
        <p:nvSpPr>
          <p:cNvPr id="18" name="Text 16"/>
          <p:cNvSpPr/>
          <p:nvPr/>
        </p:nvSpPr>
        <p:spPr>
          <a:xfrm>
            <a:off x="6598392" y="2679650"/>
            <a:ext cx="423520" cy="159990"/>
          </a:xfrm>
          <a:prstGeom prst="rect">
            <a:avLst/>
          </a:prstGeom>
          <a:noFill/>
          <a:ln/>
        </p:spPr>
        <p:txBody>
          <a:bodyPr wrap="none" lIns="0" tIns="0" rIns="0" bIns="0" rtlCol="0" anchor="ctr"/>
          <a:lstStyle/>
          <a:p>
            <a:pPr marL="0" indent="0" algn="ctr">
              <a:lnSpc>
                <a:spcPts val="1260"/>
              </a:lnSpc>
              <a:buNone/>
            </a:pPr>
            <a:r>
              <a:rPr lang="en-US" sz="840" b="1" dirty="0">
                <a:solidFill>
                  <a:srgbClr val="C4582A"/>
                </a:solidFill>
                <a:latin typeface="Consolas" pitchFamily="34" charset="0"/>
                <a:ea typeface="Consolas" pitchFamily="34" charset="-122"/>
                <a:cs typeface="Consolas" pitchFamily="34" charset="-120"/>
              </a:rPr>
              <a:t>Return</a:t>
            </a:r>
            <a:endParaRPr lang="en-US" sz="840" dirty="0"/>
          </a:p>
        </p:txBody>
      </p:sp>
      <p:sp>
        <p:nvSpPr>
          <p:cNvPr id="19" name="Text 17"/>
          <p:cNvSpPr/>
          <p:nvPr/>
        </p:nvSpPr>
        <p:spPr>
          <a:xfrm>
            <a:off x="7067937" y="2673995"/>
            <a:ext cx="125730" cy="171450"/>
          </a:xfrm>
          <a:prstGeom prst="rect">
            <a:avLst/>
          </a:prstGeom>
          <a:noFill/>
          <a:ln/>
        </p:spPr>
        <p:txBody>
          <a:bodyPr wrap="none" lIns="0" tIns="0" rIns="0" bIns="0" rtlCol="0" anchor="ctr"/>
          <a:lstStyle/>
          <a:p>
            <a:pPr marL="0" indent="0" algn="ctr">
              <a:lnSpc>
                <a:spcPts val="1350"/>
              </a:lnSpc>
              <a:buNone/>
            </a:pPr>
            <a:r>
              <a:rPr lang="en-US" sz="900" dirty="0">
                <a:solidFill>
                  <a:srgbClr val="8A7567"/>
                </a:solidFill>
                <a:latin typeface="Corbel" pitchFamily="34" charset="0"/>
                <a:ea typeface="Corbel" pitchFamily="34" charset="-122"/>
                <a:cs typeface="Corbel" pitchFamily="34" charset="-120"/>
              </a:rPr>
              <a:t>→</a:t>
            </a:r>
            <a:endParaRPr lang="en-US" sz="900" dirty="0"/>
          </a:p>
        </p:txBody>
      </p:sp>
      <p:sp>
        <p:nvSpPr>
          <p:cNvPr id="20" name="Text 18"/>
          <p:cNvSpPr/>
          <p:nvPr/>
        </p:nvSpPr>
        <p:spPr>
          <a:xfrm>
            <a:off x="7245020" y="2679650"/>
            <a:ext cx="306303" cy="159990"/>
          </a:xfrm>
          <a:prstGeom prst="rect">
            <a:avLst/>
          </a:prstGeom>
          <a:noFill/>
          <a:ln/>
        </p:spPr>
        <p:txBody>
          <a:bodyPr wrap="none" lIns="0" tIns="0" rIns="0" bIns="0" rtlCol="0" anchor="ctr"/>
          <a:lstStyle/>
          <a:p>
            <a:pPr marL="0" indent="0" algn="ctr">
              <a:lnSpc>
                <a:spcPts val="1260"/>
              </a:lnSpc>
              <a:buNone/>
            </a:pPr>
            <a:r>
              <a:rPr lang="en-US" sz="840" dirty="0">
                <a:solidFill>
                  <a:srgbClr val="2D2520"/>
                </a:solidFill>
                <a:latin typeface="Corbel" pitchFamily="34" charset="0"/>
                <a:ea typeface="Corbel" pitchFamily="34" charset="-122"/>
                <a:cs typeface="Corbel" pitchFamily="34" charset="-120"/>
              </a:rPr>
              <a:t>Serve</a:t>
            </a:r>
            <a:endParaRPr lang="en-US" sz="840" dirty="0"/>
          </a:p>
        </p:txBody>
      </p:sp>
      <p:sp>
        <p:nvSpPr>
          <p:cNvPr id="21" name="Text 19"/>
          <p:cNvSpPr/>
          <p:nvPr/>
        </p:nvSpPr>
        <p:spPr>
          <a:xfrm>
            <a:off x="4357390" y="3213050"/>
            <a:ext cx="429220" cy="21580"/>
          </a:xfrm>
          <a:prstGeom prst="roundRect">
            <a:avLst>
              <a:gd name="adj" fmla="val 64736"/>
            </a:avLst>
          </a:prstGeom>
          <a:solidFill>
            <a:srgbClr val="C4582A">
              <a:alpha val="60000"/>
            </a:srgbClr>
          </a:solidFill>
          <a:ln/>
        </p:spPr>
        <p:txBody>
          <a:bodyPr wrap="none" rtlCol="0" anchor="t"/>
          <a:lstStyle/>
          <a:p>
            <a:pPr marL="0" indent="0">
              <a:buNone/>
            </a:pPr>
            <a:endParaRPr lang="en-US" dirty="0"/>
          </a:p>
        </p:txBody>
      </p:sp>
      <p:sp>
        <p:nvSpPr>
          <p:cNvPr id="22" name="Text 20"/>
          <p:cNvSpPr/>
          <p:nvPr/>
        </p:nvSpPr>
        <p:spPr>
          <a:xfrm>
            <a:off x="3624605" y="3348930"/>
            <a:ext cx="1894790" cy="159990"/>
          </a:xfrm>
          <a:prstGeom prst="rect">
            <a:avLst/>
          </a:prstGeom>
          <a:noFill/>
          <a:ln/>
        </p:spPr>
        <p:txBody>
          <a:bodyPr wrap="none" lIns="0" tIns="0" rIns="0" bIns="0" rtlCol="0" anchor="t"/>
          <a:lstStyle/>
          <a:p>
            <a:pPr marL="0" indent="0" algn="ctr">
              <a:lnSpc>
                <a:spcPts val="1260"/>
              </a:lnSpc>
              <a:buNone/>
            </a:pPr>
            <a:r>
              <a:rPr lang="en-US" sz="840" b="1" kern="0" spc="170" dirty="0">
                <a:solidFill>
                  <a:srgbClr val="C4582A">
                    <a:alpha val="85000"/>
                  </a:srgbClr>
                </a:solidFill>
                <a:latin typeface="Corbel" pitchFamily="34" charset="0"/>
                <a:ea typeface="Corbel" pitchFamily="34" charset="-122"/>
                <a:cs typeface="Corbel" pitchFamily="34" charset="-120"/>
              </a:rPr>
              <a:t>THE FLING PHILOSOPHY</a:t>
            </a:r>
            <a:endParaRPr lang="en-US" sz="8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D2520"/>
        </a:solidFill>
        <a:effectLst/>
      </p:bgPr>
    </p:bg>
    <p:spTree>
      <p:nvGrpSpPr>
        <p:cNvPr id="1" name=""/>
        <p:cNvGrpSpPr/>
        <p:nvPr/>
      </p:nvGrpSpPr>
      <p:grpSpPr>
        <a:xfrm>
          <a:off x="0" y="0"/>
          <a:ext cx="0" cy="0"/>
          <a:chOff x="0" y="0"/>
          <a:chExt cx="0" cy="0"/>
        </a:xfrm>
      </p:grpSpPr>
      <p:sp>
        <p:nvSpPr>
          <p:cNvPr id="2" name="Text 0"/>
          <p:cNvSpPr/>
          <p:nvPr/>
        </p:nvSpPr>
        <p:spPr>
          <a:xfrm>
            <a:off x="169164" y="400050"/>
            <a:ext cx="8805672" cy="407640"/>
          </a:xfrm>
          <a:prstGeom prst="rect">
            <a:avLst/>
          </a:prstGeom>
          <a:noFill/>
          <a:ln/>
        </p:spPr>
        <p:txBody>
          <a:bodyPr wrap="none" lIns="0" tIns="0" rIns="0" bIns="0" rtlCol="0" anchor="t"/>
          <a:lstStyle/>
          <a:p>
            <a:pPr marL="0" indent="0" algn="ctr">
              <a:lnSpc>
                <a:spcPts val="3210"/>
              </a:lnSpc>
              <a:spcAft>
                <a:spcPts val="560"/>
              </a:spcAft>
              <a:buNone/>
            </a:pPr>
            <a:r>
              <a:rPr lang="en-US" sz="2140" b="1" kern="0" spc="-30" dirty="0">
                <a:solidFill>
                  <a:srgbClr val="FAF6F1"/>
                </a:solidFill>
                <a:latin typeface="Constantia" pitchFamily="34" charset="0"/>
                <a:ea typeface="Constantia" pitchFamily="34" charset="-122"/>
                <a:cs typeface="Constantia" pitchFamily="34" charset="-120"/>
              </a:rPr>
              <a:t>Recipe-Themed Syntax</a:t>
            </a:r>
            <a:endParaRPr lang="en-US" sz="2140" dirty="0"/>
          </a:p>
        </p:txBody>
      </p:sp>
      <p:sp>
        <p:nvSpPr>
          <p:cNvPr id="3" name="Text 1"/>
          <p:cNvSpPr/>
          <p:nvPr/>
        </p:nvSpPr>
        <p:spPr>
          <a:xfrm>
            <a:off x="2240280" y="878681"/>
            <a:ext cx="4663440" cy="404113"/>
          </a:xfrm>
          <a:prstGeom prst="rect">
            <a:avLst/>
          </a:prstGeom>
          <a:noFill/>
          <a:ln/>
        </p:spPr>
        <p:txBody>
          <a:bodyPr wrap="square" lIns="0" tIns="0" rIns="0" bIns="0" rtlCol="0" anchor="t"/>
          <a:lstStyle/>
          <a:p>
            <a:pPr marL="0" indent="0" algn="ctr">
              <a:lnSpc>
                <a:spcPts val="1515"/>
              </a:lnSpc>
              <a:buNone/>
            </a:pPr>
            <a:r>
              <a:rPr lang="en-US" sz="1010" dirty="0">
                <a:solidFill>
                  <a:srgbClr val="C4B5A6"/>
                </a:solidFill>
                <a:latin typeface="Corbel" pitchFamily="34" charset="0"/>
                <a:ea typeface="Corbel" pitchFamily="34" charset="-122"/>
                <a:cs typeface="Corbel" pitchFamily="34" charset="-120"/>
              </a:rPr>
              <a:t>Fling replaces abstract keywords with cooking vocabulary — code reads like a recipe.</a:t>
            </a:r>
            <a:endParaRPr lang="en-US" sz="1010" dirty="0"/>
          </a:p>
        </p:txBody>
      </p:sp>
      <p:sp>
        <p:nvSpPr>
          <p:cNvPr id="4" name="Text 2"/>
          <p:cNvSpPr/>
          <p:nvPr/>
        </p:nvSpPr>
        <p:spPr>
          <a:xfrm>
            <a:off x="457200" y="1578471"/>
            <a:ext cx="2609404" cy="2641848"/>
          </a:xfrm>
          <a:prstGeom prst="roundRect">
            <a:avLst>
              <a:gd name="adj" fmla="val 4380"/>
            </a:avLst>
          </a:prstGeom>
          <a:solidFill>
            <a:srgbClr val="3D332C"/>
          </a:solidFill>
          <a:ln w="9525">
            <a:solidFill>
              <a:srgbClr val="FAF6F1">
                <a:alpha val="6000"/>
              </a:srgbClr>
            </a:solidFill>
          </a:ln>
        </p:spPr>
        <p:txBody>
          <a:bodyPr wrap="square" rtlCol="0" anchor="t"/>
          <a:lstStyle/>
          <a:p>
            <a:pPr marL="0" indent="0">
              <a:buNone/>
            </a:pPr>
            <a:endParaRPr lang="en-US" dirty="0"/>
          </a:p>
        </p:txBody>
      </p:sp>
      <p:sp>
        <p:nvSpPr>
          <p:cNvPr id="5" name="Text 3"/>
          <p:cNvSpPr/>
          <p:nvPr/>
        </p:nvSpPr>
        <p:spPr>
          <a:xfrm>
            <a:off x="724495" y="1873746"/>
            <a:ext cx="1949931" cy="346323"/>
          </a:xfrm>
          <a:prstGeom prst="rect">
            <a:avLst/>
          </a:prstGeom>
          <a:noFill/>
          <a:ln/>
        </p:spPr>
        <p:txBody>
          <a:bodyPr wrap="none" lIns="0" tIns="0" rIns="0" bIns="0" rtlCol="0" anchor="t"/>
          <a:lstStyle/>
          <a:p>
            <a:pPr marL="0" indent="0" algn="l">
              <a:lnSpc>
                <a:spcPts val="2728"/>
              </a:lnSpc>
              <a:buNone/>
            </a:pPr>
            <a:r>
              <a:rPr lang="en-US" sz="2480" b="1" kern="0" spc="-30" dirty="0">
                <a:solidFill>
                  <a:srgbClr val="C4582A"/>
                </a:solidFill>
                <a:latin typeface="Consolas" pitchFamily="34" charset="0"/>
                <a:ea typeface="Consolas" pitchFamily="34" charset="-122"/>
                <a:cs typeface="Consolas" pitchFamily="34" charset="-120"/>
              </a:rPr>
              <a:t>ingredient</a:t>
            </a:r>
            <a:endParaRPr lang="en-US" sz="2480" dirty="0"/>
          </a:p>
        </p:txBody>
      </p:sp>
      <p:sp>
        <p:nvSpPr>
          <p:cNvPr id="6" name="Text 4"/>
          <p:cNvSpPr/>
          <p:nvPr/>
        </p:nvSpPr>
        <p:spPr>
          <a:xfrm>
            <a:off x="724495" y="2306389"/>
            <a:ext cx="1080656" cy="170557"/>
          </a:xfrm>
          <a:prstGeom prst="rect">
            <a:avLst/>
          </a:prstGeom>
          <a:noFill/>
          <a:ln/>
        </p:spPr>
        <p:txBody>
          <a:bodyPr wrap="none" lIns="0" tIns="0" rIns="0" bIns="0" rtlCol="0" anchor="t"/>
          <a:lstStyle/>
          <a:p>
            <a:pPr marL="0" indent="0" algn="l">
              <a:lnSpc>
                <a:spcPts val="1344"/>
              </a:lnSpc>
              <a:buNone/>
            </a:pPr>
            <a:r>
              <a:rPr lang="en-US" sz="960" dirty="0">
                <a:solidFill>
                  <a:srgbClr val="C4B5A6"/>
                </a:solidFill>
                <a:latin typeface="Corbel" pitchFamily="34" charset="0"/>
                <a:ea typeface="Corbel" pitchFamily="34" charset="-122"/>
                <a:cs typeface="Corbel" pitchFamily="34" charset="-120"/>
              </a:rPr>
              <a:t>Declare a variable</a:t>
            </a:r>
            <a:endParaRPr lang="en-US" sz="960" dirty="0"/>
          </a:p>
        </p:txBody>
      </p:sp>
      <p:sp>
        <p:nvSpPr>
          <p:cNvPr id="7" name="Text 5"/>
          <p:cNvSpPr/>
          <p:nvPr/>
        </p:nvSpPr>
        <p:spPr>
          <a:xfrm>
            <a:off x="724495" y="2577257"/>
            <a:ext cx="2116309" cy="292447"/>
          </a:xfrm>
          <a:prstGeom prst="roundRect">
            <a:avLst>
              <a:gd name="adj" fmla="val 19542"/>
            </a:avLst>
          </a:prstGeom>
          <a:solidFill>
            <a:srgbClr val="000000">
              <a:alpha val="30000"/>
            </a:srgbClr>
          </a:solidFill>
          <a:ln/>
        </p:spPr>
        <p:txBody>
          <a:bodyPr wrap="none" lIns="100330" tIns="71120" rIns="100330" bIns="71120" rtlCol="0" anchor="t"/>
          <a:lstStyle/>
          <a:p>
            <a:pPr marL="0" indent="0" algn="l">
              <a:buNone/>
            </a:pPr>
            <a:r>
              <a:rPr lang="en-US" sz="790" dirty="0">
                <a:solidFill>
                  <a:srgbClr val="FAF6F1"/>
                </a:solidFill>
                <a:latin typeface="Consolas" pitchFamily="34" charset="0"/>
                <a:ea typeface="Consolas" pitchFamily="34" charset="-122"/>
                <a:cs typeface="Consolas" pitchFamily="34" charset="-120"/>
              </a:rPr>
              <a:t>ingredient x: kg = 5kg</a:t>
            </a:r>
            <a:endParaRPr lang="en-US" sz="790" dirty="0"/>
          </a:p>
        </p:txBody>
      </p:sp>
      <p:sp>
        <p:nvSpPr>
          <p:cNvPr id="8" name="Text 6"/>
          <p:cNvSpPr/>
          <p:nvPr/>
        </p:nvSpPr>
        <p:spPr>
          <a:xfrm>
            <a:off x="724495" y="2577257"/>
            <a:ext cx="19050" cy="292447"/>
          </a:xfrm>
          <a:custGeom>
            <a:avLst/>
            <a:gdLst/>
            <a:ahLst/>
            <a:cxnLst/>
            <a:rect l="l" t="t" r="r" b="b"/>
            <a:pathLst>
              <a:path w="19050" h="292447">
                <a:moveTo>
                  <a:pt x="0" y="57150"/>
                </a:moveTo>
                <a:lnTo>
                  <a:pt x="2381" y="40825"/>
                </a:lnTo>
                <a:lnTo>
                  <a:pt x="4763" y="34310"/>
                </a:lnTo>
                <a:lnTo>
                  <a:pt x="7144" y="29482"/>
                </a:lnTo>
                <a:lnTo>
                  <a:pt x="9525" y="25559"/>
                </a:lnTo>
                <a:lnTo>
                  <a:pt x="11906" y="22234"/>
                </a:lnTo>
                <a:lnTo>
                  <a:pt x="14288" y="19349"/>
                </a:lnTo>
                <a:lnTo>
                  <a:pt x="16669" y="16809"/>
                </a:lnTo>
                <a:lnTo>
                  <a:pt x="19050" y="14553"/>
                </a:lnTo>
                <a:lnTo>
                  <a:pt x="19050" y="277894"/>
                </a:lnTo>
                <a:lnTo>
                  <a:pt x="16669" y="275638"/>
                </a:lnTo>
                <a:lnTo>
                  <a:pt x="14288" y="273098"/>
                </a:lnTo>
                <a:lnTo>
                  <a:pt x="11906" y="270213"/>
                </a:lnTo>
                <a:lnTo>
                  <a:pt x="9525" y="266888"/>
                </a:lnTo>
                <a:lnTo>
                  <a:pt x="7144" y="262965"/>
                </a:lnTo>
                <a:lnTo>
                  <a:pt x="4763" y="258137"/>
                </a:lnTo>
                <a:lnTo>
                  <a:pt x="2381" y="251622"/>
                </a:lnTo>
                <a:lnTo>
                  <a:pt x="0" y="235297"/>
                </a:lnTo>
                <a:close/>
              </a:path>
            </a:pathLst>
          </a:custGeom>
          <a:solidFill>
            <a:srgbClr val="C4582A"/>
          </a:solidFill>
          <a:ln/>
        </p:spPr>
        <p:txBody>
          <a:bodyPr wrap="square" rtlCol="0" anchor="t"/>
          <a:lstStyle/>
          <a:p>
            <a:pPr marL="0" indent="0">
              <a:buNone/>
            </a:pPr>
            <a:endParaRPr lang="en-US" dirty="0"/>
          </a:p>
        </p:txBody>
      </p:sp>
      <p:sp>
        <p:nvSpPr>
          <p:cNvPr id="9" name="Text 7"/>
          <p:cNvSpPr/>
          <p:nvPr/>
        </p:nvSpPr>
        <p:spPr>
          <a:xfrm>
            <a:off x="3267224" y="1578471"/>
            <a:ext cx="2609404" cy="2641848"/>
          </a:xfrm>
          <a:prstGeom prst="roundRect">
            <a:avLst>
              <a:gd name="adj" fmla="val 4380"/>
            </a:avLst>
          </a:prstGeom>
          <a:solidFill>
            <a:srgbClr val="3D332C"/>
          </a:solidFill>
          <a:ln w="9525">
            <a:solidFill>
              <a:srgbClr val="FAF6F1">
                <a:alpha val="6000"/>
              </a:srgbClr>
            </a:solidFill>
          </a:ln>
        </p:spPr>
        <p:txBody>
          <a:bodyPr wrap="square" rtlCol="0" anchor="t"/>
          <a:lstStyle/>
          <a:p>
            <a:pPr marL="0" indent="0">
              <a:buNone/>
            </a:pPr>
            <a:endParaRPr lang="en-US" dirty="0"/>
          </a:p>
        </p:txBody>
      </p:sp>
      <p:sp>
        <p:nvSpPr>
          <p:cNvPr id="10" name="Text 8"/>
          <p:cNvSpPr/>
          <p:nvPr/>
        </p:nvSpPr>
        <p:spPr>
          <a:xfrm>
            <a:off x="3534519" y="1873746"/>
            <a:ext cx="1169990" cy="346323"/>
          </a:xfrm>
          <a:prstGeom prst="rect">
            <a:avLst/>
          </a:prstGeom>
          <a:noFill/>
          <a:ln/>
        </p:spPr>
        <p:txBody>
          <a:bodyPr wrap="none" lIns="0" tIns="0" rIns="0" bIns="0" rtlCol="0" anchor="t"/>
          <a:lstStyle/>
          <a:p>
            <a:pPr marL="0" indent="0" algn="l">
              <a:lnSpc>
                <a:spcPts val="2728"/>
              </a:lnSpc>
              <a:buNone/>
            </a:pPr>
            <a:r>
              <a:rPr lang="en-US" sz="2480" b="1" kern="0" spc="-30" dirty="0">
                <a:solidFill>
                  <a:srgbClr val="C4582A"/>
                </a:solidFill>
                <a:latin typeface="Consolas" pitchFamily="34" charset="0"/>
                <a:ea typeface="Consolas" pitchFamily="34" charset="-122"/>
                <a:cs typeface="Consolas" pitchFamily="34" charset="-120"/>
              </a:rPr>
              <a:t>recipe</a:t>
            </a:r>
            <a:endParaRPr lang="en-US" sz="2480" dirty="0"/>
          </a:p>
        </p:txBody>
      </p:sp>
      <p:sp>
        <p:nvSpPr>
          <p:cNvPr id="11" name="Text 9"/>
          <p:cNvSpPr/>
          <p:nvPr/>
        </p:nvSpPr>
        <p:spPr>
          <a:xfrm>
            <a:off x="3534519" y="2306389"/>
            <a:ext cx="1006331" cy="170557"/>
          </a:xfrm>
          <a:prstGeom prst="rect">
            <a:avLst/>
          </a:prstGeom>
          <a:noFill/>
          <a:ln/>
        </p:spPr>
        <p:txBody>
          <a:bodyPr wrap="none" lIns="0" tIns="0" rIns="0" bIns="0" rtlCol="0" anchor="t"/>
          <a:lstStyle/>
          <a:p>
            <a:pPr marL="0" indent="0" algn="l">
              <a:lnSpc>
                <a:spcPts val="1344"/>
              </a:lnSpc>
              <a:buNone/>
            </a:pPr>
            <a:r>
              <a:rPr lang="en-US" sz="960" dirty="0">
                <a:solidFill>
                  <a:srgbClr val="C4B5A6"/>
                </a:solidFill>
                <a:latin typeface="Corbel" pitchFamily="34" charset="0"/>
                <a:ea typeface="Corbel" pitchFamily="34" charset="-122"/>
                <a:cs typeface="Corbel" pitchFamily="34" charset="-120"/>
              </a:rPr>
              <a:t>Define a function</a:t>
            </a:r>
            <a:endParaRPr lang="en-US" sz="960" dirty="0"/>
          </a:p>
        </p:txBody>
      </p:sp>
      <p:sp>
        <p:nvSpPr>
          <p:cNvPr id="12" name="Text 10"/>
          <p:cNvSpPr/>
          <p:nvPr/>
        </p:nvSpPr>
        <p:spPr>
          <a:xfrm>
            <a:off x="3534519" y="2577257"/>
            <a:ext cx="2074813" cy="611179"/>
          </a:xfrm>
          <a:prstGeom prst="roundRect">
            <a:avLst>
              <a:gd name="adj" fmla="val 9351"/>
            </a:avLst>
          </a:prstGeom>
          <a:solidFill>
            <a:srgbClr val="000000">
              <a:alpha val="30000"/>
            </a:srgbClr>
          </a:solidFill>
          <a:ln/>
        </p:spPr>
        <p:txBody>
          <a:bodyPr wrap="square" lIns="100330" tIns="71120" rIns="100330" bIns="71120" rtlCol="0" anchor="t"/>
          <a:lstStyle/>
          <a:p>
            <a:pPr marL="0" indent="0" algn="l">
              <a:buNone/>
            </a:pPr>
            <a:r>
              <a:rPr lang="en-US" sz="790" dirty="0">
                <a:solidFill>
                  <a:srgbClr val="FAF6F1"/>
                </a:solidFill>
                <a:latin typeface="Consolas" pitchFamily="34" charset="0"/>
                <a:ea typeface="Consolas" pitchFamily="34" charset="-122"/>
                <a:cs typeface="Consolas" pitchFamily="34" charset="-120"/>
              </a:rPr>
              <a:t>recipe make_dough(flour: grams)  yields Dough:</a:t>
            </a:r>
            <a:endParaRPr lang="en-US" sz="790" dirty="0"/>
          </a:p>
        </p:txBody>
      </p:sp>
      <p:sp>
        <p:nvSpPr>
          <p:cNvPr id="13" name="Text 11"/>
          <p:cNvSpPr/>
          <p:nvPr/>
        </p:nvSpPr>
        <p:spPr>
          <a:xfrm>
            <a:off x="3534519" y="2577257"/>
            <a:ext cx="19050" cy="593378"/>
          </a:xfrm>
          <a:custGeom>
            <a:avLst/>
            <a:gdLst/>
            <a:ahLst/>
            <a:cxnLst/>
            <a:rect l="l" t="t" r="r" b="b"/>
            <a:pathLst>
              <a:path w="19050" h="593378">
                <a:moveTo>
                  <a:pt x="0" y="57150"/>
                </a:moveTo>
                <a:lnTo>
                  <a:pt x="2381" y="40825"/>
                </a:lnTo>
                <a:lnTo>
                  <a:pt x="4763" y="34310"/>
                </a:lnTo>
                <a:lnTo>
                  <a:pt x="7144" y="29482"/>
                </a:lnTo>
                <a:lnTo>
                  <a:pt x="9525" y="25559"/>
                </a:lnTo>
                <a:lnTo>
                  <a:pt x="11906" y="22234"/>
                </a:lnTo>
                <a:lnTo>
                  <a:pt x="14288" y="19349"/>
                </a:lnTo>
                <a:lnTo>
                  <a:pt x="16669" y="16809"/>
                </a:lnTo>
                <a:lnTo>
                  <a:pt x="19050" y="14553"/>
                </a:lnTo>
                <a:lnTo>
                  <a:pt x="19050" y="578825"/>
                </a:lnTo>
                <a:lnTo>
                  <a:pt x="16669" y="576569"/>
                </a:lnTo>
                <a:lnTo>
                  <a:pt x="14288" y="574029"/>
                </a:lnTo>
                <a:lnTo>
                  <a:pt x="11906" y="571144"/>
                </a:lnTo>
                <a:lnTo>
                  <a:pt x="9525" y="567819"/>
                </a:lnTo>
                <a:lnTo>
                  <a:pt x="7144" y="563895"/>
                </a:lnTo>
                <a:lnTo>
                  <a:pt x="4763" y="559068"/>
                </a:lnTo>
                <a:lnTo>
                  <a:pt x="2381" y="552553"/>
                </a:lnTo>
                <a:lnTo>
                  <a:pt x="0" y="536228"/>
                </a:lnTo>
                <a:close/>
              </a:path>
            </a:pathLst>
          </a:custGeom>
          <a:solidFill>
            <a:srgbClr val="C4582A"/>
          </a:solidFill>
          <a:ln/>
        </p:spPr>
        <p:txBody>
          <a:bodyPr wrap="square" rtlCol="0" anchor="t"/>
          <a:lstStyle/>
          <a:p>
            <a:pPr marL="0" indent="0">
              <a:buNone/>
            </a:pPr>
            <a:endParaRPr lang="en-US" dirty="0"/>
          </a:p>
        </p:txBody>
      </p:sp>
      <p:sp>
        <p:nvSpPr>
          <p:cNvPr id="14" name="Text 12"/>
          <p:cNvSpPr/>
          <p:nvPr/>
        </p:nvSpPr>
        <p:spPr>
          <a:xfrm>
            <a:off x="6077248" y="1578471"/>
            <a:ext cx="2609552" cy="2641848"/>
          </a:xfrm>
          <a:prstGeom prst="roundRect">
            <a:avLst>
              <a:gd name="adj" fmla="val 4380"/>
            </a:avLst>
          </a:prstGeom>
          <a:solidFill>
            <a:srgbClr val="3D332C"/>
          </a:solidFill>
          <a:ln w="9525">
            <a:solidFill>
              <a:srgbClr val="FAF6F1">
                <a:alpha val="6000"/>
              </a:srgbClr>
            </a:solidFill>
          </a:ln>
        </p:spPr>
        <p:txBody>
          <a:bodyPr wrap="square" rtlCol="0" anchor="t"/>
          <a:lstStyle/>
          <a:p>
            <a:pPr marL="0" indent="0">
              <a:buNone/>
            </a:pPr>
            <a:endParaRPr lang="en-US" dirty="0"/>
          </a:p>
        </p:txBody>
      </p:sp>
      <p:sp>
        <p:nvSpPr>
          <p:cNvPr id="15" name="Text 13"/>
          <p:cNvSpPr/>
          <p:nvPr/>
        </p:nvSpPr>
        <p:spPr>
          <a:xfrm>
            <a:off x="6344543" y="1873746"/>
            <a:ext cx="974966" cy="346323"/>
          </a:xfrm>
          <a:prstGeom prst="rect">
            <a:avLst/>
          </a:prstGeom>
          <a:noFill/>
          <a:ln/>
        </p:spPr>
        <p:txBody>
          <a:bodyPr wrap="none" lIns="0" tIns="0" rIns="0" bIns="0" rtlCol="0" anchor="t"/>
          <a:lstStyle/>
          <a:p>
            <a:pPr marL="0" indent="0" algn="l">
              <a:lnSpc>
                <a:spcPts val="2728"/>
              </a:lnSpc>
              <a:buNone/>
            </a:pPr>
            <a:r>
              <a:rPr lang="en-US" sz="2480" b="1" kern="0" spc="-30" dirty="0">
                <a:solidFill>
                  <a:srgbClr val="C4582A"/>
                </a:solidFill>
                <a:latin typeface="Consolas" pitchFamily="34" charset="0"/>
                <a:ea typeface="Consolas" pitchFamily="34" charset="-122"/>
                <a:cs typeface="Consolas" pitchFamily="34" charset="-120"/>
              </a:rPr>
              <a:t>serve</a:t>
            </a:r>
            <a:endParaRPr lang="en-US" sz="2480" dirty="0"/>
          </a:p>
        </p:txBody>
      </p:sp>
      <p:sp>
        <p:nvSpPr>
          <p:cNvPr id="16" name="Text 14"/>
          <p:cNvSpPr/>
          <p:nvPr/>
        </p:nvSpPr>
        <p:spPr>
          <a:xfrm>
            <a:off x="6344543" y="2306389"/>
            <a:ext cx="879455" cy="170557"/>
          </a:xfrm>
          <a:prstGeom prst="rect">
            <a:avLst/>
          </a:prstGeom>
          <a:noFill/>
          <a:ln/>
        </p:spPr>
        <p:txBody>
          <a:bodyPr wrap="none" lIns="0" tIns="0" rIns="0" bIns="0" rtlCol="0" anchor="t"/>
          <a:lstStyle/>
          <a:p>
            <a:pPr marL="0" indent="0" algn="l">
              <a:lnSpc>
                <a:spcPts val="1344"/>
              </a:lnSpc>
              <a:buNone/>
            </a:pPr>
            <a:r>
              <a:rPr lang="en-US" sz="960" dirty="0">
                <a:solidFill>
                  <a:srgbClr val="C4B5A6"/>
                </a:solidFill>
                <a:latin typeface="Corbel" pitchFamily="34" charset="0"/>
                <a:ea typeface="Corbel" pitchFamily="34" charset="-122"/>
                <a:cs typeface="Corbel" pitchFamily="34" charset="-120"/>
              </a:rPr>
              <a:t>Return a result</a:t>
            </a:r>
            <a:endParaRPr lang="en-US" sz="960" dirty="0"/>
          </a:p>
        </p:txBody>
      </p:sp>
      <p:sp>
        <p:nvSpPr>
          <p:cNvPr id="17" name="Text 15"/>
          <p:cNvSpPr/>
          <p:nvPr/>
        </p:nvSpPr>
        <p:spPr>
          <a:xfrm>
            <a:off x="6344543" y="2577257"/>
            <a:ext cx="2116461" cy="292447"/>
          </a:xfrm>
          <a:prstGeom prst="roundRect">
            <a:avLst>
              <a:gd name="adj" fmla="val 19542"/>
            </a:avLst>
          </a:prstGeom>
          <a:solidFill>
            <a:srgbClr val="000000">
              <a:alpha val="30000"/>
            </a:srgbClr>
          </a:solidFill>
          <a:ln/>
        </p:spPr>
        <p:txBody>
          <a:bodyPr wrap="none" lIns="100330" tIns="71120" rIns="100330" bIns="71120" rtlCol="0" anchor="t"/>
          <a:lstStyle/>
          <a:p>
            <a:pPr marL="0" indent="0" algn="l">
              <a:buNone/>
            </a:pPr>
            <a:r>
              <a:rPr lang="en-US" sz="790" dirty="0">
                <a:solidFill>
                  <a:srgbClr val="FAF6F1"/>
                </a:solidFill>
                <a:latin typeface="Consolas" pitchFamily="34" charset="0"/>
                <a:ea typeface="Consolas" pitchFamily="34" charset="-122"/>
                <a:cs typeface="Consolas" pitchFamily="34" charset="-120"/>
              </a:rPr>
              <a:t>serve total</a:t>
            </a:r>
            <a:endParaRPr lang="en-US" sz="790" dirty="0"/>
          </a:p>
        </p:txBody>
      </p:sp>
      <p:sp>
        <p:nvSpPr>
          <p:cNvPr id="18" name="Text 16"/>
          <p:cNvSpPr/>
          <p:nvPr/>
        </p:nvSpPr>
        <p:spPr>
          <a:xfrm>
            <a:off x="6344543" y="2577257"/>
            <a:ext cx="19050" cy="292447"/>
          </a:xfrm>
          <a:custGeom>
            <a:avLst/>
            <a:gdLst/>
            <a:ahLst/>
            <a:cxnLst/>
            <a:rect l="l" t="t" r="r" b="b"/>
            <a:pathLst>
              <a:path w="19050" h="292447">
                <a:moveTo>
                  <a:pt x="0" y="57150"/>
                </a:moveTo>
                <a:lnTo>
                  <a:pt x="2381" y="40825"/>
                </a:lnTo>
                <a:lnTo>
                  <a:pt x="4763" y="34310"/>
                </a:lnTo>
                <a:lnTo>
                  <a:pt x="7144" y="29482"/>
                </a:lnTo>
                <a:lnTo>
                  <a:pt x="9525" y="25559"/>
                </a:lnTo>
                <a:lnTo>
                  <a:pt x="11906" y="22234"/>
                </a:lnTo>
                <a:lnTo>
                  <a:pt x="14288" y="19349"/>
                </a:lnTo>
                <a:lnTo>
                  <a:pt x="16669" y="16809"/>
                </a:lnTo>
                <a:lnTo>
                  <a:pt x="19050" y="14553"/>
                </a:lnTo>
                <a:lnTo>
                  <a:pt x="19050" y="277894"/>
                </a:lnTo>
                <a:lnTo>
                  <a:pt x="16669" y="275638"/>
                </a:lnTo>
                <a:lnTo>
                  <a:pt x="14288" y="273098"/>
                </a:lnTo>
                <a:lnTo>
                  <a:pt x="11906" y="270213"/>
                </a:lnTo>
                <a:lnTo>
                  <a:pt x="9525" y="266888"/>
                </a:lnTo>
                <a:lnTo>
                  <a:pt x="7144" y="262965"/>
                </a:lnTo>
                <a:lnTo>
                  <a:pt x="4763" y="258137"/>
                </a:lnTo>
                <a:lnTo>
                  <a:pt x="2381" y="251622"/>
                </a:lnTo>
                <a:lnTo>
                  <a:pt x="0" y="235297"/>
                </a:lnTo>
                <a:close/>
              </a:path>
            </a:pathLst>
          </a:custGeom>
          <a:solidFill>
            <a:srgbClr val="C4582A"/>
          </a:solidFill>
          <a:ln/>
        </p:spPr>
        <p:txBody>
          <a:bodyPr wrap="square" rtlCol="0" anchor="t"/>
          <a:lstStyle/>
          <a:p>
            <a:pPr marL="0" indent="0">
              <a:buNone/>
            </a:pPr>
            <a:endParaRPr lang="en-US" dirty="0"/>
          </a:p>
        </p:txBody>
      </p:sp>
      <p:sp>
        <p:nvSpPr>
          <p:cNvPr id="19" name="Text 17"/>
          <p:cNvSpPr/>
          <p:nvPr/>
        </p:nvSpPr>
        <p:spPr>
          <a:xfrm>
            <a:off x="1883866" y="4478089"/>
            <a:ext cx="5376267" cy="379661"/>
          </a:xfrm>
          <a:prstGeom prst="roundRect">
            <a:avLst>
              <a:gd name="adj" fmla="val 22747"/>
            </a:avLst>
          </a:prstGeom>
          <a:solidFill>
            <a:srgbClr val="FAF6F1">
              <a:alpha val="4000"/>
            </a:srgbClr>
          </a:solidFill>
          <a:ln w="9525">
            <a:solidFill>
              <a:srgbClr val="FAF6F1">
                <a:alpha val="6000"/>
              </a:srgbClr>
            </a:solidFill>
          </a:ln>
        </p:spPr>
        <p:txBody>
          <a:bodyPr wrap="square" rtlCol="0" anchor="t"/>
          <a:lstStyle/>
          <a:p>
            <a:pPr marL="0" indent="0">
              <a:buNone/>
            </a:pPr>
            <a:endParaRPr lang="en-US" dirty="0"/>
          </a:p>
        </p:txBody>
      </p:sp>
      <p:pic>
        <p:nvPicPr>
          <p:cNvPr id="20"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75789" y="4601551"/>
            <a:ext cx="132588" cy="132588"/>
          </a:xfrm>
          <a:prstGeom prst="rect">
            <a:avLst/>
          </a:prstGeom>
        </p:spPr>
      </p:pic>
      <p:sp>
        <p:nvSpPr>
          <p:cNvPr id="21" name="Text 18"/>
          <p:cNvSpPr/>
          <p:nvPr/>
        </p:nvSpPr>
        <p:spPr>
          <a:xfrm>
            <a:off x="2257224" y="4587925"/>
            <a:ext cx="423520" cy="159990"/>
          </a:xfrm>
          <a:prstGeom prst="rect">
            <a:avLst/>
          </a:prstGeom>
          <a:noFill/>
          <a:ln/>
        </p:spPr>
        <p:txBody>
          <a:bodyPr wrap="none" lIns="0" tIns="0" rIns="0" bIns="0" rtlCol="0" anchor="ctr"/>
          <a:lstStyle/>
          <a:p>
            <a:pPr marL="0" indent="0" algn="ctr">
              <a:lnSpc>
                <a:spcPts val="1260"/>
              </a:lnSpc>
              <a:buNone/>
            </a:pPr>
            <a:r>
              <a:rPr lang="en-US" sz="840" b="1" dirty="0">
                <a:solidFill>
                  <a:srgbClr val="C4582A"/>
                </a:solidFill>
                <a:latin typeface="Consolas" pitchFamily="34" charset="0"/>
                <a:ea typeface="Consolas" pitchFamily="34" charset="-122"/>
                <a:cs typeface="Consolas" pitchFamily="34" charset="-120"/>
              </a:rPr>
              <a:t>simmer</a:t>
            </a:r>
            <a:endParaRPr lang="en-US" sz="840" dirty="0"/>
          </a:p>
        </p:txBody>
      </p:sp>
      <p:sp>
        <p:nvSpPr>
          <p:cNvPr id="22" name="Text 19"/>
          <p:cNvSpPr/>
          <p:nvPr/>
        </p:nvSpPr>
        <p:spPr>
          <a:xfrm>
            <a:off x="2696364" y="4592687"/>
            <a:ext cx="490151" cy="150465"/>
          </a:xfrm>
          <a:prstGeom prst="rect">
            <a:avLst/>
          </a:prstGeom>
          <a:noFill/>
          <a:ln/>
        </p:spPr>
        <p:txBody>
          <a:bodyPr wrap="none" lIns="0" tIns="0" rIns="0" bIns="0" rtlCol="0" anchor="ctr"/>
          <a:lstStyle/>
          <a:p>
            <a:pPr marL="0" indent="0" algn="ctr">
              <a:lnSpc>
                <a:spcPts val="1185"/>
              </a:lnSpc>
              <a:buNone/>
            </a:pPr>
            <a:r>
              <a:rPr lang="en-US" sz="790" dirty="0">
                <a:solidFill>
                  <a:srgbClr val="C4B5A6"/>
                </a:solidFill>
                <a:latin typeface="Corbel" pitchFamily="34" charset="0"/>
                <a:ea typeface="Corbel" pitchFamily="34" charset="-122"/>
                <a:cs typeface="Corbel" pitchFamily="34" charset="-120"/>
              </a:rPr>
              <a:t>while loop</a:t>
            </a:r>
            <a:endParaRPr lang="en-US" sz="790" dirty="0"/>
          </a:p>
        </p:txBody>
      </p:sp>
      <p:sp>
        <p:nvSpPr>
          <p:cNvPr id="23" name="Text 20"/>
          <p:cNvSpPr/>
          <p:nvPr/>
        </p:nvSpPr>
        <p:spPr>
          <a:xfrm>
            <a:off x="3335685" y="4587925"/>
            <a:ext cx="29170" cy="29170"/>
          </a:xfrm>
          <a:prstGeom prst="ellipse">
            <a:avLst/>
          </a:prstGeom>
          <a:solidFill>
            <a:srgbClr val="C4B5A6">
              <a:alpha val="50000"/>
            </a:srgbClr>
          </a:solidFill>
          <a:ln/>
        </p:spPr>
        <p:txBody>
          <a:bodyPr wrap="none" rtlCol="0" anchor="t"/>
          <a:lstStyle/>
          <a:p>
            <a:pPr marL="0" indent="0">
              <a:buNone/>
            </a:pPr>
            <a:endParaRPr lang="en-US" dirty="0"/>
          </a:p>
        </p:txBody>
      </p:sp>
      <p:sp>
        <p:nvSpPr>
          <p:cNvPr id="24" name="Text 21"/>
          <p:cNvSpPr/>
          <p:nvPr/>
        </p:nvSpPr>
        <p:spPr>
          <a:xfrm>
            <a:off x="3520261" y="4587925"/>
            <a:ext cx="352961" cy="159990"/>
          </a:xfrm>
          <a:prstGeom prst="rect">
            <a:avLst/>
          </a:prstGeom>
          <a:noFill/>
          <a:ln/>
        </p:spPr>
        <p:txBody>
          <a:bodyPr wrap="none" lIns="0" tIns="0" rIns="0" bIns="0" rtlCol="0" anchor="ctr"/>
          <a:lstStyle/>
          <a:p>
            <a:pPr marL="0" indent="0" algn="ctr">
              <a:lnSpc>
                <a:spcPts val="1260"/>
              </a:lnSpc>
              <a:buNone/>
            </a:pPr>
            <a:r>
              <a:rPr lang="en-US" sz="840" b="1" dirty="0">
                <a:solidFill>
                  <a:srgbClr val="C4582A"/>
                </a:solidFill>
                <a:latin typeface="Consolas" pitchFamily="34" charset="0"/>
                <a:ea typeface="Consolas" pitchFamily="34" charset="-122"/>
                <a:cs typeface="Consolas" pitchFamily="34" charset="-120"/>
              </a:rPr>
              <a:t>batch</a:t>
            </a:r>
            <a:endParaRPr lang="en-US" sz="840" dirty="0"/>
          </a:p>
        </p:txBody>
      </p:sp>
      <p:sp>
        <p:nvSpPr>
          <p:cNvPr id="25" name="Text 22"/>
          <p:cNvSpPr/>
          <p:nvPr/>
        </p:nvSpPr>
        <p:spPr>
          <a:xfrm>
            <a:off x="3897623" y="4592687"/>
            <a:ext cx="367531" cy="150465"/>
          </a:xfrm>
          <a:prstGeom prst="rect">
            <a:avLst/>
          </a:prstGeom>
          <a:noFill/>
          <a:ln/>
        </p:spPr>
        <p:txBody>
          <a:bodyPr wrap="none" lIns="0" tIns="0" rIns="0" bIns="0" rtlCol="0" anchor="ctr"/>
          <a:lstStyle/>
          <a:p>
            <a:pPr marL="0" indent="0" algn="ctr">
              <a:lnSpc>
                <a:spcPts val="1185"/>
              </a:lnSpc>
              <a:buNone/>
            </a:pPr>
            <a:r>
              <a:rPr lang="en-US" sz="790" dirty="0">
                <a:solidFill>
                  <a:srgbClr val="C4B5A6"/>
                </a:solidFill>
                <a:latin typeface="Corbel" pitchFamily="34" charset="0"/>
                <a:ea typeface="Corbel" pitchFamily="34" charset="-122"/>
                <a:cs typeface="Corbel" pitchFamily="34" charset="-120"/>
              </a:rPr>
              <a:t>for loop</a:t>
            </a:r>
            <a:endParaRPr lang="en-US" sz="790" dirty="0"/>
          </a:p>
        </p:txBody>
      </p:sp>
      <p:sp>
        <p:nvSpPr>
          <p:cNvPr id="26" name="Text 23"/>
          <p:cNvSpPr/>
          <p:nvPr/>
        </p:nvSpPr>
        <p:spPr>
          <a:xfrm>
            <a:off x="4419898" y="4587925"/>
            <a:ext cx="29170" cy="29170"/>
          </a:xfrm>
          <a:prstGeom prst="ellipse">
            <a:avLst/>
          </a:prstGeom>
          <a:solidFill>
            <a:srgbClr val="C4B5A6">
              <a:alpha val="50000"/>
            </a:srgbClr>
          </a:solidFill>
          <a:ln/>
        </p:spPr>
        <p:txBody>
          <a:bodyPr wrap="none" rtlCol="0" anchor="t"/>
          <a:lstStyle/>
          <a:p>
            <a:pPr marL="0" indent="0">
              <a:buNone/>
            </a:pPr>
            <a:endParaRPr lang="en-US" dirty="0"/>
          </a:p>
        </p:txBody>
      </p:sp>
      <p:sp>
        <p:nvSpPr>
          <p:cNvPr id="27" name="Text 24"/>
          <p:cNvSpPr/>
          <p:nvPr/>
        </p:nvSpPr>
        <p:spPr>
          <a:xfrm>
            <a:off x="4604474" y="4587925"/>
            <a:ext cx="352961" cy="159990"/>
          </a:xfrm>
          <a:prstGeom prst="rect">
            <a:avLst/>
          </a:prstGeom>
          <a:noFill/>
          <a:ln/>
        </p:spPr>
        <p:txBody>
          <a:bodyPr wrap="none" lIns="0" tIns="0" rIns="0" bIns="0" rtlCol="0" anchor="ctr"/>
          <a:lstStyle/>
          <a:p>
            <a:pPr marL="0" indent="0" algn="ctr">
              <a:lnSpc>
                <a:spcPts val="1260"/>
              </a:lnSpc>
              <a:buNone/>
            </a:pPr>
            <a:r>
              <a:rPr lang="en-US" sz="840" b="1" dirty="0">
                <a:solidFill>
                  <a:srgbClr val="C4582A"/>
                </a:solidFill>
                <a:latin typeface="Consolas" pitchFamily="34" charset="0"/>
                <a:ea typeface="Consolas" pitchFamily="34" charset="-122"/>
                <a:cs typeface="Consolas" pitchFamily="34" charset="-120"/>
              </a:rPr>
              <a:t>taste</a:t>
            </a:r>
            <a:endParaRPr lang="en-US" sz="840" dirty="0"/>
          </a:p>
        </p:txBody>
      </p:sp>
      <p:sp>
        <p:nvSpPr>
          <p:cNvPr id="28" name="Text 25"/>
          <p:cNvSpPr/>
          <p:nvPr/>
        </p:nvSpPr>
        <p:spPr>
          <a:xfrm>
            <a:off x="4996034" y="4592687"/>
            <a:ext cx="55171" cy="150465"/>
          </a:xfrm>
          <a:prstGeom prst="rect">
            <a:avLst/>
          </a:prstGeom>
          <a:noFill/>
          <a:ln/>
        </p:spPr>
        <p:txBody>
          <a:bodyPr wrap="none" lIns="0" tIns="0" rIns="0" bIns="0" rtlCol="0" anchor="ctr"/>
          <a:lstStyle/>
          <a:p>
            <a:pPr marL="0" indent="0" algn="ctr">
              <a:lnSpc>
                <a:spcPts val="1185"/>
              </a:lnSpc>
              <a:buNone/>
            </a:pPr>
            <a:r>
              <a:rPr lang="en-US" sz="790" dirty="0">
                <a:solidFill>
                  <a:srgbClr val="C4B5A6"/>
                </a:solidFill>
                <a:latin typeface="Corbel" pitchFamily="34" charset="0"/>
                <a:ea typeface="Corbel" pitchFamily="34" charset="-122"/>
                <a:cs typeface="Corbel" pitchFamily="34" charset="-120"/>
              </a:rPr>
              <a:t>if</a:t>
            </a:r>
            <a:endParaRPr lang="en-US" sz="790" dirty="0"/>
          </a:p>
        </p:txBody>
      </p:sp>
      <p:sp>
        <p:nvSpPr>
          <p:cNvPr id="29" name="Text 26"/>
          <p:cNvSpPr/>
          <p:nvPr/>
        </p:nvSpPr>
        <p:spPr>
          <a:xfrm>
            <a:off x="5220146" y="4587925"/>
            <a:ext cx="29170" cy="29170"/>
          </a:xfrm>
          <a:prstGeom prst="ellipse">
            <a:avLst/>
          </a:prstGeom>
          <a:solidFill>
            <a:srgbClr val="C4B5A6">
              <a:alpha val="50000"/>
            </a:srgbClr>
          </a:solidFill>
          <a:ln/>
        </p:spPr>
        <p:txBody>
          <a:bodyPr wrap="none" rtlCol="0" anchor="t"/>
          <a:lstStyle/>
          <a:p>
            <a:pPr marL="0" indent="0">
              <a:buNone/>
            </a:pPr>
            <a:endParaRPr lang="en-US" dirty="0"/>
          </a:p>
        </p:txBody>
      </p:sp>
      <p:sp>
        <p:nvSpPr>
          <p:cNvPr id="30" name="Text 27"/>
          <p:cNvSpPr/>
          <p:nvPr/>
        </p:nvSpPr>
        <p:spPr>
          <a:xfrm>
            <a:off x="5407930" y="4587925"/>
            <a:ext cx="282401" cy="159990"/>
          </a:xfrm>
          <a:prstGeom prst="rect">
            <a:avLst/>
          </a:prstGeom>
          <a:noFill/>
          <a:ln/>
        </p:spPr>
        <p:txBody>
          <a:bodyPr wrap="none" lIns="0" tIns="0" rIns="0" bIns="0" rtlCol="0" anchor="ctr"/>
          <a:lstStyle/>
          <a:p>
            <a:pPr marL="0" indent="0" algn="ctr">
              <a:lnSpc>
                <a:spcPts val="1260"/>
              </a:lnSpc>
              <a:buNone/>
            </a:pPr>
            <a:r>
              <a:rPr lang="en-US" sz="840" b="1" dirty="0">
                <a:solidFill>
                  <a:srgbClr val="C4582A"/>
                </a:solidFill>
                <a:latin typeface="Consolas" pitchFamily="34" charset="0"/>
                <a:ea typeface="Consolas" pitchFamily="34" charset="-122"/>
                <a:cs typeface="Consolas" pitchFamily="34" charset="-120"/>
              </a:rPr>
              <a:t>toss</a:t>
            </a:r>
            <a:endParaRPr lang="en-US" sz="840" dirty="0"/>
          </a:p>
        </p:txBody>
      </p:sp>
      <p:sp>
        <p:nvSpPr>
          <p:cNvPr id="31" name="Text 28"/>
          <p:cNvSpPr/>
          <p:nvPr/>
        </p:nvSpPr>
        <p:spPr>
          <a:xfrm>
            <a:off x="5722114" y="4592687"/>
            <a:ext cx="275689" cy="150465"/>
          </a:xfrm>
          <a:prstGeom prst="rect">
            <a:avLst/>
          </a:prstGeom>
          <a:noFill/>
          <a:ln/>
        </p:spPr>
        <p:txBody>
          <a:bodyPr wrap="none" lIns="0" tIns="0" rIns="0" bIns="0" rtlCol="0" anchor="ctr"/>
          <a:lstStyle/>
          <a:p>
            <a:pPr marL="0" indent="0" algn="ctr">
              <a:lnSpc>
                <a:spcPts val="1185"/>
              </a:lnSpc>
              <a:buNone/>
            </a:pPr>
            <a:r>
              <a:rPr lang="en-US" sz="790" dirty="0">
                <a:solidFill>
                  <a:srgbClr val="C4B5A6"/>
                </a:solidFill>
                <a:latin typeface="Corbel" pitchFamily="34" charset="0"/>
                <a:ea typeface="Corbel" pitchFamily="34" charset="-122"/>
                <a:cs typeface="Corbel" pitchFamily="34" charset="-120"/>
              </a:rPr>
              <a:t>break</a:t>
            </a:r>
            <a:endParaRPr lang="en-US" sz="790" dirty="0"/>
          </a:p>
        </p:txBody>
      </p:sp>
      <p:sp>
        <p:nvSpPr>
          <p:cNvPr id="32" name="Text 29"/>
          <p:cNvSpPr/>
          <p:nvPr/>
        </p:nvSpPr>
        <p:spPr>
          <a:xfrm>
            <a:off x="6156722" y="4587925"/>
            <a:ext cx="29170" cy="29170"/>
          </a:xfrm>
          <a:prstGeom prst="ellipse">
            <a:avLst/>
          </a:prstGeom>
          <a:solidFill>
            <a:srgbClr val="C4B5A6">
              <a:alpha val="50000"/>
            </a:srgbClr>
          </a:solidFill>
          <a:ln/>
        </p:spPr>
        <p:txBody>
          <a:bodyPr wrap="none" rtlCol="0" anchor="t"/>
          <a:lstStyle/>
          <a:p>
            <a:pPr marL="0" indent="0">
              <a:buNone/>
            </a:pPr>
            <a:endParaRPr lang="en-US" dirty="0"/>
          </a:p>
        </p:txBody>
      </p:sp>
      <p:sp>
        <p:nvSpPr>
          <p:cNvPr id="33" name="Text 30"/>
          <p:cNvSpPr/>
          <p:nvPr/>
        </p:nvSpPr>
        <p:spPr>
          <a:xfrm>
            <a:off x="6344506" y="4587925"/>
            <a:ext cx="282401" cy="159990"/>
          </a:xfrm>
          <a:prstGeom prst="rect">
            <a:avLst/>
          </a:prstGeom>
          <a:noFill/>
          <a:ln/>
        </p:spPr>
        <p:txBody>
          <a:bodyPr wrap="none" lIns="0" tIns="0" rIns="0" bIns="0" rtlCol="0" anchor="ctr"/>
          <a:lstStyle/>
          <a:p>
            <a:pPr marL="0" indent="0" algn="ctr">
              <a:lnSpc>
                <a:spcPts val="1260"/>
              </a:lnSpc>
              <a:buNone/>
            </a:pPr>
            <a:r>
              <a:rPr lang="en-US" sz="840" b="1" dirty="0">
                <a:solidFill>
                  <a:srgbClr val="C4582A"/>
                </a:solidFill>
                <a:latin typeface="Consolas" pitchFamily="34" charset="0"/>
                <a:ea typeface="Consolas" pitchFamily="34" charset="-122"/>
                <a:cs typeface="Consolas" pitchFamily="34" charset="-120"/>
              </a:rPr>
              <a:t>skip</a:t>
            </a:r>
            <a:endParaRPr lang="en-US" sz="840" dirty="0"/>
          </a:p>
        </p:txBody>
      </p:sp>
      <p:sp>
        <p:nvSpPr>
          <p:cNvPr id="34" name="Text 31"/>
          <p:cNvSpPr/>
          <p:nvPr/>
        </p:nvSpPr>
        <p:spPr>
          <a:xfrm>
            <a:off x="6652282" y="4592687"/>
            <a:ext cx="416644" cy="150465"/>
          </a:xfrm>
          <a:prstGeom prst="rect">
            <a:avLst/>
          </a:prstGeom>
          <a:noFill/>
          <a:ln/>
        </p:spPr>
        <p:txBody>
          <a:bodyPr wrap="none" lIns="0" tIns="0" rIns="0" bIns="0" rtlCol="0" anchor="ctr"/>
          <a:lstStyle/>
          <a:p>
            <a:pPr marL="0" indent="0" algn="ctr">
              <a:lnSpc>
                <a:spcPts val="1185"/>
              </a:lnSpc>
              <a:buNone/>
            </a:pPr>
            <a:r>
              <a:rPr lang="en-US" sz="790" dirty="0">
                <a:solidFill>
                  <a:srgbClr val="C4B5A6"/>
                </a:solidFill>
                <a:latin typeface="Corbel" pitchFamily="34" charset="0"/>
                <a:ea typeface="Corbel" pitchFamily="34" charset="-122"/>
                <a:cs typeface="Corbel" pitchFamily="34" charset="-120"/>
              </a:rPr>
              <a:t>continue</a:t>
            </a:r>
            <a:endParaRPr lang="en-US" sz="790" dirty="0"/>
          </a:p>
        </p:txBody>
      </p:sp>
      <p:sp>
        <p:nvSpPr>
          <p:cNvPr id="35" name="Text 32"/>
          <p:cNvSpPr/>
          <p:nvPr/>
        </p:nvSpPr>
        <p:spPr>
          <a:xfrm>
            <a:off x="466725" y="1587996"/>
            <a:ext cx="2590352" cy="29170"/>
          </a:xfrm>
          <a:custGeom>
            <a:avLst/>
            <a:gdLst/>
            <a:ahLst/>
            <a:cxnLst/>
            <a:rect l="l" t="t" r="r" b="b"/>
            <a:pathLst>
              <a:path w="2590352" h="29170">
                <a:moveTo>
                  <a:pt x="114300" y="0"/>
                </a:moveTo>
                <a:lnTo>
                  <a:pt x="2476052" y="0"/>
                </a:lnTo>
                <a:lnTo>
                  <a:pt x="2504692" y="3646"/>
                </a:lnTo>
                <a:lnTo>
                  <a:pt x="2516226" y="7293"/>
                </a:lnTo>
                <a:lnTo>
                  <a:pt x="2524847" y="10939"/>
                </a:lnTo>
                <a:lnTo>
                  <a:pt x="2531922" y="14585"/>
                </a:lnTo>
                <a:lnTo>
                  <a:pt x="2537982" y="18231"/>
                </a:lnTo>
                <a:lnTo>
                  <a:pt x="2543303" y="21878"/>
                </a:lnTo>
                <a:lnTo>
                  <a:pt x="2548048" y="25524"/>
                </a:lnTo>
                <a:lnTo>
                  <a:pt x="2552324" y="29170"/>
                </a:lnTo>
                <a:lnTo>
                  <a:pt x="38028" y="29170"/>
                </a:lnTo>
                <a:lnTo>
                  <a:pt x="42305" y="25524"/>
                </a:lnTo>
                <a:lnTo>
                  <a:pt x="47050" y="21878"/>
                </a:lnTo>
                <a:lnTo>
                  <a:pt x="52370" y="18231"/>
                </a:lnTo>
                <a:lnTo>
                  <a:pt x="58430" y="14585"/>
                </a:lnTo>
                <a:lnTo>
                  <a:pt x="65505" y="10939"/>
                </a:lnTo>
                <a:lnTo>
                  <a:pt x="74127" y="7293"/>
                </a:lnTo>
                <a:lnTo>
                  <a:pt x="85660" y="3646"/>
                </a:lnTo>
                <a:close/>
              </a:path>
            </a:pathLst>
          </a:custGeom>
          <a:solidFill>
            <a:srgbClr val="C4582A"/>
          </a:solidFill>
          <a:ln/>
        </p:spPr>
        <p:txBody>
          <a:bodyPr wrap="none" rtlCol="0" anchor="t"/>
          <a:lstStyle/>
          <a:p>
            <a:pPr marL="0" indent="0">
              <a:buNone/>
            </a:pPr>
            <a:endParaRPr lang="en-US" dirty="0"/>
          </a:p>
        </p:txBody>
      </p:sp>
      <p:sp>
        <p:nvSpPr>
          <p:cNvPr id="36" name="Text 33"/>
          <p:cNvSpPr/>
          <p:nvPr/>
        </p:nvSpPr>
        <p:spPr>
          <a:xfrm>
            <a:off x="3276749" y="1587996"/>
            <a:ext cx="2590352" cy="29170"/>
          </a:xfrm>
          <a:custGeom>
            <a:avLst/>
            <a:gdLst/>
            <a:ahLst/>
            <a:cxnLst/>
            <a:rect l="l" t="t" r="r" b="b"/>
            <a:pathLst>
              <a:path w="2590352" h="29170">
                <a:moveTo>
                  <a:pt x="114300" y="0"/>
                </a:moveTo>
                <a:lnTo>
                  <a:pt x="2476052" y="0"/>
                </a:lnTo>
                <a:lnTo>
                  <a:pt x="2504692" y="3646"/>
                </a:lnTo>
                <a:lnTo>
                  <a:pt x="2516226" y="7293"/>
                </a:lnTo>
                <a:lnTo>
                  <a:pt x="2524847" y="10939"/>
                </a:lnTo>
                <a:lnTo>
                  <a:pt x="2531922" y="14585"/>
                </a:lnTo>
                <a:lnTo>
                  <a:pt x="2537982" y="18231"/>
                </a:lnTo>
                <a:lnTo>
                  <a:pt x="2543303" y="21878"/>
                </a:lnTo>
                <a:lnTo>
                  <a:pt x="2548048" y="25524"/>
                </a:lnTo>
                <a:lnTo>
                  <a:pt x="2552324" y="29170"/>
                </a:lnTo>
                <a:lnTo>
                  <a:pt x="38028" y="29170"/>
                </a:lnTo>
                <a:lnTo>
                  <a:pt x="42305" y="25524"/>
                </a:lnTo>
                <a:lnTo>
                  <a:pt x="47050" y="21878"/>
                </a:lnTo>
                <a:lnTo>
                  <a:pt x="52370" y="18231"/>
                </a:lnTo>
                <a:lnTo>
                  <a:pt x="58430" y="14585"/>
                </a:lnTo>
                <a:lnTo>
                  <a:pt x="65505" y="10939"/>
                </a:lnTo>
                <a:lnTo>
                  <a:pt x="74127" y="7293"/>
                </a:lnTo>
                <a:lnTo>
                  <a:pt x="85660" y="3646"/>
                </a:lnTo>
                <a:close/>
              </a:path>
            </a:pathLst>
          </a:custGeom>
          <a:solidFill>
            <a:srgbClr val="C4582A"/>
          </a:solidFill>
          <a:ln/>
        </p:spPr>
        <p:txBody>
          <a:bodyPr wrap="none" rtlCol="0" anchor="t"/>
          <a:lstStyle/>
          <a:p>
            <a:pPr marL="0" indent="0">
              <a:buNone/>
            </a:pPr>
            <a:endParaRPr lang="en-US" dirty="0"/>
          </a:p>
        </p:txBody>
      </p:sp>
      <p:sp>
        <p:nvSpPr>
          <p:cNvPr id="37" name="Text 34"/>
          <p:cNvSpPr/>
          <p:nvPr/>
        </p:nvSpPr>
        <p:spPr>
          <a:xfrm>
            <a:off x="6086773" y="1587996"/>
            <a:ext cx="2590505" cy="29170"/>
          </a:xfrm>
          <a:custGeom>
            <a:avLst/>
            <a:gdLst/>
            <a:ahLst/>
            <a:cxnLst/>
            <a:rect l="l" t="t" r="r" b="b"/>
            <a:pathLst>
              <a:path w="2590505" h="29170">
                <a:moveTo>
                  <a:pt x="114300" y="0"/>
                </a:moveTo>
                <a:lnTo>
                  <a:pt x="2476205" y="0"/>
                </a:lnTo>
                <a:lnTo>
                  <a:pt x="2504845" y="3646"/>
                </a:lnTo>
                <a:lnTo>
                  <a:pt x="2516378" y="7293"/>
                </a:lnTo>
                <a:lnTo>
                  <a:pt x="2525000" y="10939"/>
                </a:lnTo>
                <a:lnTo>
                  <a:pt x="2532075" y="14585"/>
                </a:lnTo>
                <a:lnTo>
                  <a:pt x="2538135" y="18231"/>
                </a:lnTo>
                <a:lnTo>
                  <a:pt x="2543455" y="21878"/>
                </a:lnTo>
                <a:lnTo>
                  <a:pt x="2548200" y="25524"/>
                </a:lnTo>
                <a:lnTo>
                  <a:pt x="2552477" y="29170"/>
                </a:lnTo>
                <a:lnTo>
                  <a:pt x="38028" y="29170"/>
                </a:lnTo>
                <a:lnTo>
                  <a:pt x="42305" y="25524"/>
                </a:lnTo>
                <a:lnTo>
                  <a:pt x="47050" y="21878"/>
                </a:lnTo>
                <a:lnTo>
                  <a:pt x="52370" y="18231"/>
                </a:lnTo>
                <a:lnTo>
                  <a:pt x="58430" y="14585"/>
                </a:lnTo>
                <a:lnTo>
                  <a:pt x="65505" y="10939"/>
                </a:lnTo>
                <a:lnTo>
                  <a:pt x="74127" y="7293"/>
                </a:lnTo>
                <a:lnTo>
                  <a:pt x="85660" y="3646"/>
                </a:lnTo>
                <a:close/>
              </a:path>
            </a:pathLst>
          </a:custGeom>
          <a:solidFill>
            <a:srgbClr val="C4582A"/>
          </a:solidFill>
          <a:ln/>
        </p:spPr>
        <p:txBody>
          <a:bodyPr wrap="none" rtlCol="0" anchor="t"/>
          <a:lstStyle/>
          <a:p>
            <a:pPr marL="0" indent="0">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F1"/>
        </a:solidFill>
        <a:effectLst/>
      </p:bgPr>
    </p:bg>
    <p:spTree>
      <p:nvGrpSpPr>
        <p:cNvPr id="1" name=""/>
        <p:cNvGrpSpPr/>
        <p:nvPr/>
      </p:nvGrpSpPr>
      <p:grpSpPr>
        <a:xfrm>
          <a:off x="0" y="0"/>
          <a:ext cx="0" cy="0"/>
          <a:chOff x="0" y="0"/>
          <a:chExt cx="0" cy="0"/>
        </a:xfrm>
      </p:grpSpPr>
      <p:sp>
        <p:nvSpPr>
          <p:cNvPr id="2" name="Text 0"/>
          <p:cNvSpPr/>
          <p:nvPr/>
        </p:nvSpPr>
        <p:spPr>
          <a:xfrm>
            <a:off x="457200" y="342900"/>
            <a:ext cx="660083" cy="628650"/>
          </a:xfrm>
          <a:prstGeom prst="rect">
            <a:avLst/>
          </a:prstGeom>
          <a:noFill/>
          <a:ln/>
        </p:spPr>
        <p:txBody>
          <a:bodyPr wrap="none" lIns="0" tIns="0" rIns="0" bIns="0" rtlCol="0" anchor="t"/>
          <a:lstStyle/>
          <a:p>
            <a:pPr marL="0" indent="0" algn="l">
              <a:lnSpc>
                <a:spcPts val="4950"/>
              </a:lnSpc>
              <a:buNone/>
            </a:pPr>
            <a:r>
              <a:rPr lang="en-US" sz="4950" b="1" dirty="0">
                <a:solidFill>
                  <a:srgbClr val="C4582A"/>
                </a:solidFill>
                <a:latin typeface="Constantia" pitchFamily="34" charset="0"/>
                <a:ea typeface="Constantia" pitchFamily="34" charset="-122"/>
                <a:cs typeface="Constantia" pitchFamily="34" charset="-120"/>
              </a:rPr>
              <a:t>36</a:t>
            </a:r>
            <a:endParaRPr lang="en-US" sz="4950" dirty="0"/>
          </a:p>
        </p:txBody>
      </p:sp>
      <p:sp>
        <p:nvSpPr>
          <p:cNvPr id="3" name="Text 1"/>
          <p:cNvSpPr/>
          <p:nvPr/>
        </p:nvSpPr>
        <p:spPr>
          <a:xfrm>
            <a:off x="1229320" y="628650"/>
            <a:ext cx="2943186" cy="298847"/>
          </a:xfrm>
          <a:prstGeom prst="rect">
            <a:avLst/>
          </a:prstGeom>
          <a:noFill/>
          <a:ln/>
        </p:spPr>
        <p:txBody>
          <a:bodyPr wrap="none" lIns="0" tIns="0" rIns="0" bIns="0" rtlCol="0" anchor="t"/>
          <a:lstStyle/>
          <a:p>
            <a:pPr marL="0" indent="0" algn="l">
              <a:lnSpc>
                <a:spcPts val="2354"/>
              </a:lnSpc>
              <a:buNone/>
            </a:pPr>
            <a:r>
              <a:rPr lang="en-US" sz="2140" b="1" dirty="0">
                <a:solidFill>
                  <a:srgbClr val="2D2520"/>
                </a:solidFill>
                <a:latin typeface="Constantia" pitchFamily="34" charset="0"/>
                <a:ea typeface="Constantia" pitchFamily="34" charset="-122"/>
                <a:cs typeface="Constantia" pitchFamily="34" charset="-120"/>
              </a:rPr>
              <a:t>Static Checks</a:t>
            </a:r>
            <a:endParaRPr lang="en-US" sz="2140" dirty="0"/>
          </a:p>
        </p:txBody>
      </p:sp>
      <p:sp>
        <p:nvSpPr>
          <p:cNvPr id="4" name="Text 2"/>
          <p:cNvSpPr/>
          <p:nvPr/>
        </p:nvSpPr>
        <p:spPr>
          <a:xfrm>
            <a:off x="1229320" y="956667"/>
            <a:ext cx="3025706" cy="182761"/>
          </a:xfrm>
          <a:prstGeom prst="rect">
            <a:avLst/>
          </a:prstGeom>
          <a:noFill/>
          <a:ln/>
        </p:spPr>
        <p:txBody>
          <a:bodyPr wrap="none" lIns="0" tIns="0" rIns="0" bIns="0" rtlCol="0" anchor="t"/>
          <a:lstStyle/>
          <a:p>
            <a:pPr marL="0" indent="0" algn="l">
              <a:lnSpc>
                <a:spcPts val="1440"/>
              </a:lnSpc>
              <a:spcBef>
                <a:spcPts val="230"/>
              </a:spcBef>
              <a:buNone/>
            </a:pPr>
            <a:r>
              <a:rPr lang="en-US" sz="960" dirty="0">
                <a:solidFill>
                  <a:srgbClr val="8A7567"/>
                </a:solidFill>
                <a:latin typeface="Corbel" pitchFamily="34" charset="0"/>
                <a:ea typeface="Corbel" pitchFamily="34" charset="-122"/>
                <a:cs typeface="Corbel" pitchFamily="34" charset="-120"/>
              </a:rPr>
              <a:t>A pipeline of safety layers — from scope to runtime</a:t>
            </a:r>
            <a:endParaRPr lang="en-US" sz="960" dirty="0"/>
          </a:p>
        </p:txBody>
      </p:sp>
      <p:sp>
        <p:nvSpPr>
          <p:cNvPr id="5" name="Text 3"/>
          <p:cNvSpPr/>
          <p:nvPr/>
        </p:nvSpPr>
        <p:spPr>
          <a:xfrm>
            <a:off x="457200" y="1638895"/>
            <a:ext cx="1729234" cy="2163217"/>
          </a:xfrm>
          <a:prstGeom prst="roundRect">
            <a:avLst>
              <a:gd name="adj" fmla="val 5802"/>
            </a:avLst>
          </a:prstGeom>
          <a:solidFill>
            <a:srgbClr val="FFF8F2"/>
          </a:solidFill>
          <a:ln w="9525">
            <a:solidFill>
              <a:srgbClr val="C4582A">
                <a:alpha val="12000"/>
              </a:srgbClr>
            </a:solidFill>
          </a:ln>
          <a:effectLst>
            <a:outerShdw blurRad="86360" dist="13970" dir="5400000" algn="bl" rotWithShape="0">
              <a:srgbClr val="2D2520">
                <a:alpha val="6000"/>
              </a:srgbClr>
            </a:outerShdw>
          </a:effectLst>
        </p:spPr>
        <p:txBody>
          <a:bodyPr wrap="square" rtlCol="0" anchor="t"/>
          <a:lstStyle/>
          <a:p>
            <a:pPr marL="0" indent="0">
              <a:buNone/>
            </a:pPr>
            <a:endParaRPr lang="en-US" dirty="0"/>
          </a:p>
        </p:txBody>
      </p:sp>
      <p:sp>
        <p:nvSpPr>
          <p:cNvPr id="6" name="Text 4"/>
          <p:cNvSpPr/>
          <p:nvPr/>
        </p:nvSpPr>
        <p:spPr>
          <a:xfrm>
            <a:off x="624185" y="1849041"/>
            <a:ext cx="314920" cy="314920"/>
          </a:xfrm>
          <a:prstGeom prst="roundRect">
            <a:avLst>
              <a:gd name="adj" fmla="val 22584"/>
            </a:avLst>
          </a:prstGeom>
          <a:solidFill>
            <a:srgbClr val="C4582A">
              <a:alpha val="10000"/>
            </a:srgbClr>
          </a:solidFill>
          <a:ln/>
        </p:spPr>
        <p:txBody>
          <a:bodyPr wrap="square" rtlCol="0" anchor="t"/>
          <a:lstStyle/>
          <a:p>
            <a:pPr marL="0" indent="0">
              <a:buNone/>
            </a:pPr>
            <a:endParaRPr lang="en-US" dirty="0"/>
          </a:p>
        </p:txBody>
      </p:sp>
      <p:pic>
        <p:nvPicPr>
          <p:cNvPr id="7"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5351" y="1940207"/>
            <a:ext cx="132588" cy="132588"/>
          </a:xfrm>
          <a:prstGeom prst="rect">
            <a:avLst/>
          </a:prstGeom>
        </p:spPr>
      </p:pic>
      <p:sp>
        <p:nvSpPr>
          <p:cNvPr id="8" name="Text 5"/>
          <p:cNvSpPr/>
          <p:nvPr/>
        </p:nvSpPr>
        <p:spPr>
          <a:xfrm>
            <a:off x="624185" y="2250281"/>
            <a:ext cx="285750" cy="314325"/>
          </a:xfrm>
          <a:prstGeom prst="ellipse">
            <a:avLst/>
          </a:prstGeom>
          <a:solidFill>
            <a:srgbClr val="C4582A"/>
          </a:solidFill>
          <a:ln/>
        </p:spPr>
        <p:txBody>
          <a:bodyPr wrap="none" lIns="0" tIns="0" rIns="0" bIns="0" rtlCol="0" anchor="ctr"/>
          <a:lstStyle/>
          <a:p>
            <a:pPr marL="0" indent="0" algn="ctr">
              <a:buNone/>
            </a:pPr>
            <a:r>
              <a:rPr lang="en-US" sz="1010" b="1" dirty="0">
                <a:solidFill>
                  <a:srgbClr val="FFFFFF"/>
                </a:solidFill>
                <a:latin typeface="Constantia" pitchFamily="34" charset="0"/>
                <a:ea typeface="Constantia" pitchFamily="34" charset="-122"/>
                <a:cs typeface="Constantia" pitchFamily="34" charset="-120"/>
              </a:rPr>
              <a:t>1</a:t>
            </a:r>
            <a:endParaRPr lang="en-US" sz="1010" dirty="0"/>
          </a:p>
        </p:txBody>
      </p:sp>
      <p:sp>
        <p:nvSpPr>
          <p:cNvPr id="9" name="Text 6"/>
          <p:cNvSpPr/>
          <p:nvPr/>
        </p:nvSpPr>
        <p:spPr>
          <a:xfrm>
            <a:off x="624185" y="2636341"/>
            <a:ext cx="1492932" cy="257770"/>
          </a:xfrm>
          <a:prstGeom prst="rect">
            <a:avLst/>
          </a:prstGeom>
          <a:noFill/>
          <a:ln/>
        </p:spPr>
        <p:txBody>
          <a:bodyPr wrap="none" lIns="0" tIns="0" rIns="0" bIns="0" rtlCol="0" anchor="t"/>
          <a:lstStyle/>
          <a:p>
            <a:pPr marL="0" indent="0" algn="l">
              <a:lnSpc>
                <a:spcPts val="2030"/>
              </a:lnSpc>
              <a:buNone/>
            </a:pPr>
            <a:r>
              <a:rPr lang="en-US" sz="2030" b="1" dirty="0">
                <a:solidFill>
                  <a:srgbClr val="C4582A"/>
                </a:solidFill>
                <a:latin typeface="Constantia" pitchFamily="34" charset="0"/>
                <a:ea typeface="Constantia" pitchFamily="34" charset="-122"/>
                <a:cs typeface="Constantia" pitchFamily="34" charset="-120"/>
              </a:rPr>
              <a:t>6</a:t>
            </a:r>
            <a:endParaRPr lang="en-US" sz="2030" dirty="0"/>
          </a:p>
        </p:txBody>
      </p:sp>
      <p:sp>
        <p:nvSpPr>
          <p:cNvPr id="10" name="Text 7"/>
          <p:cNvSpPr/>
          <p:nvPr/>
        </p:nvSpPr>
        <p:spPr>
          <a:xfrm>
            <a:off x="624185" y="2965103"/>
            <a:ext cx="1534790" cy="162967"/>
          </a:xfrm>
          <a:prstGeom prst="rect">
            <a:avLst/>
          </a:prstGeom>
          <a:noFill/>
          <a:ln/>
        </p:spPr>
        <p:txBody>
          <a:bodyPr wrap="none" lIns="0" tIns="0" rIns="0" bIns="0" rtlCol="0" anchor="t"/>
          <a:lstStyle/>
          <a:p>
            <a:pPr marL="0" indent="0" algn="l">
              <a:lnSpc>
                <a:spcPts val="1284"/>
              </a:lnSpc>
              <a:buNone/>
            </a:pPr>
            <a:r>
              <a:rPr lang="en-US" sz="1070" b="1" dirty="0">
                <a:solidFill>
                  <a:srgbClr val="2D2520"/>
                </a:solidFill>
                <a:latin typeface="Corbel" pitchFamily="34" charset="0"/>
                <a:ea typeface="Corbel" pitchFamily="34" charset="-122"/>
                <a:cs typeface="Corbel" pitchFamily="34" charset="-120"/>
              </a:rPr>
              <a:t>Scope Checks</a:t>
            </a:r>
            <a:endParaRPr lang="en-US" sz="1070" dirty="0"/>
          </a:p>
        </p:txBody>
      </p:sp>
      <p:sp>
        <p:nvSpPr>
          <p:cNvPr id="11" name="Text 8"/>
          <p:cNvSpPr/>
          <p:nvPr/>
        </p:nvSpPr>
        <p:spPr>
          <a:xfrm>
            <a:off x="624185" y="3157240"/>
            <a:ext cx="1423169" cy="487092"/>
          </a:xfrm>
          <a:prstGeom prst="rect">
            <a:avLst/>
          </a:prstGeom>
          <a:noFill/>
          <a:ln/>
        </p:spPr>
        <p:txBody>
          <a:bodyPr wrap="square" lIns="0" tIns="0" rIns="0" bIns="0" rtlCol="0" anchor="t"/>
          <a:lstStyle/>
          <a:p>
            <a:pPr marL="0" indent="0" algn="l">
              <a:lnSpc>
                <a:spcPts val="1218"/>
              </a:lnSpc>
              <a:buNone/>
            </a:pPr>
            <a:r>
              <a:rPr lang="en-US" sz="840" dirty="0">
                <a:solidFill>
                  <a:srgbClr val="8A7567"/>
                </a:solidFill>
                <a:latin typeface="Corbel" pitchFamily="34" charset="0"/>
                <a:ea typeface="Corbel" pitchFamily="34" charset="-122"/>
                <a:cs typeface="Corbel" pitchFamily="34" charset="-120"/>
              </a:rPr>
              <a:t>Duplicate names, undeclared identifiers, use-before-declaration</a:t>
            </a:r>
            <a:endParaRPr lang="en-US" sz="840" dirty="0"/>
          </a:p>
        </p:txBody>
      </p:sp>
      <p:pic>
        <p:nvPicPr>
          <p:cNvPr id="12" name="Image 1" descr="preencoded.png"/>
          <p:cNvPicPr>
            <a:picLocks noChangeAspect="1"/>
          </p:cNvPicPr>
          <p:nvPr/>
        </p:nvPicPr>
        <p:blipFill>
          <a:blip r:embed="rId5">
            <a:alphaModFix amt="35000"/>
            <a:extLst>
              <a:ext uri="{96DAC541-7B7A-43D3-8B79-37D633B846F1}">
                <asvg:svgBlip xmlns:asvg="http://schemas.microsoft.com/office/drawing/2016/SVG/main" r:embed="rId6"/>
              </a:ext>
            </a:extLst>
          </a:blip>
          <a:stretch>
            <a:fillRect/>
          </a:stretch>
        </p:blipFill>
        <p:spPr>
          <a:xfrm>
            <a:off x="2329904" y="2645271"/>
            <a:ext cx="150465" cy="150465"/>
          </a:xfrm>
          <a:prstGeom prst="rect">
            <a:avLst/>
          </a:prstGeom>
        </p:spPr>
      </p:pic>
      <p:sp>
        <p:nvSpPr>
          <p:cNvPr id="13" name="Text 9"/>
          <p:cNvSpPr/>
          <p:nvPr/>
        </p:nvSpPr>
        <p:spPr>
          <a:xfrm>
            <a:off x="2623840" y="1638895"/>
            <a:ext cx="1729383" cy="2163217"/>
          </a:xfrm>
          <a:prstGeom prst="roundRect">
            <a:avLst>
              <a:gd name="adj" fmla="val 5801"/>
            </a:avLst>
          </a:prstGeom>
          <a:solidFill>
            <a:srgbClr val="FFF8F2"/>
          </a:solidFill>
          <a:ln w="9525">
            <a:solidFill>
              <a:srgbClr val="C4582A">
                <a:alpha val="12000"/>
              </a:srgbClr>
            </a:solidFill>
          </a:ln>
          <a:effectLst>
            <a:outerShdw blurRad="86360" dist="13970" dir="5400000" algn="bl" rotWithShape="0">
              <a:srgbClr val="2D2520">
                <a:alpha val="6000"/>
              </a:srgbClr>
            </a:outerShdw>
          </a:effectLst>
        </p:spPr>
        <p:txBody>
          <a:bodyPr wrap="square" rtlCol="0" anchor="t"/>
          <a:lstStyle/>
          <a:p>
            <a:pPr marL="0" indent="0">
              <a:buNone/>
            </a:pPr>
            <a:endParaRPr lang="en-US" dirty="0"/>
          </a:p>
        </p:txBody>
      </p:sp>
      <p:sp>
        <p:nvSpPr>
          <p:cNvPr id="14" name="Text 10"/>
          <p:cNvSpPr/>
          <p:nvPr/>
        </p:nvSpPr>
        <p:spPr>
          <a:xfrm>
            <a:off x="2790825" y="1849041"/>
            <a:ext cx="314920" cy="314920"/>
          </a:xfrm>
          <a:prstGeom prst="roundRect">
            <a:avLst>
              <a:gd name="adj" fmla="val 22584"/>
            </a:avLst>
          </a:prstGeom>
          <a:solidFill>
            <a:srgbClr val="C4582A">
              <a:alpha val="10000"/>
            </a:srgbClr>
          </a:solidFill>
          <a:ln/>
        </p:spPr>
        <p:txBody>
          <a:bodyPr wrap="square" rtlCol="0" anchor="t"/>
          <a:lstStyle/>
          <a:p>
            <a:pPr marL="0" indent="0">
              <a:buNone/>
            </a:pPr>
            <a:endParaRPr lang="en-US" dirty="0"/>
          </a:p>
        </p:txBody>
      </p:sp>
      <p:pic>
        <p:nvPicPr>
          <p:cNvPr id="1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881991" y="1940207"/>
            <a:ext cx="132588" cy="132588"/>
          </a:xfrm>
          <a:prstGeom prst="rect">
            <a:avLst/>
          </a:prstGeom>
        </p:spPr>
      </p:pic>
      <p:sp>
        <p:nvSpPr>
          <p:cNvPr id="16" name="Text 11"/>
          <p:cNvSpPr/>
          <p:nvPr/>
        </p:nvSpPr>
        <p:spPr>
          <a:xfrm>
            <a:off x="2790825" y="2250281"/>
            <a:ext cx="285750" cy="314325"/>
          </a:xfrm>
          <a:prstGeom prst="ellipse">
            <a:avLst/>
          </a:prstGeom>
          <a:solidFill>
            <a:srgbClr val="C4582A"/>
          </a:solidFill>
          <a:ln/>
        </p:spPr>
        <p:txBody>
          <a:bodyPr wrap="none" lIns="0" tIns="0" rIns="0" bIns="0" rtlCol="0" anchor="ctr"/>
          <a:lstStyle/>
          <a:p>
            <a:pPr marL="0" indent="0" algn="ctr">
              <a:buNone/>
            </a:pPr>
            <a:r>
              <a:rPr lang="en-US" sz="1010" b="1" dirty="0">
                <a:solidFill>
                  <a:srgbClr val="FFFFFF"/>
                </a:solidFill>
                <a:latin typeface="Constantia" pitchFamily="34" charset="0"/>
                <a:ea typeface="Constantia" pitchFamily="34" charset="-122"/>
                <a:cs typeface="Constantia" pitchFamily="34" charset="-120"/>
              </a:rPr>
              <a:t>2</a:t>
            </a:r>
            <a:endParaRPr lang="en-US" sz="1010" dirty="0"/>
          </a:p>
        </p:txBody>
      </p:sp>
      <p:sp>
        <p:nvSpPr>
          <p:cNvPr id="17" name="Text 12"/>
          <p:cNvSpPr/>
          <p:nvPr/>
        </p:nvSpPr>
        <p:spPr>
          <a:xfrm>
            <a:off x="2790825" y="2636341"/>
            <a:ext cx="1493091" cy="257770"/>
          </a:xfrm>
          <a:prstGeom prst="rect">
            <a:avLst/>
          </a:prstGeom>
          <a:noFill/>
          <a:ln/>
        </p:spPr>
        <p:txBody>
          <a:bodyPr wrap="none" lIns="0" tIns="0" rIns="0" bIns="0" rtlCol="0" anchor="t"/>
          <a:lstStyle/>
          <a:p>
            <a:pPr marL="0" indent="0" algn="l">
              <a:lnSpc>
                <a:spcPts val="2030"/>
              </a:lnSpc>
              <a:buNone/>
            </a:pPr>
            <a:r>
              <a:rPr lang="en-US" sz="2030" b="1" dirty="0">
                <a:solidFill>
                  <a:srgbClr val="C4582A"/>
                </a:solidFill>
                <a:latin typeface="Constantia" pitchFamily="34" charset="0"/>
                <a:ea typeface="Constantia" pitchFamily="34" charset="-122"/>
                <a:cs typeface="Constantia" pitchFamily="34" charset="-120"/>
              </a:rPr>
              <a:t>18</a:t>
            </a:r>
            <a:endParaRPr lang="en-US" sz="2030" dirty="0"/>
          </a:p>
        </p:txBody>
      </p:sp>
      <p:sp>
        <p:nvSpPr>
          <p:cNvPr id="18" name="Text 13"/>
          <p:cNvSpPr/>
          <p:nvPr/>
        </p:nvSpPr>
        <p:spPr>
          <a:xfrm>
            <a:off x="2790825" y="2965103"/>
            <a:ext cx="1534954" cy="162967"/>
          </a:xfrm>
          <a:prstGeom prst="rect">
            <a:avLst/>
          </a:prstGeom>
          <a:noFill/>
          <a:ln/>
        </p:spPr>
        <p:txBody>
          <a:bodyPr wrap="none" lIns="0" tIns="0" rIns="0" bIns="0" rtlCol="0" anchor="t"/>
          <a:lstStyle/>
          <a:p>
            <a:pPr marL="0" indent="0" algn="l">
              <a:lnSpc>
                <a:spcPts val="1284"/>
              </a:lnSpc>
              <a:buNone/>
            </a:pPr>
            <a:r>
              <a:rPr lang="en-US" sz="1070" b="1" dirty="0">
                <a:solidFill>
                  <a:srgbClr val="2D2520"/>
                </a:solidFill>
                <a:latin typeface="Corbel" pitchFamily="34" charset="0"/>
                <a:ea typeface="Corbel" pitchFamily="34" charset="-122"/>
                <a:cs typeface="Corbel" pitchFamily="34" charset="-120"/>
              </a:rPr>
              <a:t>Type Checks</a:t>
            </a:r>
            <a:endParaRPr lang="en-US" sz="1070" dirty="0"/>
          </a:p>
        </p:txBody>
      </p:sp>
      <p:sp>
        <p:nvSpPr>
          <p:cNvPr id="19" name="Text 14"/>
          <p:cNvSpPr/>
          <p:nvPr/>
        </p:nvSpPr>
        <p:spPr>
          <a:xfrm>
            <a:off x="2790825" y="3157240"/>
            <a:ext cx="1423321" cy="487092"/>
          </a:xfrm>
          <a:prstGeom prst="rect">
            <a:avLst/>
          </a:prstGeom>
          <a:noFill/>
          <a:ln/>
        </p:spPr>
        <p:txBody>
          <a:bodyPr wrap="square" lIns="0" tIns="0" rIns="0" bIns="0" rtlCol="0" anchor="t"/>
          <a:lstStyle/>
          <a:p>
            <a:pPr marL="0" indent="0" algn="l">
              <a:lnSpc>
                <a:spcPts val="1218"/>
              </a:lnSpc>
              <a:buNone/>
            </a:pPr>
            <a:r>
              <a:rPr lang="en-US" sz="840" dirty="0">
                <a:solidFill>
                  <a:srgbClr val="8A7567"/>
                </a:solidFill>
                <a:latin typeface="Corbel" pitchFamily="34" charset="0"/>
                <a:ea typeface="Corbel" pitchFamily="34" charset="-122"/>
                <a:cs typeface="Corbel" pitchFamily="34" charset="-120"/>
              </a:rPr>
              <a:t>Unit dimension mismatches, incompatible operations, type annotation verification</a:t>
            </a:r>
            <a:endParaRPr lang="en-US" sz="840" dirty="0"/>
          </a:p>
        </p:txBody>
      </p:sp>
      <p:pic>
        <p:nvPicPr>
          <p:cNvPr id="20" name="Image 3" descr="preencoded.png"/>
          <p:cNvPicPr>
            <a:picLocks noChangeAspect="1"/>
          </p:cNvPicPr>
          <p:nvPr/>
        </p:nvPicPr>
        <p:blipFill>
          <a:blip r:embed="rId5">
            <a:alphaModFix amt="35000"/>
            <a:extLst>
              <a:ext uri="{96DAC541-7B7A-43D3-8B79-37D633B846F1}">
                <asvg:svgBlip xmlns:asvg="http://schemas.microsoft.com/office/drawing/2016/SVG/main" r:embed="rId9"/>
              </a:ext>
            </a:extLst>
          </a:blip>
          <a:stretch>
            <a:fillRect/>
          </a:stretch>
        </p:blipFill>
        <p:spPr>
          <a:xfrm>
            <a:off x="4496693" y="2645271"/>
            <a:ext cx="150465" cy="150465"/>
          </a:xfrm>
          <a:prstGeom prst="rect">
            <a:avLst/>
          </a:prstGeom>
        </p:spPr>
      </p:pic>
      <p:sp>
        <p:nvSpPr>
          <p:cNvPr id="21" name="Text 15"/>
          <p:cNvSpPr/>
          <p:nvPr/>
        </p:nvSpPr>
        <p:spPr>
          <a:xfrm>
            <a:off x="4790629" y="1638895"/>
            <a:ext cx="1729383" cy="2163217"/>
          </a:xfrm>
          <a:prstGeom prst="roundRect">
            <a:avLst>
              <a:gd name="adj" fmla="val 5801"/>
            </a:avLst>
          </a:prstGeom>
          <a:solidFill>
            <a:srgbClr val="FFF8F2"/>
          </a:solidFill>
          <a:ln w="9525">
            <a:solidFill>
              <a:srgbClr val="C4582A">
                <a:alpha val="12000"/>
              </a:srgbClr>
            </a:solidFill>
          </a:ln>
          <a:effectLst>
            <a:outerShdw blurRad="86360" dist="13970" dir="5400000" algn="bl" rotWithShape="0">
              <a:srgbClr val="2D2520">
                <a:alpha val="6000"/>
              </a:srgbClr>
            </a:outerShdw>
          </a:effectLst>
        </p:spPr>
        <p:txBody>
          <a:bodyPr wrap="square" rtlCol="0" anchor="t"/>
          <a:lstStyle/>
          <a:p>
            <a:pPr marL="0" indent="0">
              <a:buNone/>
            </a:pPr>
            <a:endParaRPr lang="en-US" dirty="0"/>
          </a:p>
        </p:txBody>
      </p:sp>
      <p:sp>
        <p:nvSpPr>
          <p:cNvPr id="22" name="Text 16"/>
          <p:cNvSpPr/>
          <p:nvPr/>
        </p:nvSpPr>
        <p:spPr>
          <a:xfrm>
            <a:off x="4957614" y="1849041"/>
            <a:ext cx="314920" cy="314920"/>
          </a:xfrm>
          <a:prstGeom prst="roundRect">
            <a:avLst>
              <a:gd name="adj" fmla="val 22584"/>
            </a:avLst>
          </a:prstGeom>
          <a:solidFill>
            <a:srgbClr val="C4582A">
              <a:alpha val="10000"/>
            </a:srgbClr>
          </a:solidFill>
          <a:ln/>
        </p:spPr>
        <p:txBody>
          <a:bodyPr wrap="square" rtlCol="0" anchor="t"/>
          <a:lstStyle/>
          <a:p>
            <a:pPr marL="0" indent="0">
              <a:buNone/>
            </a:pPr>
            <a:endParaRPr lang="en-US" dirty="0"/>
          </a:p>
        </p:txBody>
      </p:sp>
      <p:pic>
        <p:nvPicPr>
          <p:cNvPr id="23" name="Image 4"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048780" y="1940207"/>
            <a:ext cx="132588" cy="132588"/>
          </a:xfrm>
          <a:prstGeom prst="rect">
            <a:avLst/>
          </a:prstGeom>
        </p:spPr>
      </p:pic>
      <p:sp>
        <p:nvSpPr>
          <p:cNvPr id="24" name="Text 17"/>
          <p:cNvSpPr/>
          <p:nvPr/>
        </p:nvSpPr>
        <p:spPr>
          <a:xfrm>
            <a:off x="4957614" y="2250281"/>
            <a:ext cx="285750" cy="314325"/>
          </a:xfrm>
          <a:prstGeom prst="ellipse">
            <a:avLst/>
          </a:prstGeom>
          <a:solidFill>
            <a:srgbClr val="C4582A"/>
          </a:solidFill>
          <a:ln/>
        </p:spPr>
        <p:txBody>
          <a:bodyPr wrap="none" lIns="0" tIns="0" rIns="0" bIns="0" rtlCol="0" anchor="ctr"/>
          <a:lstStyle/>
          <a:p>
            <a:pPr marL="0" indent="0" algn="ctr">
              <a:buNone/>
            </a:pPr>
            <a:r>
              <a:rPr lang="en-US" sz="1010" b="1" dirty="0">
                <a:solidFill>
                  <a:srgbClr val="FFFFFF"/>
                </a:solidFill>
                <a:latin typeface="Constantia" pitchFamily="34" charset="0"/>
                <a:ea typeface="Constantia" pitchFamily="34" charset="-122"/>
                <a:cs typeface="Constantia" pitchFamily="34" charset="-120"/>
              </a:rPr>
              <a:t>3</a:t>
            </a:r>
            <a:endParaRPr lang="en-US" sz="1010" dirty="0"/>
          </a:p>
        </p:txBody>
      </p:sp>
      <p:sp>
        <p:nvSpPr>
          <p:cNvPr id="25" name="Text 18"/>
          <p:cNvSpPr/>
          <p:nvPr/>
        </p:nvSpPr>
        <p:spPr>
          <a:xfrm>
            <a:off x="4957614" y="2636341"/>
            <a:ext cx="1493091" cy="257770"/>
          </a:xfrm>
          <a:prstGeom prst="rect">
            <a:avLst/>
          </a:prstGeom>
          <a:noFill/>
          <a:ln/>
        </p:spPr>
        <p:txBody>
          <a:bodyPr wrap="none" lIns="0" tIns="0" rIns="0" bIns="0" rtlCol="0" anchor="t"/>
          <a:lstStyle/>
          <a:p>
            <a:pPr marL="0" indent="0" algn="l">
              <a:lnSpc>
                <a:spcPts val="2030"/>
              </a:lnSpc>
              <a:buNone/>
            </a:pPr>
            <a:r>
              <a:rPr lang="en-US" sz="2030" b="1" dirty="0">
                <a:solidFill>
                  <a:srgbClr val="C4582A"/>
                </a:solidFill>
                <a:latin typeface="Constantia" pitchFamily="34" charset="0"/>
                <a:ea typeface="Constantia" pitchFamily="34" charset="-122"/>
                <a:cs typeface="Constantia" pitchFamily="34" charset="-120"/>
              </a:rPr>
              <a:t>5</a:t>
            </a:r>
            <a:endParaRPr lang="en-US" sz="2030" dirty="0"/>
          </a:p>
        </p:txBody>
      </p:sp>
      <p:sp>
        <p:nvSpPr>
          <p:cNvPr id="26" name="Text 19"/>
          <p:cNvSpPr/>
          <p:nvPr/>
        </p:nvSpPr>
        <p:spPr>
          <a:xfrm>
            <a:off x="4957614" y="2965103"/>
            <a:ext cx="1534954" cy="162967"/>
          </a:xfrm>
          <a:prstGeom prst="rect">
            <a:avLst/>
          </a:prstGeom>
          <a:noFill/>
          <a:ln/>
        </p:spPr>
        <p:txBody>
          <a:bodyPr wrap="none" lIns="0" tIns="0" rIns="0" bIns="0" rtlCol="0" anchor="t"/>
          <a:lstStyle/>
          <a:p>
            <a:pPr marL="0" indent="0" algn="l">
              <a:lnSpc>
                <a:spcPts val="1284"/>
              </a:lnSpc>
              <a:buNone/>
            </a:pPr>
            <a:r>
              <a:rPr lang="en-US" sz="1070" b="1" dirty="0">
                <a:solidFill>
                  <a:srgbClr val="2D2520"/>
                </a:solidFill>
                <a:latin typeface="Corbel" pitchFamily="34" charset="0"/>
                <a:ea typeface="Corbel" pitchFamily="34" charset="-122"/>
                <a:cs typeface="Corbel" pitchFamily="34" charset="-120"/>
              </a:rPr>
              <a:t>Control Flow</a:t>
            </a:r>
            <a:endParaRPr lang="en-US" sz="1070" dirty="0"/>
          </a:p>
        </p:txBody>
      </p:sp>
      <p:sp>
        <p:nvSpPr>
          <p:cNvPr id="27" name="Text 20"/>
          <p:cNvSpPr/>
          <p:nvPr/>
        </p:nvSpPr>
        <p:spPr>
          <a:xfrm>
            <a:off x="4957614" y="3157240"/>
            <a:ext cx="1423321" cy="487092"/>
          </a:xfrm>
          <a:prstGeom prst="rect">
            <a:avLst/>
          </a:prstGeom>
          <a:noFill/>
          <a:ln/>
        </p:spPr>
        <p:txBody>
          <a:bodyPr wrap="square" lIns="0" tIns="0" rIns="0" bIns="0" rtlCol="0" anchor="t"/>
          <a:lstStyle/>
          <a:p>
            <a:pPr marL="0" indent="0" algn="l">
              <a:lnSpc>
                <a:spcPts val="1218"/>
              </a:lnSpc>
              <a:buNone/>
            </a:pPr>
            <a:r>
              <a:rPr lang="en-US" sz="840" dirty="0">
                <a:solidFill>
                  <a:srgbClr val="8A7567"/>
                </a:solidFill>
                <a:latin typeface="Corbel" pitchFamily="34" charset="0"/>
                <a:ea typeface="Corbel" pitchFamily="34" charset="-122"/>
                <a:cs typeface="Corbel" pitchFamily="34" charset="-120"/>
              </a:rPr>
              <a:t>Missing serve on all paths, toss/skip outside loops, return type mismatches</a:t>
            </a:r>
            <a:endParaRPr lang="en-US" sz="840" dirty="0"/>
          </a:p>
        </p:txBody>
      </p:sp>
      <p:pic>
        <p:nvPicPr>
          <p:cNvPr id="28" name="Image 5" descr="preencoded.png"/>
          <p:cNvPicPr>
            <a:picLocks noChangeAspect="1"/>
          </p:cNvPicPr>
          <p:nvPr/>
        </p:nvPicPr>
        <p:blipFill>
          <a:blip r:embed="rId5">
            <a:alphaModFix amt="35000"/>
            <a:extLst>
              <a:ext uri="{96DAC541-7B7A-43D3-8B79-37D633B846F1}">
                <asvg:svgBlip xmlns:asvg="http://schemas.microsoft.com/office/drawing/2016/SVG/main" r:embed="rId12"/>
              </a:ext>
            </a:extLst>
          </a:blip>
          <a:stretch>
            <a:fillRect/>
          </a:stretch>
        </p:blipFill>
        <p:spPr>
          <a:xfrm>
            <a:off x="6663482" y="2645271"/>
            <a:ext cx="150465" cy="150465"/>
          </a:xfrm>
          <a:prstGeom prst="rect">
            <a:avLst/>
          </a:prstGeom>
        </p:spPr>
      </p:pic>
      <p:sp>
        <p:nvSpPr>
          <p:cNvPr id="29" name="Text 21"/>
          <p:cNvSpPr/>
          <p:nvPr/>
        </p:nvSpPr>
        <p:spPr>
          <a:xfrm>
            <a:off x="6957417" y="1638895"/>
            <a:ext cx="1729383" cy="2163217"/>
          </a:xfrm>
          <a:prstGeom prst="roundRect">
            <a:avLst>
              <a:gd name="adj" fmla="val 5801"/>
            </a:avLst>
          </a:prstGeom>
          <a:solidFill>
            <a:srgbClr val="FFF8F2"/>
          </a:solidFill>
          <a:ln w="9525">
            <a:solidFill>
              <a:srgbClr val="C4582A">
                <a:alpha val="12000"/>
              </a:srgbClr>
            </a:solidFill>
          </a:ln>
          <a:effectLst>
            <a:outerShdw blurRad="86360" dist="13970" dir="5400000" algn="bl" rotWithShape="0">
              <a:srgbClr val="2D2520">
                <a:alpha val="6000"/>
              </a:srgbClr>
            </a:outerShdw>
          </a:effectLst>
        </p:spPr>
        <p:txBody>
          <a:bodyPr wrap="square" rtlCol="0" anchor="t"/>
          <a:lstStyle/>
          <a:p>
            <a:pPr marL="0" indent="0">
              <a:buNone/>
            </a:pPr>
            <a:endParaRPr lang="en-US" dirty="0"/>
          </a:p>
        </p:txBody>
      </p:sp>
      <p:sp>
        <p:nvSpPr>
          <p:cNvPr id="30" name="Text 22"/>
          <p:cNvSpPr/>
          <p:nvPr/>
        </p:nvSpPr>
        <p:spPr>
          <a:xfrm>
            <a:off x="7124402" y="1849041"/>
            <a:ext cx="314920" cy="314920"/>
          </a:xfrm>
          <a:prstGeom prst="roundRect">
            <a:avLst>
              <a:gd name="adj" fmla="val 22584"/>
            </a:avLst>
          </a:prstGeom>
          <a:solidFill>
            <a:srgbClr val="C4582A">
              <a:alpha val="10000"/>
            </a:srgbClr>
          </a:solidFill>
          <a:ln/>
        </p:spPr>
        <p:txBody>
          <a:bodyPr wrap="square" rtlCol="0" anchor="t"/>
          <a:lstStyle/>
          <a:p>
            <a:pPr marL="0" indent="0">
              <a:buNone/>
            </a:pPr>
            <a:endParaRPr lang="en-US" dirty="0"/>
          </a:p>
        </p:txBody>
      </p:sp>
      <p:pic>
        <p:nvPicPr>
          <p:cNvPr id="31" name="Image 6"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215569" y="1940207"/>
            <a:ext cx="132588" cy="132588"/>
          </a:xfrm>
          <a:prstGeom prst="rect">
            <a:avLst/>
          </a:prstGeom>
        </p:spPr>
      </p:pic>
      <p:sp>
        <p:nvSpPr>
          <p:cNvPr id="32" name="Text 23"/>
          <p:cNvSpPr/>
          <p:nvPr/>
        </p:nvSpPr>
        <p:spPr>
          <a:xfrm>
            <a:off x="7124402" y="2250281"/>
            <a:ext cx="285750" cy="314325"/>
          </a:xfrm>
          <a:prstGeom prst="ellipse">
            <a:avLst/>
          </a:prstGeom>
          <a:solidFill>
            <a:srgbClr val="C4582A"/>
          </a:solidFill>
          <a:ln/>
        </p:spPr>
        <p:txBody>
          <a:bodyPr wrap="none" lIns="0" tIns="0" rIns="0" bIns="0" rtlCol="0" anchor="ctr"/>
          <a:lstStyle/>
          <a:p>
            <a:pPr marL="0" indent="0" algn="ctr">
              <a:buNone/>
            </a:pPr>
            <a:r>
              <a:rPr lang="en-US" sz="1010" b="1" dirty="0">
                <a:solidFill>
                  <a:srgbClr val="FFFFFF"/>
                </a:solidFill>
                <a:latin typeface="Constantia" pitchFamily="34" charset="0"/>
                <a:ea typeface="Constantia" pitchFamily="34" charset="-122"/>
                <a:cs typeface="Constantia" pitchFamily="34" charset="-120"/>
              </a:rPr>
              <a:t>4</a:t>
            </a:r>
            <a:endParaRPr lang="en-US" sz="1010" dirty="0"/>
          </a:p>
        </p:txBody>
      </p:sp>
      <p:sp>
        <p:nvSpPr>
          <p:cNvPr id="33" name="Text 24"/>
          <p:cNvSpPr/>
          <p:nvPr/>
        </p:nvSpPr>
        <p:spPr>
          <a:xfrm>
            <a:off x="7124402" y="2636341"/>
            <a:ext cx="1493091" cy="257770"/>
          </a:xfrm>
          <a:prstGeom prst="rect">
            <a:avLst/>
          </a:prstGeom>
          <a:noFill/>
          <a:ln/>
        </p:spPr>
        <p:txBody>
          <a:bodyPr wrap="none" lIns="0" tIns="0" rIns="0" bIns="0" rtlCol="0" anchor="t"/>
          <a:lstStyle/>
          <a:p>
            <a:pPr marL="0" indent="0" algn="l">
              <a:lnSpc>
                <a:spcPts val="2030"/>
              </a:lnSpc>
              <a:buNone/>
            </a:pPr>
            <a:r>
              <a:rPr lang="en-US" sz="2030" b="1" dirty="0">
                <a:solidFill>
                  <a:srgbClr val="C4582A"/>
                </a:solidFill>
                <a:latin typeface="Constantia" pitchFamily="34" charset="0"/>
                <a:ea typeface="Constantia" pitchFamily="34" charset="-122"/>
                <a:cs typeface="Constantia" pitchFamily="34" charset="-120"/>
              </a:rPr>
              <a:t>7</a:t>
            </a:r>
            <a:endParaRPr lang="en-US" sz="2030" dirty="0"/>
          </a:p>
        </p:txBody>
      </p:sp>
      <p:sp>
        <p:nvSpPr>
          <p:cNvPr id="34" name="Text 25"/>
          <p:cNvSpPr/>
          <p:nvPr/>
        </p:nvSpPr>
        <p:spPr>
          <a:xfrm>
            <a:off x="7124402" y="2965103"/>
            <a:ext cx="1534954" cy="162967"/>
          </a:xfrm>
          <a:prstGeom prst="rect">
            <a:avLst/>
          </a:prstGeom>
          <a:noFill/>
          <a:ln/>
        </p:spPr>
        <p:txBody>
          <a:bodyPr wrap="none" lIns="0" tIns="0" rIns="0" bIns="0" rtlCol="0" anchor="t"/>
          <a:lstStyle/>
          <a:p>
            <a:pPr marL="0" indent="0" algn="l">
              <a:lnSpc>
                <a:spcPts val="1284"/>
              </a:lnSpc>
              <a:buNone/>
            </a:pPr>
            <a:r>
              <a:rPr lang="en-US" sz="1070" b="1" dirty="0">
                <a:solidFill>
                  <a:srgbClr val="2D2520"/>
                </a:solidFill>
                <a:latin typeface="Corbel" pitchFamily="34" charset="0"/>
                <a:ea typeface="Corbel" pitchFamily="34" charset="-122"/>
                <a:cs typeface="Corbel" pitchFamily="34" charset="-120"/>
              </a:rPr>
              <a:t>Access &amp; Calls</a:t>
            </a:r>
            <a:endParaRPr lang="en-US" sz="1070" dirty="0"/>
          </a:p>
        </p:txBody>
      </p:sp>
      <p:sp>
        <p:nvSpPr>
          <p:cNvPr id="35" name="Text 26"/>
          <p:cNvSpPr/>
          <p:nvPr/>
        </p:nvSpPr>
        <p:spPr>
          <a:xfrm>
            <a:off x="7124402" y="3157240"/>
            <a:ext cx="1423321" cy="487092"/>
          </a:xfrm>
          <a:prstGeom prst="rect">
            <a:avLst/>
          </a:prstGeom>
          <a:noFill/>
          <a:ln/>
        </p:spPr>
        <p:txBody>
          <a:bodyPr wrap="square" lIns="0" tIns="0" rIns="0" bIns="0" rtlCol="0" anchor="t"/>
          <a:lstStyle/>
          <a:p>
            <a:pPr marL="0" indent="0" algn="l">
              <a:lnSpc>
                <a:spcPts val="1218"/>
              </a:lnSpc>
              <a:buNone/>
            </a:pPr>
            <a:r>
              <a:rPr lang="en-US" sz="840" dirty="0">
                <a:solidFill>
                  <a:srgbClr val="8A7567"/>
                </a:solidFill>
                <a:latin typeface="Corbel" pitchFamily="34" charset="0"/>
                <a:ea typeface="Corbel" pitchFamily="34" charset="-122"/>
                <a:cs typeface="Corbel" pitchFamily="34" charset="-120"/>
              </a:rPr>
              <a:t>Immutable assignment, wrong argument count/type, field validation</a:t>
            </a:r>
            <a:endParaRPr lang="en-US" sz="840" dirty="0"/>
          </a:p>
        </p:txBody>
      </p:sp>
      <p:sp>
        <p:nvSpPr>
          <p:cNvPr id="36" name="Text 27"/>
          <p:cNvSpPr/>
          <p:nvPr/>
        </p:nvSpPr>
        <p:spPr>
          <a:xfrm>
            <a:off x="457200" y="4445198"/>
            <a:ext cx="8394192" cy="355402"/>
          </a:xfrm>
          <a:prstGeom prst="rect">
            <a:avLst/>
          </a:prstGeom>
          <a:gradFill rotWithShape="1">
            <a:gsLst>
              <a:gs pos="0">
                <a:srgbClr val="C4582A">
                  <a:alpha val="8000"/>
                </a:srgbClr>
              </a:gs>
              <a:gs pos="100000">
                <a:srgbClr val="C4582A">
                  <a:alpha val="3000"/>
                </a:srgbClr>
              </a:gs>
            </a:gsLst>
            <a:lin ang="0" scaled="1"/>
          </a:gradFill>
          <a:ln/>
        </p:spPr>
        <p:txBody>
          <a:bodyPr wrap="none" lIns="143510" tIns="86360" rIns="143510" bIns="86360" rtlCol="0" anchor="t"/>
          <a:lstStyle/>
          <a:p>
            <a:pPr marL="0" indent="0" algn="l">
              <a:buNone/>
            </a:pPr>
            <a:r>
              <a:rPr lang="en-US" sz="960" b="1" dirty="0">
                <a:solidFill>
                  <a:srgbClr val="2D2520"/>
                </a:solidFill>
                <a:latin typeface="Constantia" pitchFamily="34" charset="0"/>
                <a:ea typeface="Constantia" pitchFamily="34" charset="-122"/>
                <a:cs typeface="Constantia" pitchFamily="34" charset="-120"/>
              </a:rPr>
              <a:t>All checked before a single line of JavaScript is emitted.</a:t>
            </a:r>
            <a:endParaRPr lang="en-US" sz="960" dirty="0"/>
          </a:p>
        </p:txBody>
      </p:sp>
      <p:sp>
        <p:nvSpPr>
          <p:cNvPr id="37" name="Text 28"/>
          <p:cNvSpPr/>
          <p:nvPr/>
        </p:nvSpPr>
        <p:spPr>
          <a:xfrm>
            <a:off x="457200" y="4445198"/>
            <a:ext cx="19050" cy="355402"/>
          </a:xfrm>
          <a:prstGeom prst="rect">
            <a:avLst/>
          </a:prstGeom>
          <a:solidFill>
            <a:srgbClr val="C4582A"/>
          </a:solidFill>
          <a:ln/>
        </p:spPr>
        <p:txBody>
          <a:bodyPr wrap="square" rtlCol="0" anchor="t"/>
          <a:lstStyle/>
          <a:p>
            <a:pPr marL="0" indent="0">
              <a:buNone/>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F1"/>
        </a:solidFill>
        <a:effectLst/>
      </p:bgPr>
    </p:bg>
    <p:spTree>
      <p:nvGrpSpPr>
        <p:cNvPr id="1" name=""/>
        <p:cNvGrpSpPr/>
        <p:nvPr/>
      </p:nvGrpSpPr>
      <p:grpSpPr>
        <a:xfrm>
          <a:off x="0" y="0"/>
          <a:ext cx="0" cy="0"/>
          <a:chOff x="0" y="0"/>
          <a:chExt cx="0" cy="0"/>
        </a:xfrm>
      </p:grpSpPr>
      <p:sp>
        <p:nvSpPr>
          <p:cNvPr id="2" name="Text 0"/>
          <p:cNvSpPr/>
          <p:nvPr/>
        </p:nvSpPr>
        <p:spPr>
          <a:xfrm>
            <a:off x="169164" y="342900"/>
            <a:ext cx="8805672" cy="449610"/>
          </a:xfrm>
          <a:prstGeom prst="rect">
            <a:avLst/>
          </a:prstGeom>
          <a:noFill/>
          <a:ln/>
        </p:spPr>
        <p:txBody>
          <a:bodyPr wrap="none" lIns="0" tIns="0" rIns="0" bIns="0" rtlCol="0" anchor="t"/>
          <a:lstStyle/>
          <a:p>
            <a:pPr marL="0" indent="0" algn="ctr">
              <a:lnSpc>
                <a:spcPts val="3540"/>
              </a:lnSpc>
              <a:buNone/>
            </a:pPr>
            <a:r>
              <a:rPr lang="en-US" sz="2360" b="1" kern="0" spc="-30" dirty="0">
                <a:solidFill>
                  <a:srgbClr val="2D2520"/>
                </a:solidFill>
                <a:latin typeface="Constantia" pitchFamily="34" charset="0"/>
                <a:ea typeface="Constantia" pitchFamily="34" charset="-122"/>
                <a:cs typeface="Constantia" pitchFamily="34" charset="-120"/>
              </a:rPr>
              <a:t>Under the Hood</a:t>
            </a:r>
            <a:endParaRPr lang="en-US" sz="2360" dirty="0"/>
          </a:p>
        </p:txBody>
      </p:sp>
      <p:sp>
        <p:nvSpPr>
          <p:cNvPr id="3" name="Text 1"/>
          <p:cNvSpPr/>
          <p:nvPr/>
        </p:nvSpPr>
        <p:spPr>
          <a:xfrm>
            <a:off x="45720" y="849660"/>
            <a:ext cx="9052560" cy="227856"/>
          </a:xfrm>
          <a:prstGeom prst="rect">
            <a:avLst/>
          </a:prstGeom>
          <a:noFill/>
          <a:ln/>
        </p:spPr>
        <p:txBody>
          <a:bodyPr wrap="none" lIns="0" tIns="0" rIns="0" bIns="0" rtlCol="0" anchor="t"/>
          <a:lstStyle/>
          <a:p>
            <a:pPr marL="0" indent="0" algn="ctr">
              <a:lnSpc>
                <a:spcPts val="1440"/>
              </a:lnSpc>
              <a:spcBef>
                <a:spcPts val="450"/>
              </a:spcBef>
              <a:buNone/>
            </a:pPr>
            <a:r>
              <a:rPr lang="en-US" sz="960" dirty="0">
                <a:solidFill>
                  <a:srgbClr val="8A7567"/>
                </a:solidFill>
                <a:latin typeface="Corbel" pitchFamily="34" charset="0"/>
                <a:ea typeface="Corbel" pitchFamily="34" charset="-122"/>
                <a:cs typeface="Corbel" pitchFamily="34" charset="-120"/>
              </a:rPr>
              <a:t>The Fling compiler pipeline — from </a:t>
            </a:r>
            <a:r>
              <a:rPr lang="en-US" sz="790" b="1" dirty="0">
                <a:solidFill>
                  <a:srgbClr val="C4582A"/>
                </a:solidFill>
                <a:highlight>
                  <a:srgbClr val="C4582A">
                    <a:alpha val="8000"/>
                  </a:srgbClr>
                </a:highlight>
                <a:latin typeface="Consolas" pitchFamily="34" charset="0"/>
                <a:ea typeface="Consolas" pitchFamily="34" charset="-122"/>
                <a:cs typeface="Consolas" pitchFamily="34" charset="-120"/>
              </a:rPr>
              <a:t>.fling</a:t>
            </a:r>
            <a:r>
              <a:rPr lang="en-US" sz="960" dirty="0">
                <a:solidFill>
                  <a:srgbClr val="8A7567"/>
                </a:solidFill>
                <a:latin typeface="Corbel" pitchFamily="34" charset="0"/>
                <a:ea typeface="Corbel" pitchFamily="34" charset="-122"/>
                <a:cs typeface="Corbel" pitchFamily="34" charset="-120"/>
              </a:rPr>
              <a:t> source to </a:t>
            </a:r>
            <a:r>
              <a:rPr lang="en-US" sz="790" b="1" dirty="0">
                <a:solidFill>
                  <a:srgbClr val="C4582A"/>
                </a:solidFill>
                <a:highlight>
                  <a:srgbClr val="C4582A">
                    <a:alpha val="8000"/>
                  </a:srgbClr>
                </a:highlight>
                <a:latin typeface="Consolas" pitchFamily="34" charset="0"/>
                <a:ea typeface="Consolas" pitchFamily="34" charset="-122"/>
                <a:cs typeface="Consolas" pitchFamily="34" charset="-120"/>
              </a:rPr>
              <a:t>.js</a:t>
            </a:r>
            <a:r>
              <a:rPr lang="en-US" sz="960" dirty="0">
                <a:solidFill>
                  <a:srgbClr val="8A7567"/>
                </a:solidFill>
                <a:latin typeface="Corbel" pitchFamily="34" charset="0"/>
                <a:ea typeface="Corbel" pitchFamily="34" charset="-122"/>
                <a:cs typeface="Corbel" pitchFamily="34" charset="-120"/>
              </a:rPr>
              <a:t> output</a:t>
            </a:r>
            <a:endParaRPr lang="en-US" sz="960" dirty="0"/>
          </a:p>
        </p:txBody>
      </p:sp>
      <p:sp>
        <p:nvSpPr>
          <p:cNvPr id="4" name="Text 2"/>
          <p:cNvSpPr/>
          <p:nvPr/>
        </p:nvSpPr>
        <p:spPr>
          <a:xfrm>
            <a:off x="3207365" y="4716810"/>
            <a:ext cx="2872145" cy="114300"/>
          </a:xfrm>
          <a:prstGeom prst="rect">
            <a:avLst/>
          </a:prstGeom>
          <a:noFill/>
          <a:ln/>
        </p:spPr>
        <p:txBody>
          <a:bodyPr wrap="none" lIns="0" tIns="0" rIns="0" bIns="0" rtlCol="0" anchor="t"/>
          <a:lstStyle/>
          <a:p>
            <a:pPr marL="0" indent="0" algn="ctr">
              <a:lnSpc>
                <a:spcPts val="1185"/>
              </a:lnSpc>
              <a:buNone/>
            </a:pPr>
            <a:r>
              <a:rPr lang="en-US" sz="790" dirty="0">
                <a:solidFill>
                  <a:srgbClr val="2D2520"/>
                </a:solidFill>
                <a:latin typeface="Corbel" pitchFamily="34" charset="0"/>
                <a:ea typeface="Corbel" pitchFamily="34" charset="-122"/>
                <a:cs typeface="Corbel" pitchFamily="34" charset="-120"/>
              </a:rPr>
              <a:t>Every stage runs at compile time — zero runtime overhead</a:t>
            </a:r>
            <a:endParaRPr lang="en-US" sz="790" dirty="0"/>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71611" y="4716149"/>
            <a:ext cx="132588" cy="132588"/>
          </a:xfrm>
          <a:prstGeom prst="rect">
            <a:avLst/>
          </a:prstGeom>
        </p:spPr>
      </p:pic>
      <p:sp>
        <p:nvSpPr>
          <p:cNvPr id="6" name="Text 3"/>
          <p:cNvSpPr/>
          <p:nvPr/>
        </p:nvSpPr>
        <p:spPr>
          <a:xfrm>
            <a:off x="914400" y="2920305"/>
            <a:ext cx="7315200" cy="29170"/>
          </a:xfrm>
          <a:prstGeom prst="roundRect">
            <a:avLst>
              <a:gd name="adj" fmla="val 47892"/>
            </a:avLst>
          </a:prstGeom>
          <a:gradFill rotWithShape="1">
            <a:gsLst>
              <a:gs pos="0">
                <a:srgbClr val="C4582A"/>
              </a:gs>
              <a:gs pos="50000">
                <a:srgbClr val="D4785A"/>
              </a:gs>
              <a:gs pos="100000">
                <a:srgbClr val="C4582A"/>
              </a:gs>
            </a:gsLst>
            <a:lin ang="0" scaled="1"/>
          </a:gradFill>
          <a:ln/>
        </p:spPr>
        <p:txBody>
          <a:bodyPr wrap="none" rtlCol="0" anchor="t"/>
          <a:lstStyle/>
          <a:p>
            <a:pPr marL="0" indent="0">
              <a:buNone/>
            </a:pPr>
            <a:endParaRPr lang="en-US" dirty="0"/>
          </a:p>
        </p:txBody>
      </p:sp>
      <p:sp>
        <p:nvSpPr>
          <p:cNvPr id="7" name="Text 4"/>
          <p:cNvSpPr/>
          <p:nvPr/>
        </p:nvSpPr>
        <p:spPr>
          <a:xfrm>
            <a:off x="571500" y="2168277"/>
            <a:ext cx="1714500" cy="960534"/>
          </a:xfrm>
          <a:prstGeom prst="roundRect">
            <a:avLst>
              <a:gd name="adj" fmla="val 8991"/>
            </a:avLst>
          </a:prstGeom>
          <a:solidFill>
            <a:srgbClr val="FFF8F2"/>
          </a:solidFill>
          <a:ln w="9525">
            <a:solidFill>
              <a:srgbClr val="C4582A">
                <a:alpha val="12000"/>
              </a:srgbClr>
            </a:solidFill>
          </a:ln>
          <a:effectLst>
            <a:outerShdw blurRad="86360" dist="13970" dir="5400000" algn="bl" rotWithShape="0">
              <a:srgbClr val="2D2520">
                <a:alpha val="8000"/>
              </a:srgbClr>
            </a:outerShdw>
          </a:effectLst>
        </p:spPr>
        <p:txBody>
          <a:bodyPr wrap="square" lIns="143510" tIns="114300" rIns="143510" bIns="114300" rtlCol="0" anchor="t"/>
          <a:lstStyle/>
          <a:p>
            <a:pPr marL="0" indent="0" algn="ctr">
              <a:buNone/>
            </a:pPr>
            <a:r>
              <a:rPr lang="en-US" sz="620" b="1" kern="0" spc="110" dirty="0">
                <a:solidFill>
                  <a:srgbClr val="C4582A"/>
                </a:solidFill>
                <a:latin typeface="Constantia" pitchFamily="34" charset="0"/>
                <a:ea typeface="Constantia" pitchFamily="34" charset="-122"/>
                <a:cs typeface="Constantia" pitchFamily="34" charset="-120"/>
              </a:rPr>
              <a:t>STEP 1</a:t>
            </a:r>
            <a:endParaRPr lang="en-US" sz="620" dirty="0"/>
          </a:p>
          <a:p>
            <a:pPr marL="0" indent="0" algn="ctr">
              <a:buNone/>
            </a:pPr>
            <a:r>
              <a:rPr lang="en-US" sz="1070" b="1" dirty="0">
                <a:solidFill>
                  <a:srgbClr val="2D2520"/>
                </a:solidFill>
                <a:latin typeface="Constantia" pitchFamily="34" charset="0"/>
                <a:ea typeface="Constantia" pitchFamily="34" charset="-122"/>
                <a:cs typeface="Constantia" pitchFamily="34" charset="-120"/>
              </a:rPr>
              <a:t>Parsing</a:t>
            </a:r>
            <a:endParaRPr lang="en-US" sz="620" dirty="0"/>
          </a:p>
          <a:p>
            <a:pPr marL="0" indent="0" algn="ctr">
              <a:buNone/>
            </a:pPr>
            <a:endParaRPr lang="en-US" sz="620" dirty="0"/>
          </a:p>
          <a:p>
            <a:pPr marL="0" indent="0" algn="ctr">
              <a:buNone/>
            </a:pPr>
            <a:r>
              <a:rPr lang="en-US" sz="790" dirty="0">
                <a:solidFill>
                  <a:srgbClr val="8A7567"/>
                </a:solidFill>
                <a:latin typeface="Corbel" pitchFamily="34" charset="0"/>
                <a:ea typeface="Corbel" pitchFamily="34" charset="-122"/>
                <a:cs typeface="Corbel" pitchFamily="34" charset="-120"/>
              </a:rPr>
              <a:t>Ohm.js grammar parses Fling source into an AST</a:t>
            </a:r>
            <a:endParaRPr lang="en-US" sz="620" dirty="0"/>
          </a:p>
        </p:txBody>
      </p:sp>
      <p:sp>
        <p:nvSpPr>
          <p:cNvPr id="8" name="Text 5"/>
          <p:cNvSpPr/>
          <p:nvPr/>
        </p:nvSpPr>
        <p:spPr>
          <a:xfrm>
            <a:off x="1421755" y="3215134"/>
            <a:ext cx="13841" cy="143470"/>
          </a:xfrm>
          <a:prstGeom prst="rect">
            <a:avLst/>
          </a:prstGeom>
          <a:solidFill>
            <a:srgbClr val="C4582A">
              <a:alpha val="40000"/>
            </a:srgbClr>
          </a:solidFill>
          <a:ln/>
        </p:spPr>
        <p:txBody>
          <a:bodyPr wrap="none" rtlCol="0" anchor="t"/>
          <a:lstStyle/>
          <a:p>
            <a:pPr marL="0" indent="0">
              <a:buNone/>
            </a:pPr>
            <a:endParaRPr lang="en-US" dirty="0"/>
          </a:p>
        </p:txBody>
      </p:sp>
      <p:pic>
        <p:nvPicPr>
          <p:cNvPr id="9" name="Image 1" descr="preencoded.png"/>
          <p:cNvPicPr>
            <a:picLocks noChangeAspect="1"/>
          </p:cNvPicPr>
          <p:nvPr/>
        </p:nvPicPr>
        <p:blipFill>
          <a:blip r:embed="rId5">
            <a:alphaModFix amt="50000"/>
            <a:extLst>
              <a:ext uri="{96DAC541-7B7A-43D3-8B79-37D633B846F1}">
                <asvg:svgBlip xmlns:asvg="http://schemas.microsoft.com/office/drawing/2016/SVG/main" r:embed="rId6"/>
              </a:ext>
            </a:extLst>
          </a:blip>
          <a:stretch>
            <a:fillRect/>
          </a:stretch>
        </p:blipFill>
        <p:spPr>
          <a:xfrm>
            <a:off x="2410206" y="2940332"/>
            <a:ext cx="132588" cy="132588"/>
          </a:xfrm>
          <a:prstGeom prst="rect">
            <a:avLst/>
          </a:prstGeom>
        </p:spPr>
      </p:pic>
      <p:sp>
        <p:nvSpPr>
          <p:cNvPr id="10" name="Text 6"/>
          <p:cNvSpPr/>
          <p:nvPr/>
        </p:nvSpPr>
        <p:spPr>
          <a:xfrm>
            <a:off x="3517255" y="2438549"/>
            <a:ext cx="13841" cy="143470"/>
          </a:xfrm>
          <a:prstGeom prst="rect">
            <a:avLst/>
          </a:prstGeom>
          <a:solidFill>
            <a:srgbClr val="C4582A">
              <a:alpha val="40000"/>
            </a:srgbClr>
          </a:solidFill>
          <a:ln/>
        </p:spPr>
        <p:txBody>
          <a:bodyPr wrap="none" rtlCol="0" anchor="t"/>
          <a:lstStyle/>
          <a:p>
            <a:pPr marL="0" indent="0">
              <a:buNone/>
            </a:pPr>
            <a:endParaRPr lang="en-US" dirty="0"/>
          </a:p>
        </p:txBody>
      </p:sp>
      <p:sp>
        <p:nvSpPr>
          <p:cNvPr id="11" name="Text 7"/>
          <p:cNvSpPr/>
          <p:nvPr/>
        </p:nvSpPr>
        <p:spPr>
          <a:xfrm>
            <a:off x="2667000" y="2696319"/>
            <a:ext cx="1714500" cy="1110301"/>
          </a:xfrm>
          <a:prstGeom prst="roundRect">
            <a:avLst>
              <a:gd name="adj" fmla="val 7778"/>
            </a:avLst>
          </a:prstGeom>
          <a:solidFill>
            <a:srgbClr val="FFF8F2"/>
          </a:solidFill>
          <a:ln w="9525">
            <a:solidFill>
              <a:srgbClr val="C4582A">
                <a:alpha val="12000"/>
              </a:srgbClr>
            </a:solidFill>
          </a:ln>
          <a:effectLst>
            <a:outerShdw blurRad="86360" dist="13970" dir="5400000" algn="bl" rotWithShape="0">
              <a:srgbClr val="2D2520">
                <a:alpha val="8000"/>
              </a:srgbClr>
            </a:outerShdw>
          </a:effectLst>
        </p:spPr>
        <p:txBody>
          <a:bodyPr wrap="square" lIns="143510" tIns="114300" rIns="143510" bIns="114300" rtlCol="0" anchor="t"/>
          <a:lstStyle/>
          <a:p>
            <a:pPr marL="0" indent="0" algn="ctr">
              <a:buNone/>
            </a:pPr>
            <a:r>
              <a:rPr lang="en-US" sz="620" b="1" kern="0" spc="110" dirty="0">
                <a:solidFill>
                  <a:srgbClr val="C4582A"/>
                </a:solidFill>
                <a:latin typeface="Constantia" pitchFamily="34" charset="0"/>
                <a:ea typeface="Constantia" pitchFamily="34" charset="-122"/>
                <a:cs typeface="Constantia" pitchFamily="34" charset="-120"/>
              </a:rPr>
              <a:t>STEP 2</a:t>
            </a:r>
            <a:endParaRPr lang="en-US" sz="620" dirty="0"/>
          </a:p>
          <a:p>
            <a:pPr marL="0" indent="0" algn="ctr">
              <a:buNone/>
            </a:pPr>
            <a:r>
              <a:rPr lang="en-US" sz="1070" b="1" dirty="0">
                <a:solidFill>
                  <a:srgbClr val="2D2520"/>
                </a:solidFill>
                <a:latin typeface="Constantia" pitchFamily="34" charset="0"/>
                <a:ea typeface="Constantia" pitchFamily="34" charset="-122"/>
                <a:cs typeface="Constantia" pitchFamily="34" charset="-120"/>
              </a:rPr>
              <a:t>Semantic Analysis</a:t>
            </a:r>
            <a:endParaRPr lang="en-US" sz="620" dirty="0"/>
          </a:p>
          <a:p>
            <a:pPr marL="0" indent="0" algn="ctr">
              <a:buNone/>
            </a:pPr>
            <a:endParaRPr lang="en-US" sz="620" dirty="0"/>
          </a:p>
          <a:p>
            <a:pPr marL="0" indent="0" algn="ctr">
              <a:buNone/>
            </a:pPr>
            <a:r>
              <a:rPr lang="en-US" sz="790" dirty="0">
                <a:solidFill>
                  <a:srgbClr val="8A7567"/>
                </a:solidFill>
                <a:latin typeface="Corbel" pitchFamily="34" charset="0"/>
                <a:ea typeface="Corbel" pitchFamily="34" charset="-122"/>
                <a:cs typeface="Corbel" pitchFamily="34" charset="-120"/>
              </a:rPr>
              <a:t>Scope-aware analyzer runs 36 static checks and tracks unit dimensions</a:t>
            </a:r>
            <a:endParaRPr lang="en-US" sz="620" dirty="0"/>
          </a:p>
        </p:txBody>
      </p:sp>
      <p:pic>
        <p:nvPicPr>
          <p:cNvPr id="12" name="Image 2" descr="preencoded.png"/>
          <p:cNvPicPr>
            <a:picLocks noChangeAspect="1"/>
          </p:cNvPicPr>
          <p:nvPr/>
        </p:nvPicPr>
        <p:blipFill>
          <a:blip r:embed="rId5">
            <a:alphaModFix amt="50000"/>
            <a:extLst>
              <a:ext uri="{96DAC541-7B7A-43D3-8B79-37D633B846F1}">
                <asvg:svgBlip xmlns:asvg="http://schemas.microsoft.com/office/drawing/2016/SVG/main" r:embed="rId7"/>
              </a:ext>
            </a:extLst>
          </a:blip>
          <a:stretch>
            <a:fillRect/>
          </a:stretch>
        </p:blipFill>
        <p:spPr>
          <a:xfrm>
            <a:off x="4505706" y="2940332"/>
            <a:ext cx="132588" cy="132588"/>
          </a:xfrm>
          <a:prstGeom prst="rect">
            <a:avLst/>
          </a:prstGeom>
        </p:spPr>
      </p:pic>
      <p:sp>
        <p:nvSpPr>
          <p:cNvPr id="13" name="Text 8"/>
          <p:cNvSpPr/>
          <p:nvPr/>
        </p:nvSpPr>
        <p:spPr>
          <a:xfrm>
            <a:off x="4762500" y="2095649"/>
            <a:ext cx="1714500" cy="1110301"/>
          </a:xfrm>
          <a:prstGeom prst="roundRect">
            <a:avLst>
              <a:gd name="adj" fmla="val 7778"/>
            </a:avLst>
          </a:prstGeom>
          <a:solidFill>
            <a:srgbClr val="FFF8F2"/>
          </a:solidFill>
          <a:ln w="9525">
            <a:solidFill>
              <a:srgbClr val="C4582A">
                <a:alpha val="12000"/>
              </a:srgbClr>
            </a:solidFill>
          </a:ln>
          <a:effectLst>
            <a:outerShdw blurRad="86360" dist="13970" dir="5400000" algn="bl" rotWithShape="0">
              <a:srgbClr val="2D2520">
                <a:alpha val="8000"/>
              </a:srgbClr>
            </a:outerShdw>
          </a:effectLst>
        </p:spPr>
        <p:txBody>
          <a:bodyPr wrap="square" lIns="143510" tIns="114300" rIns="143510" bIns="114300" rtlCol="0" anchor="t"/>
          <a:lstStyle/>
          <a:p>
            <a:pPr marL="0" indent="0" algn="ctr">
              <a:buNone/>
            </a:pPr>
            <a:r>
              <a:rPr lang="en-US" sz="620" b="1" kern="0" spc="110" dirty="0">
                <a:solidFill>
                  <a:srgbClr val="C4582A"/>
                </a:solidFill>
                <a:latin typeface="Constantia" pitchFamily="34" charset="0"/>
                <a:ea typeface="Constantia" pitchFamily="34" charset="-122"/>
                <a:cs typeface="Constantia" pitchFamily="34" charset="-120"/>
              </a:rPr>
              <a:t>STEP 3</a:t>
            </a:r>
            <a:endParaRPr lang="en-US" sz="620" dirty="0"/>
          </a:p>
          <a:p>
            <a:pPr marL="0" indent="0" algn="ctr">
              <a:buNone/>
            </a:pPr>
            <a:r>
              <a:rPr lang="en-US" sz="1070" b="1" dirty="0">
                <a:solidFill>
                  <a:srgbClr val="2D2520"/>
                </a:solidFill>
                <a:latin typeface="Constantia" pitchFamily="34" charset="0"/>
                <a:ea typeface="Constantia" pitchFamily="34" charset="-122"/>
                <a:cs typeface="Constantia" pitchFamily="34" charset="-120"/>
              </a:rPr>
              <a:t>Optimization</a:t>
            </a:r>
            <a:endParaRPr lang="en-US" sz="620" dirty="0"/>
          </a:p>
          <a:p>
            <a:pPr marL="0" indent="0" algn="ctr">
              <a:buNone/>
            </a:pPr>
            <a:endParaRPr lang="en-US" sz="620" dirty="0"/>
          </a:p>
          <a:p>
            <a:pPr marL="0" indent="0" algn="ctr">
              <a:buNone/>
            </a:pPr>
            <a:r>
              <a:rPr lang="en-US" sz="790" dirty="0">
                <a:solidFill>
                  <a:srgbClr val="8A7567"/>
                </a:solidFill>
                <a:latin typeface="Corbel" pitchFamily="34" charset="0"/>
                <a:ea typeface="Corbel" pitchFamily="34" charset="-122"/>
                <a:cs typeface="Corbel" pitchFamily="34" charset="-120"/>
              </a:rPr>
              <a:t>Constant folding, unit normalization, dead code elimination, strength reduction</a:t>
            </a:r>
            <a:endParaRPr lang="en-US" sz="620" dirty="0"/>
          </a:p>
        </p:txBody>
      </p:sp>
      <p:sp>
        <p:nvSpPr>
          <p:cNvPr id="14" name="Text 9"/>
          <p:cNvSpPr/>
          <p:nvPr/>
        </p:nvSpPr>
        <p:spPr>
          <a:xfrm>
            <a:off x="5612755" y="3287911"/>
            <a:ext cx="13841" cy="143470"/>
          </a:xfrm>
          <a:prstGeom prst="rect">
            <a:avLst/>
          </a:prstGeom>
          <a:solidFill>
            <a:srgbClr val="C4582A">
              <a:alpha val="40000"/>
            </a:srgbClr>
          </a:solidFill>
          <a:ln/>
        </p:spPr>
        <p:txBody>
          <a:bodyPr wrap="none" rtlCol="0" anchor="t"/>
          <a:lstStyle/>
          <a:p>
            <a:pPr marL="0" indent="0">
              <a:buNone/>
            </a:pPr>
            <a:endParaRPr lang="en-US" dirty="0"/>
          </a:p>
        </p:txBody>
      </p:sp>
      <p:pic>
        <p:nvPicPr>
          <p:cNvPr id="15" name="Image 3" descr="preencoded.png"/>
          <p:cNvPicPr>
            <a:picLocks noChangeAspect="1"/>
          </p:cNvPicPr>
          <p:nvPr/>
        </p:nvPicPr>
        <p:blipFill>
          <a:blip r:embed="rId5">
            <a:alphaModFix amt="50000"/>
            <a:extLst>
              <a:ext uri="{96DAC541-7B7A-43D3-8B79-37D633B846F1}">
                <asvg:svgBlip xmlns:asvg="http://schemas.microsoft.com/office/drawing/2016/SVG/main" r:embed="rId8"/>
              </a:ext>
            </a:extLst>
          </a:blip>
          <a:stretch>
            <a:fillRect/>
          </a:stretch>
        </p:blipFill>
        <p:spPr>
          <a:xfrm>
            <a:off x="6601206" y="2940332"/>
            <a:ext cx="132588" cy="132588"/>
          </a:xfrm>
          <a:prstGeom prst="rect">
            <a:avLst/>
          </a:prstGeom>
        </p:spPr>
      </p:pic>
      <p:sp>
        <p:nvSpPr>
          <p:cNvPr id="16" name="Text 10"/>
          <p:cNvSpPr/>
          <p:nvPr/>
        </p:nvSpPr>
        <p:spPr>
          <a:xfrm>
            <a:off x="7708255" y="2438549"/>
            <a:ext cx="13841" cy="143470"/>
          </a:xfrm>
          <a:prstGeom prst="rect">
            <a:avLst/>
          </a:prstGeom>
          <a:solidFill>
            <a:srgbClr val="C4582A">
              <a:alpha val="40000"/>
            </a:srgbClr>
          </a:solidFill>
          <a:ln/>
        </p:spPr>
        <p:txBody>
          <a:bodyPr wrap="none" rtlCol="0" anchor="t"/>
          <a:lstStyle/>
          <a:p>
            <a:pPr marL="0" indent="0">
              <a:buNone/>
            </a:pPr>
            <a:endParaRPr lang="en-US" dirty="0"/>
          </a:p>
        </p:txBody>
      </p:sp>
      <p:sp>
        <p:nvSpPr>
          <p:cNvPr id="17" name="Text 11"/>
          <p:cNvSpPr/>
          <p:nvPr/>
        </p:nvSpPr>
        <p:spPr>
          <a:xfrm>
            <a:off x="6858000" y="2696319"/>
            <a:ext cx="1714500" cy="1110301"/>
          </a:xfrm>
          <a:prstGeom prst="roundRect">
            <a:avLst>
              <a:gd name="adj" fmla="val 7778"/>
            </a:avLst>
          </a:prstGeom>
          <a:solidFill>
            <a:srgbClr val="FFF8F2"/>
          </a:solidFill>
          <a:ln w="9525">
            <a:solidFill>
              <a:srgbClr val="C4582A">
                <a:alpha val="12000"/>
              </a:srgbClr>
            </a:solidFill>
          </a:ln>
          <a:effectLst>
            <a:outerShdw blurRad="86360" dist="13970" dir="5400000" algn="bl" rotWithShape="0">
              <a:srgbClr val="2D2520">
                <a:alpha val="8000"/>
              </a:srgbClr>
            </a:outerShdw>
          </a:effectLst>
        </p:spPr>
        <p:txBody>
          <a:bodyPr wrap="square" lIns="143510" tIns="114300" rIns="143510" bIns="114300" rtlCol="0" anchor="t"/>
          <a:lstStyle/>
          <a:p>
            <a:pPr marL="0" indent="0" algn="ctr">
              <a:buNone/>
            </a:pPr>
            <a:r>
              <a:rPr lang="en-US" sz="620" b="1" kern="0" spc="110" dirty="0">
                <a:solidFill>
                  <a:srgbClr val="C4582A"/>
                </a:solidFill>
                <a:latin typeface="Constantia" pitchFamily="34" charset="0"/>
                <a:ea typeface="Constantia" pitchFamily="34" charset="-122"/>
                <a:cs typeface="Constantia" pitchFamily="34" charset="-120"/>
              </a:rPr>
              <a:t>STEP 4</a:t>
            </a:r>
            <a:endParaRPr lang="en-US" sz="620" dirty="0"/>
          </a:p>
          <a:p>
            <a:pPr marL="0" indent="0" algn="ctr">
              <a:buNone/>
            </a:pPr>
            <a:r>
              <a:rPr lang="en-US" sz="1070" b="1" dirty="0">
                <a:solidFill>
                  <a:srgbClr val="2D2520"/>
                </a:solidFill>
                <a:latin typeface="Constantia" pitchFamily="34" charset="0"/>
                <a:ea typeface="Constantia" pitchFamily="34" charset="-122"/>
                <a:cs typeface="Constantia" pitchFamily="34" charset="-120"/>
              </a:rPr>
              <a:t>Code Generation</a:t>
            </a:r>
            <a:endParaRPr lang="en-US" sz="620" dirty="0"/>
          </a:p>
          <a:p>
            <a:pPr marL="0" indent="0" algn="ctr">
              <a:buNone/>
            </a:pPr>
            <a:endParaRPr lang="en-US" sz="620" dirty="0"/>
          </a:p>
          <a:p>
            <a:pPr marL="0" indent="0" algn="ctr">
              <a:buNone/>
            </a:pPr>
            <a:r>
              <a:rPr lang="en-US" sz="790" dirty="0">
                <a:solidFill>
                  <a:srgbClr val="8A7567"/>
                </a:solidFill>
                <a:latin typeface="Corbel" pitchFamily="34" charset="0"/>
                <a:ea typeface="Corbel" pitchFamily="34" charset="-122"/>
                <a:cs typeface="Corbel" pitchFamily="34" charset="-120"/>
              </a:rPr>
              <a:t>Emits clean, readable JavaScript you would actually want to read</a:t>
            </a:r>
            <a:endParaRPr lang="en-US" sz="620" dirty="0"/>
          </a:p>
        </p:txBody>
      </p:sp>
      <p:sp>
        <p:nvSpPr>
          <p:cNvPr id="18" name="Text 12"/>
          <p:cNvSpPr/>
          <p:nvPr/>
        </p:nvSpPr>
        <p:spPr>
          <a:xfrm>
            <a:off x="1257300" y="3358604"/>
            <a:ext cx="342900" cy="342900"/>
          </a:xfrm>
          <a:prstGeom prst="ellipse">
            <a:avLst/>
          </a:prstGeom>
          <a:solidFill>
            <a:srgbClr val="C4582A"/>
          </a:solidFill>
          <a:ln/>
          <a:effectLst>
            <a:outerShdw blurRad="101600" dist="50800" dir="16200000" algn="bl" rotWithShape="0">
              <a:srgbClr val="C4582A">
                <a:alpha val="15000"/>
              </a:srgbClr>
            </a:outerShdw>
          </a:effectLst>
        </p:spPr>
        <p:txBody>
          <a:bodyPr wrap="square" rtlCol="0" anchor="t"/>
          <a:lstStyle/>
          <a:p>
            <a:pPr marL="0" indent="0">
              <a:buNone/>
            </a:pPr>
            <a:endParaRPr lang="en-US" dirty="0"/>
          </a:p>
        </p:txBody>
      </p:sp>
      <p:pic>
        <p:nvPicPr>
          <p:cNvPr id="19" name="Image 4"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62382" y="3463686"/>
            <a:ext cx="132588" cy="132588"/>
          </a:xfrm>
          <a:prstGeom prst="rect">
            <a:avLst/>
          </a:prstGeom>
        </p:spPr>
      </p:pic>
      <p:sp>
        <p:nvSpPr>
          <p:cNvPr id="20" name="Text 13"/>
          <p:cNvSpPr/>
          <p:nvPr/>
        </p:nvSpPr>
        <p:spPr>
          <a:xfrm>
            <a:off x="3352800" y="2095649"/>
            <a:ext cx="342900" cy="342900"/>
          </a:xfrm>
          <a:prstGeom prst="ellipse">
            <a:avLst/>
          </a:prstGeom>
          <a:solidFill>
            <a:srgbClr val="C4582A"/>
          </a:solidFill>
          <a:ln/>
          <a:effectLst>
            <a:outerShdw blurRad="101600" dist="50800" dir="16200000" algn="bl" rotWithShape="0">
              <a:srgbClr val="C4582A">
                <a:alpha val="15000"/>
              </a:srgbClr>
            </a:outerShdw>
          </a:effectLst>
        </p:spPr>
        <p:txBody>
          <a:bodyPr wrap="square" rtlCol="0" anchor="t"/>
          <a:lstStyle/>
          <a:p>
            <a:pPr marL="0" indent="0">
              <a:buNone/>
            </a:pPr>
            <a:endParaRPr lang="en-US" dirty="0"/>
          </a:p>
        </p:txBody>
      </p:sp>
      <p:pic>
        <p:nvPicPr>
          <p:cNvPr id="21" name="Image 5"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457882" y="2200730"/>
            <a:ext cx="132588" cy="132588"/>
          </a:xfrm>
          <a:prstGeom prst="rect">
            <a:avLst/>
          </a:prstGeom>
        </p:spPr>
      </p:pic>
      <p:sp>
        <p:nvSpPr>
          <p:cNvPr id="22" name="Text 14"/>
          <p:cNvSpPr/>
          <p:nvPr/>
        </p:nvSpPr>
        <p:spPr>
          <a:xfrm>
            <a:off x="5448300" y="3431381"/>
            <a:ext cx="342900" cy="342900"/>
          </a:xfrm>
          <a:prstGeom prst="ellipse">
            <a:avLst/>
          </a:prstGeom>
          <a:solidFill>
            <a:srgbClr val="C4582A"/>
          </a:solidFill>
          <a:ln/>
          <a:effectLst>
            <a:outerShdw blurRad="101600" dist="50800" dir="16200000" algn="bl" rotWithShape="0">
              <a:srgbClr val="C4582A">
                <a:alpha val="15000"/>
              </a:srgbClr>
            </a:outerShdw>
          </a:effectLst>
        </p:spPr>
        <p:txBody>
          <a:bodyPr wrap="square" rtlCol="0" anchor="t"/>
          <a:lstStyle/>
          <a:p>
            <a:pPr marL="0" indent="0">
              <a:buNone/>
            </a:pPr>
            <a:endParaRPr lang="en-US" dirty="0"/>
          </a:p>
        </p:txBody>
      </p:sp>
      <p:pic>
        <p:nvPicPr>
          <p:cNvPr id="23" name="Image 6"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553382" y="3536463"/>
            <a:ext cx="132588" cy="132588"/>
          </a:xfrm>
          <a:prstGeom prst="rect">
            <a:avLst/>
          </a:prstGeom>
        </p:spPr>
      </p:pic>
      <p:sp>
        <p:nvSpPr>
          <p:cNvPr id="24" name="Text 15"/>
          <p:cNvSpPr/>
          <p:nvPr/>
        </p:nvSpPr>
        <p:spPr>
          <a:xfrm>
            <a:off x="7543800" y="2095649"/>
            <a:ext cx="342900" cy="342900"/>
          </a:xfrm>
          <a:prstGeom prst="ellipse">
            <a:avLst/>
          </a:prstGeom>
          <a:solidFill>
            <a:srgbClr val="C4582A"/>
          </a:solidFill>
          <a:ln/>
          <a:effectLst>
            <a:outerShdw blurRad="101600" dist="50800" dir="16200000" algn="bl" rotWithShape="0">
              <a:srgbClr val="C4582A">
                <a:alpha val="15000"/>
              </a:srgbClr>
            </a:outerShdw>
          </a:effectLst>
        </p:spPr>
        <p:txBody>
          <a:bodyPr wrap="square" rtlCol="0" anchor="t"/>
          <a:lstStyle/>
          <a:p>
            <a:pPr marL="0" indent="0">
              <a:buNone/>
            </a:pPr>
            <a:endParaRPr lang="en-US" dirty="0"/>
          </a:p>
        </p:txBody>
      </p:sp>
      <p:pic>
        <p:nvPicPr>
          <p:cNvPr id="25" name="Image 7" descr="preencoded.png"/>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648882" y="2200730"/>
            <a:ext cx="132588" cy="13258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D252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7200" y="460474"/>
            <a:ext cx="193328" cy="193328"/>
          </a:xfrm>
          <a:prstGeom prst="rect">
            <a:avLst/>
          </a:prstGeom>
        </p:spPr>
      </p:pic>
      <p:sp>
        <p:nvSpPr>
          <p:cNvPr id="3" name="Text 0"/>
          <p:cNvSpPr/>
          <p:nvPr/>
        </p:nvSpPr>
        <p:spPr>
          <a:xfrm>
            <a:off x="750838" y="342900"/>
            <a:ext cx="1875760" cy="428625"/>
          </a:xfrm>
          <a:prstGeom prst="rect">
            <a:avLst/>
          </a:prstGeom>
          <a:noFill/>
          <a:ln/>
        </p:spPr>
        <p:txBody>
          <a:bodyPr wrap="none" lIns="0" tIns="0" rIns="0" bIns="0" rtlCol="0" anchor="ctr"/>
          <a:lstStyle/>
          <a:p>
            <a:pPr marL="0" indent="0" algn="l">
              <a:lnSpc>
                <a:spcPts val="3375"/>
              </a:lnSpc>
              <a:buNone/>
            </a:pPr>
            <a:r>
              <a:rPr lang="en-US" sz="2250" b="1" kern="0" spc="-30" dirty="0">
                <a:solidFill>
                  <a:srgbClr val="FAF6F1"/>
                </a:solidFill>
                <a:latin typeface="Constantia" pitchFamily="34" charset="0"/>
                <a:ea typeface="Constantia" pitchFamily="34" charset="-122"/>
                <a:cs typeface="Constantia" pitchFamily="34" charset="-120"/>
              </a:rPr>
              <a:t>Fling in Action</a:t>
            </a:r>
            <a:endParaRPr lang="en-US" sz="2250" dirty="0"/>
          </a:p>
        </p:txBody>
      </p:sp>
      <p:sp>
        <p:nvSpPr>
          <p:cNvPr id="4" name="Text 1"/>
          <p:cNvSpPr/>
          <p:nvPr/>
        </p:nvSpPr>
        <p:spPr>
          <a:xfrm>
            <a:off x="457200" y="828675"/>
            <a:ext cx="9052560" cy="192435"/>
          </a:xfrm>
          <a:prstGeom prst="rect">
            <a:avLst/>
          </a:prstGeom>
          <a:noFill/>
          <a:ln/>
        </p:spPr>
        <p:txBody>
          <a:bodyPr wrap="none" lIns="356870" tIns="0" rIns="0" bIns="0" rtlCol="0" anchor="t"/>
          <a:lstStyle/>
          <a:p>
            <a:pPr marL="0" indent="0" algn="l">
              <a:lnSpc>
                <a:spcPts val="1515"/>
              </a:lnSpc>
              <a:buNone/>
            </a:pPr>
            <a:r>
              <a:rPr lang="en-US" sz="1010" dirty="0">
                <a:solidFill>
                  <a:srgbClr val="C4B5A6"/>
                </a:solidFill>
                <a:latin typeface="Corbel" pitchFamily="34" charset="0"/>
                <a:ea typeface="Corbel" pitchFamily="34" charset="-122"/>
                <a:cs typeface="Corbel" pitchFamily="34" charset="-120"/>
              </a:rPr>
              <a:t>A complete program in three simple steps</a:t>
            </a:r>
            <a:endParaRPr lang="en-US" sz="1010" dirty="0"/>
          </a:p>
        </p:txBody>
      </p:sp>
      <p:sp>
        <p:nvSpPr>
          <p:cNvPr id="5" name="Text 2"/>
          <p:cNvSpPr/>
          <p:nvPr/>
        </p:nvSpPr>
        <p:spPr>
          <a:xfrm>
            <a:off x="457200" y="1278880"/>
            <a:ext cx="2414290" cy="3178820"/>
          </a:xfrm>
          <a:prstGeom prst="roundRect">
            <a:avLst>
              <a:gd name="adj" fmla="val 4156"/>
            </a:avLst>
          </a:prstGeom>
          <a:solidFill>
            <a:srgbClr val="3D3530"/>
          </a:solidFill>
          <a:ln/>
        </p:spPr>
        <p:txBody>
          <a:bodyPr wrap="square" rtlCol="0" anchor="t"/>
          <a:lstStyle/>
          <a:p>
            <a:pPr marL="0" indent="0">
              <a:buNone/>
            </a:pPr>
            <a:endParaRPr lang="en-US" dirty="0"/>
          </a:p>
        </p:txBody>
      </p:sp>
      <p:sp>
        <p:nvSpPr>
          <p:cNvPr id="6" name="Text 3"/>
          <p:cNvSpPr/>
          <p:nvPr/>
        </p:nvSpPr>
        <p:spPr>
          <a:xfrm>
            <a:off x="457200" y="1278880"/>
            <a:ext cx="28575" cy="3178820"/>
          </a:xfrm>
          <a:custGeom>
            <a:avLst/>
            <a:gdLst/>
            <a:ahLst/>
            <a:cxnLst/>
            <a:rect l="l" t="t" r="r" b="b"/>
            <a:pathLst>
              <a:path w="28575" h="3178820">
                <a:moveTo>
                  <a:pt x="0" y="100330"/>
                </a:moveTo>
                <a:lnTo>
                  <a:pt x="3572" y="73797"/>
                </a:lnTo>
                <a:lnTo>
                  <a:pt x="7144" y="63149"/>
                </a:lnTo>
                <a:lnTo>
                  <a:pt x="10716" y="55215"/>
                </a:lnTo>
                <a:lnTo>
                  <a:pt x="14288" y="48727"/>
                </a:lnTo>
                <a:lnTo>
                  <a:pt x="17859" y="43192"/>
                </a:lnTo>
                <a:lnTo>
                  <a:pt x="21431" y="38353"/>
                </a:lnTo>
                <a:lnTo>
                  <a:pt x="25003" y="34058"/>
                </a:lnTo>
                <a:lnTo>
                  <a:pt x="28575" y="30206"/>
                </a:lnTo>
                <a:lnTo>
                  <a:pt x="28575" y="3148614"/>
                </a:lnTo>
                <a:lnTo>
                  <a:pt x="25003" y="3144762"/>
                </a:lnTo>
                <a:lnTo>
                  <a:pt x="21431" y="3140467"/>
                </a:lnTo>
                <a:lnTo>
                  <a:pt x="17859" y="3135628"/>
                </a:lnTo>
                <a:lnTo>
                  <a:pt x="14288" y="3130092"/>
                </a:lnTo>
                <a:lnTo>
                  <a:pt x="10716" y="3123605"/>
                </a:lnTo>
                <a:lnTo>
                  <a:pt x="7144" y="3115671"/>
                </a:lnTo>
                <a:lnTo>
                  <a:pt x="3572" y="3105023"/>
                </a:lnTo>
                <a:lnTo>
                  <a:pt x="0" y="3078490"/>
                </a:lnTo>
                <a:close/>
              </a:path>
            </a:pathLst>
          </a:custGeom>
          <a:solidFill>
            <a:srgbClr val="C4582A"/>
          </a:solidFill>
          <a:ln/>
        </p:spPr>
        <p:txBody>
          <a:bodyPr wrap="square" rtlCol="0" anchor="t"/>
          <a:lstStyle/>
          <a:p>
            <a:pPr marL="0" indent="0">
              <a:buNone/>
            </a:pPr>
            <a:endParaRPr lang="en-US" dirty="0"/>
          </a:p>
        </p:txBody>
      </p:sp>
      <p:sp>
        <p:nvSpPr>
          <p:cNvPr id="7" name="Text 4"/>
          <p:cNvSpPr/>
          <p:nvPr/>
        </p:nvSpPr>
        <p:spPr>
          <a:xfrm>
            <a:off x="385465" y="1178570"/>
            <a:ext cx="228600" cy="251460"/>
          </a:xfrm>
          <a:prstGeom prst="ellipse">
            <a:avLst/>
          </a:prstGeom>
          <a:solidFill>
            <a:srgbClr val="C4582A"/>
          </a:solidFill>
          <a:ln/>
        </p:spPr>
        <p:txBody>
          <a:bodyPr wrap="none" lIns="0" tIns="0" rIns="0" bIns="0" rtlCol="0" anchor="ctr"/>
          <a:lstStyle/>
          <a:p>
            <a:pPr marL="0" indent="0" algn="ctr">
              <a:buNone/>
            </a:pPr>
            <a:r>
              <a:rPr lang="en-US" sz="840" b="1" dirty="0">
                <a:solidFill>
                  <a:srgbClr val="FFFFFF"/>
                </a:solidFill>
                <a:latin typeface="Constantia" pitchFamily="34" charset="0"/>
                <a:ea typeface="Constantia" pitchFamily="34" charset="-122"/>
                <a:cs typeface="Constantia" pitchFamily="34" charset="-120"/>
              </a:rPr>
              <a:t>1</a:t>
            </a:r>
            <a:endParaRPr lang="en-US" sz="840" dirty="0"/>
          </a:p>
        </p:txBody>
      </p:sp>
      <p:sp>
        <p:nvSpPr>
          <p:cNvPr id="8" name="Text 5"/>
          <p:cNvSpPr/>
          <p:nvPr/>
        </p:nvSpPr>
        <p:spPr>
          <a:xfrm>
            <a:off x="714375" y="1479500"/>
            <a:ext cx="2121366" cy="192435"/>
          </a:xfrm>
          <a:prstGeom prst="rect">
            <a:avLst/>
          </a:prstGeom>
          <a:noFill/>
          <a:ln/>
        </p:spPr>
        <p:txBody>
          <a:bodyPr wrap="none" lIns="0" tIns="0" rIns="0" bIns="0" rtlCol="0" anchor="t"/>
          <a:lstStyle/>
          <a:p>
            <a:pPr marL="0" indent="0" algn="l">
              <a:lnSpc>
                <a:spcPts val="1515"/>
              </a:lnSpc>
              <a:spcAft>
                <a:spcPts val="230"/>
              </a:spcAft>
              <a:buNone/>
            </a:pPr>
            <a:r>
              <a:rPr lang="en-US" sz="1010" b="1" dirty="0">
                <a:solidFill>
                  <a:srgbClr val="FAF6F1"/>
                </a:solidFill>
                <a:latin typeface="Constantia" pitchFamily="34" charset="0"/>
                <a:ea typeface="Constantia" pitchFamily="34" charset="-122"/>
                <a:cs typeface="Constantia" pitchFamily="34" charset="-120"/>
              </a:rPr>
              <a:t>Declare ingredients with units</a:t>
            </a:r>
            <a:endParaRPr lang="en-US" sz="1010" dirty="0"/>
          </a:p>
        </p:txBody>
      </p:sp>
      <p:sp>
        <p:nvSpPr>
          <p:cNvPr id="9" name="Text 6"/>
          <p:cNvSpPr/>
          <p:nvPr/>
        </p:nvSpPr>
        <p:spPr>
          <a:xfrm>
            <a:off x="714375" y="1701105"/>
            <a:ext cx="2121366" cy="150465"/>
          </a:xfrm>
          <a:prstGeom prst="rect">
            <a:avLst/>
          </a:prstGeom>
          <a:noFill/>
          <a:ln/>
        </p:spPr>
        <p:txBody>
          <a:bodyPr wrap="none" lIns="0" tIns="0" rIns="0" bIns="0" rtlCol="0" anchor="t"/>
          <a:lstStyle/>
          <a:p>
            <a:pPr marL="0" indent="0" algn="l">
              <a:lnSpc>
                <a:spcPts val="1185"/>
              </a:lnSpc>
              <a:spcAft>
                <a:spcPts val="680"/>
              </a:spcAft>
              <a:buNone/>
            </a:pPr>
            <a:r>
              <a:rPr lang="en-US" sz="790" dirty="0">
                <a:solidFill>
                  <a:srgbClr val="C4B5A6"/>
                </a:solidFill>
                <a:latin typeface="Corbel" pitchFamily="34" charset="0"/>
                <a:ea typeface="Corbel" pitchFamily="34" charset="-122"/>
                <a:cs typeface="Corbel" pitchFamily="34" charset="-120"/>
              </a:rPr>
              <a:t>Variables carry their unit type</a:t>
            </a:r>
            <a:endParaRPr lang="en-US" sz="790" dirty="0"/>
          </a:p>
        </p:txBody>
      </p:sp>
      <p:sp>
        <p:nvSpPr>
          <p:cNvPr id="10" name="Text 7"/>
          <p:cNvSpPr/>
          <p:nvPr/>
        </p:nvSpPr>
        <p:spPr>
          <a:xfrm>
            <a:off x="714375" y="1937891"/>
            <a:ext cx="1967085" cy="191691"/>
          </a:xfrm>
          <a:prstGeom prst="roundRect">
            <a:avLst>
              <a:gd name="adj" fmla="val 22526"/>
            </a:avLst>
          </a:prstGeom>
          <a:solidFill>
            <a:srgbClr val="C4582A">
              <a:alpha val="15000"/>
            </a:srgbClr>
          </a:solidFill>
          <a:ln w="9525">
            <a:solidFill>
              <a:srgbClr val="C4582A">
                <a:alpha val="30000"/>
              </a:srgbClr>
            </a:solidFill>
          </a:ln>
        </p:spPr>
        <p:txBody>
          <a:bodyPr wrap="none" lIns="71120" tIns="21590" rIns="71120" bIns="21590" rtlCol="0" anchor="t"/>
          <a:lstStyle/>
          <a:p>
            <a:pPr marL="0" indent="0" algn="l">
              <a:buNone/>
            </a:pPr>
            <a:r>
              <a:rPr lang="en-US" sz="680" kern="0" spc="60" dirty="0">
                <a:solidFill>
                  <a:srgbClr val="C4582A"/>
                </a:solidFill>
                <a:latin typeface="Consolas" pitchFamily="34" charset="0"/>
                <a:ea typeface="Consolas" pitchFamily="34" charset="-122"/>
                <a:cs typeface="Consolas" pitchFamily="34" charset="-120"/>
              </a:rPr>
              <a:t>FLING</a:t>
            </a:r>
            <a:endParaRPr lang="en-US" sz="680" dirty="0"/>
          </a:p>
        </p:txBody>
      </p:sp>
      <p:sp>
        <p:nvSpPr>
          <p:cNvPr id="11" name="Text 8"/>
          <p:cNvSpPr/>
          <p:nvPr/>
        </p:nvSpPr>
        <p:spPr>
          <a:xfrm>
            <a:off x="714375" y="2243733"/>
            <a:ext cx="1928515" cy="2073747"/>
          </a:xfrm>
          <a:prstGeom prst="roundRect">
            <a:avLst>
              <a:gd name="adj" fmla="val 2963"/>
            </a:avLst>
          </a:prstGeom>
          <a:solidFill>
            <a:srgbClr val="1E1A16"/>
          </a:solidFill>
          <a:ln w="9525">
            <a:solidFill>
              <a:srgbClr val="C4582A">
                <a:alpha val="20000"/>
              </a:srgbClr>
            </a:solidFill>
          </a:ln>
        </p:spPr>
        <p:txBody>
          <a:bodyPr wrap="square" lIns="128270" tIns="100330" rIns="128270" bIns="100330" rtlCol="0" anchor="t"/>
          <a:lstStyle/>
          <a:p>
            <a:pPr marL="0" indent="0" algn="l">
              <a:lnSpc>
                <a:spcPts val="1440"/>
              </a:lnSpc>
              <a:buNone/>
            </a:pPr>
            <a:r>
              <a:rPr lang="en-US" sz="900" b="1" dirty="0">
                <a:solidFill>
                  <a:srgbClr val="C4582A"/>
                </a:solidFill>
                <a:latin typeface="Consolas" pitchFamily="34" charset="0"/>
                <a:ea typeface="Consolas" pitchFamily="34" charset="-122"/>
                <a:cs typeface="Consolas" pitchFamily="34" charset="-120"/>
              </a:rPr>
              <a:t>ingredient</a:t>
            </a:r>
            <a:r>
              <a:rPr lang="en-US" sz="900" dirty="0">
                <a:solidFill>
                  <a:srgbClr val="FAF6F1"/>
                </a:solidFill>
                <a:latin typeface="Consolas" pitchFamily="34" charset="0"/>
                <a:ea typeface="Consolas" pitchFamily="34" charset="-122"/>
                <a:cs typeface="Consolas" pitchFamily="34" charset="-120"/>
              </a:rPr>
              <a:t> </a:t>
            </a:r>
            <a:r>
              <a:rPr lang="en-US" sz="900" dirty="0">
                <a:solidFill>
                  <a:srgbClr val="7EB8DA"/>
                </a:solidFill>
                <a:latin typeface="Consolas" pitchFamily="34" charset="0"/>
                <a:ea typeface="Consolas" pitchFamily="34" charset="-122"/>
                <a:cs typeface="Consolas" pitchFamily="34" charset="-120"/>
              </a:rPr>
              <a:t>x</a:t>
            </a:r>
            <a:r>
              <a:rPr lang="en-US" sz="900" dirty="0">
                <a:solidFill>
                  <a:srgbClr val="FAF6F1"/>
                </a:solidFill>
                <a:latin typeface="Consolas" pitchFamily="34" charset="0"/>
                <a:ea typeface="Consolas" pitchFamily="34" charset="-122"/>
                <a:cs typeface="Consolas" pitchFamily="34" charset="-120"/>
              </a:rPr>
              <a:t>: </a:t>
            </a:r>
            <a:r>
              <a:rPr lang="en-US" sz="900" dirty="0">
                <a:solidFill>
                  <a:srgbClr val="C4B5A6"/>
                </a:solidFill>
                <a:latin typeface="Consolas" pitchFamily="34" charset="0"/>
                <a:ea typeface="Consolas" pitchFamily="34" charset="-122"/>
                <a:cs typeface="Consolas" pitchFamily="34" charset="-120"/>
              </a:rPr>
              <a:t>kg</a:t>
            </a:r>
            <a:r>
              <a:rPr lang="en-US" sz="900" dirty="0">
                <a:solidFill>
                  <a:srgbClr val="FAF6F1"/>
                </a:solidFill>
                <a:latin typeface="Consolas" pitchFamily="34" charset="0"/>
                <a:ea typeface="Consolas" pitchFamily="34" charset="-122"/>
                <a:cs typeface="Consolas" pitchFamily="34" charset="-120"/>
              </a:rPr>
              <a:t> = </a:t>
            </a:r>
            <a:r>
              <a:rPr lang="en-US" sz="900" dirty="0">
                <a:solidFill>
                  <a:srgbClr val="6ABF69"/>
                </a:solidFill>
                <a:latin typeface="Consolas" pitchFamily="34" charset="0"/>
                <a:ea typeface="Consolas" pitchFamily="34" charset="-122"/>
                <a:cs typeface="Consolas" pitchFamily="34" charset="-120"/>
              </a:rPr>
              <a:t>5kg</a:t>
            </a:r>
            <a:br/>
            <a:r>
              <a:rPr lang="en-US" sz="900" dirty="0">
                <a:solidFill>
                  <a:srgbClr val="FAF6F1"/>
                </a:solidFill>
                <a:latin typeface="Consolas" pitchFamily="34" charset="0"/>
                <a:ea typeface="Consolas" pitchFamily="34" charset="-122"/>
                <a:cs typeface="Consolas" pitchFamily="34" charset="-120"/>
              </a:rPr>
              <a:t> </a:t>
            </a:r>
            <a:r>
              <a:rPr lang="en-US" sz="900" b="1" dirty="0">
                <a:solidFill>
                  <a:srgbClr val="C4582A"/>
                </a:solidFill>
                <a:latin typeface="Consolas" pitchFamily="34" charset="0"/>
                <a:ea typeface="Consolas" pitchFamily="34" charset="-122"/>
                <a:cs typeface="Consolas" pitchFamily="34" charset="-120"/>
              </a:rPr>
              <a:t>ingredient</a:t>
            </a:r>
            <a:r>
              <a:rPr lang="en-US" sz="900" dirty="0">
                <a:solidFill>
                  <a:srgbClr val="FAF6F1"/>
                </a:solidFill>
                <a:latin typeface="Consolas" pitchFamily="34" charset="0"/>
                <a:ea typeface="Consolas" pitchFamily="34" charset="-122"/>
                <a:cs typeface="Consolas" pitchFamily="34" charset="-120"/>
              </a:rPr>
              <a:t> </a:t>
            </a:r>
            <a:r>
              <a:rPr lang="en-US" sz="900" dirty="0">
                <a:solidFill>
                  <a:srgbClr val="7EB8DA"/>
                </a:solidFill>
                <a:latin typeface="Consolas" pitchFamily="34" charset="0"/>
                <a:ea typeface="Consolas" pitchFamily="34" charset="-122"/>
                <a:cs typeface="Consolas" pitchFamily="34" charset="-120"/>
              </a:rPr>
              <a:t>y</a:t>
            </a:r>
            <a:r>
              <a:rPr lang="en-US" sz="900" dirty="0">
                <a:solidFill>
                  <a:srgbClr val="FAF6F1"/>
                </a:solidFill>
                <a:latin typeface="Consolas" pitchFamily="34" charset="0"/>
                <a:ea typeface="Consolas" pitchFamily="34" charset="-122"/>
                <a:cs typeface="Consolas" pitchFamily="34" charset="-120"/>
              </a:rPr>
              <a:t>: </a:t>
            </a:r>
            <a:r>
              <a:rPr lang="en-US" sz="900" dirty="0">
                <a:solidFill>
                  <a:srgbClr val="C4B5A6"/>
                </a:solidFill>
                <a:latin typeface="Consolas" pitchFamily="34" charset="0"/>
                <a:ea typeface="Consolas" pitchFamily="34" charset="-122"/>
                <a:cs typeface="Consolas" pitchFamily="34" charset="-120"/>
              </a:rPr>
              <a:t>kg</a:t>
            </a:r>
            <a:r>
              <a:rPr lang="en-US" sz="900" dirty="0">
                <a:solidFill>
                  <a:srgbClr val="FAF6F1"/>
                </a:solidFill>
                <a:latin typeface="Consolas" pitchFamily="34" charset="0"/>
                <a:ea typeface="Consolas" pitchFamily="34" charset="-122"/>
                <a:cs typeface="Consolas" pitchFamily="34" charset="-120"/>
              </a:rPr>
              <a:t> = </a:t>
            </a:r>
            <a:r>
              <a:rPr lang="en-US" sz="900" dirty="0">
                <a:solidFill>
                  <a:srgbClr val="6ABF69"/>
                </a:solidFill>
                <a:latin typeface="Consolas" pitchFamily="34" charset="0"/>
                <a:ea typeface="Consolas" pitchFamily="34" charset="-122"/>
                <a:cs typeface="Consolas" pitchFamily="34" charset="-120"/>
              </a:rPr>
              <a:t>6kg</a:t>
            </a:r>
            <a:endParaRPr lang="en-US" sz="900" dirty="0"/>
          </a:p>
        </p:txBody>
      </p:sp>
      <p:pic>
        <p:nvPicPr>
          <p:cNvPr id="12" name="Image 1" descr="preencoded.png"/>
          <p:cNvPicPr>
            <a:picLocks noChangeAspect="1"/>
          </p:cNvPicPr>
          <p:nvPr/>
        </p:nvPicPr>
        <p:blipFill>
          <a:blip r:embed="rId5">
            <a:alphaModFix amt="70000"/>
            <a:extLst>
              <a:ext uri="{96DAC541-7B7A-43D3-8B79-37D633B846F1}">
                <asvg:svgBlip xmlns:asvg="http://schemas.microsoft.com/office/drawing/2016/SVG/main" r:embed="rId6"/>
              </a:ext>
            </a:extLst>
          </a:blip>
          <a:stretch>
            <a:fillRect/>
          </a:stretch>
        </p:blipFill>
        <p:spPr>
          <a:xfrm>
            <a:off x="3042940" y="2793057"/>
            <a:ext cx="150465" cy="150465"/>
          </a:xfrm>
          <a:prstGeom prst="rect">
            <a:avLst/>
          </a:prstGeom>
        </p:spPr>
      </p:pic>
      <p:sp>
        <p:nvSpPr>
          <p:cNvPr id="13" name="Text 9"/>
          <p:cNvSpPr/>
          <p:nvPr/>
        </p:nvSpPr>
        <p:spPr>
          <a:xfrm>
            <a:off x="3364855" y="1278880"/>
            <a:ext cx="2414290" cy="3178820"/>
          </a:xfrm>
          <a:prstGeom prst="roundRect">
            <a:avLst>
              <a:gd name="adj" fmla="val 4156"/>
            </a:avLst>
          </a:prstGeom>
          <a:solidFill>
            <a:srgbClr val="3D3530"/>
          </a:solidFill>
          <a:ln/>
        </p:spPr>
        <p:txBody>
          <a:bodyPr wrap="square" rtlCol="0" anchor="t"/>
          <a:lstStyle/>
          <a:p>
            <a:pPr marL="0" indent="0">
              <a:buNone/>
            </a:pPr>
            <a:endParaRPr lang="en-US" dirty="0"/>
          </a:p>
        </p:txBody>
      </p:sp>
      <p:sp>
        <p:nvSpPr>
          <p:cNvPr id="14" name="Text 10"/>
          <p:cNvSpPr/>
          <p:nvPr/>
        </p:nvSpPr>
        <p:spPr>
          <a:xfrm>
            <a:off x="3364855" y="1278880"/>
            <a:ext cx="28575" cy="3178820"/>
          </a:xfrm>
          <a:custGeom>
            <a:avLst/>
            <a:gdLst/>
            <a:ahLst/>
            <a:cxnLst/>
            <a:rect l="l" t="t" r="r" b="b"/>
            <a:pathLst>
              <a:path w="28575" h="3178820">
                <a:moveTo>
                  <a:pt x="0" y="100330"/>
                </a:moveTo>
                <a:lnTo>
                  <a:pt x="3572" y="73797"/>
                </a:lnTo>
                <a:lnTo>
                  <a:pt x="7144" y="63149"/>
                </a:lnTo>
                <a:lnTo>
                  <a:pt x="10716" y="55215"/>
                </a:lnTo>
                <a:lnTo>
                  <a:pt x="14288" y="48727"/>
                </a:lnTo>
                <a:lnTo>
                  <a:pt x="17859" y="43192"/>
                </a:lnTo>
                <a:lnTo>
                  <a:pt x="21431" y="38353"/>
                </a:lnTo>
                <a:lnTo>
                  <a:pt x="25003" y="34058"/>
                </a:lnTo>
                <a:lnTo>
                  <a:pt x="28575" y="30206"/>
                </a:lnTo>
                <a:lnTo>
                  <a:pt x="28575" y="3148614"/>
                </a:lnTo>
                <a:lnTo>
                  <a:pt x="25003" y="3144762"/>
                </a:lnTo>
                <a:lnTo>
                  <a:pt x="21431" y="3140467"/>
                </a:lnTo>
                <a:lnTo>
                  <a:pt x="17859" y="3135628"/>
                </a:lnTo>
                <a:lnTo>
                  <a:pt x="14288" y="3130092"/>
                </a:lnTo>
                <a:lnTo>
                  <a:pt x="10716" y="3123605"/>
                </a:lnTo>
                <a:lnTo>
                  <a:pt x="7144" y="3115671"/>
                </a:lnTo>
                <a:lnTo>
                  <a:pt x="3572" y="3105023"/>
                </a:lnTo>
                <a:lnTo>
                  <a:pt x="0" y="3078490"/>
                </a:lnTo>
                <a:close/>
              </a:path>
            </a:pathLst>
          </a:custGeom>
          <a:solidFill>
            <a:srgbClr val="C4582A"/>
          </a:solidFill>
          <a:ln/>
        </p:spPr>
        <p:txBody>
          <a:bodyPr wrap="square" rtlCol="0" anchor="t"/>
          <a:lstStyle/>
          <a:p>
            <a:pPr marL="0" indent="0">
              <a:buNone/>
            </a:pPr>
            <a:endParaRPr lang="en-US" dirty="0"/>
          </a:p>
        </p:txBody>
      </p:sp>
      <p:sp>
        <p:nvSpPr>
          <p:cNvPr id="15" name="Text 11"/>
          <p:cNvSpPr/>
          <p:nvPr/>
        </p:nvSpPr>
        <p:spPr>
          <a:xfrm>
            <a:off x="3293120" y="1178570"/>
            <a:ext cx="228600" cy="251460"/>
          </a:xfrm>
          <a:prstGeom prst="ellipse">
            <a:avLst/>
          </a:prstGeom>
          <a:solidFill>
            <a:srgbClr val="C4582A"/>
          </a:solidFill>
          <a:ln/>
        </p:spPr>
        <p:txBody>
          <a:bodyPr wrap="none" lIns="0" tIns="0" rIns="0" bIns="0" rtlCol="0" anchor="ctr"/>
          <a:lstStyle/>
          <a:p>
            <a:pPr marL="0" indent="0" algn="ctr">
              <a:buNone/>
            </a:pPr>
            <a:r>
              <a:rPr lang="en-US" sz="840" b="1" dirty="0">
                <a:solidFill>
                  <a:srgbClr val="FFFFFF"/>
                </a:solidFill>
                <a:latin typeface="Constantia" pitchFamily="34" charset="0"/>
                <a:ea typeface="Constantia" pitchFamily="34" charset="-122"/>
                <a:cs typeface="Constantia" pitchFamily="34" charset="-120"/>
              </a:rPr>
              <a:t>2</a:t>
            </a:r>
            <a:endParaRPr lang="en-US" sz="840" dirty="0"/>
          </a:p>
        </p:txBody>
      </p:sp>
      <p:sp>
        <p:nvSpPr>
          <p:cNvPr id="16" name="Text 12"/>
          <p:cNvSpPr/>
          <p:nvPr/>
        </p:nvSpPr>
        <p:spPr>
          <a:xfrm>
            <a:off x="3622030" y="1479500"/>
            <a:ext cx="2121366" cy="192435"/>
          </a:xfrm>
          <a:prstGeom prst="rect">
            <a:avLst/>
          </a:prstGeom>
          <a:noFill/>
          <a:ln/>
        </p:spPr>
        <p:txBody>
          <a:bodyPr wrap="none" lIns="0" tIns="0" rIns="0" bIns="0" rtlCol="0" anchor="t"/>
          <a:lstStyle/>
          <a:p>
            <a:pPr marL="0" indent="0" algn="l">
              <a:lnSpc>
                <a:spcPts val="1515"/>
              </a:lnSpc>
              <a:spcAft>
                <a:spcPts val="230"/>
              </a:spcAft>
              <a:buNone/>
            </a:pPr>
            <a:r>
              <a:rPr lang="en-US" sz="1010" b="1" dirty="0">
                <a:solidFill>
                  <a:srgbClr val="FAF6F1"/>
                </a:solidFill>
                <a:latin typeface="Constantia" pitchFamily="34" charset="0"/>
                <a:ea typeface="Constantia" pitchFamily="34" charset="-122"/>
                <a:cs typeface="Constantia" pitchFamily="34" charset="-120"/>
              </a:rPr>
              <a:t>Compute with type safety</a:t>
            </a:r>
            <a:endParaRPr lang="en-US" sz="1010" dirty="0"/>
          </a:p>
        </p:txBody>
      </p:sp>
      <p:sp>
        <p:nvSpPr>
          <p:cNvPr id="17" name="Text 13"/>
          <p:cNvSpPr/>
          <p:nvPr/>
        </p:nvSpPr>
        <p:spPr>
          <a:xfrm>
            <a:off x="3622030" y="1701105"/>
            <a:ext cx="2121366" cy="150465"/>
          </a:xfrm>
          <a:prstGeom prst="rect">
            <a:avLst/>
          </a:prstGeom>
          <a:noFill/>
          <a:ln/>
        </p:spPr>
        <p:txBody>
          <a:bodyPr wrap="none" lIns="0" tIns="0" rIns="0" bIns="0" rtlCol="0" anchor="t"/>
          <a:lstStyle/>
          <a:p>
            <a:pPr marL="0" indent="0" algn="l">
              <a:lnSpc>
                <a:spcPts val="1185"/>
              </a:lnSpc>
              <a:spcAft>
                <a:spcPts val="680"/>
              </a:spcAft>
              <a:buNone/>
            </a:pPr>
            <a:r>
              <a:rPr lang="en-US" sz="790" dirty="0">
                <a:solidFill>
                  <a:srgbClr val="C4B5A6"/>
                </a:solidFill>
                <a:latin typeface="Corbel" pitchFamily="34" charset="0"/>
                <a:ea typeface="Corbel" pitchFamily="34" charset="-122"/>
                <a:cs typeface="Corbel" pitchFamily="34" charset="-120"/>
              </a:rPr>
              <a:t>The compiler verifies kg + kg is valid</a:t>
            </a:r>
            <a:endParaRPr lang="en-US" sz="790" dirty="0"/>
          </a:p>
        </p:txBody>
      </p:sp>
      <p:sp>
        <p:nvSpPr>
          <p:cNvPr id="18" name="Text 14"/>
          <p:cNvSpPr/>
          <p:nvPr/>
        </p:nvSpPr>
        <p:spPr>
          <a:xfrm>
            <a:off x="3622030" y="1937891"/>
            <a:ext cx="1967085" cy="191691"/>
          </a:xfrm>
          <a:prstGeom prst="roundRect">
            <a:avLst>
              <a:gd name="adj" fmla="val 22526"/>
            </a:avLst>
          </a:prstGeom>
          <a:solidFill>
            <a:srgbClr val="C4582A">
              <a:alpha val="15000"/>
            </a:srgbClr>
          </a:solidFill>
          <a:ln w="9525">
            <a:solidFill>
              <a:srgbClr val="C4582A">
                <a:alpha val="30000"/>
              </a:srgbClr>
            </a:solidFill>
          </a:ln>
        </p:spPr>
        <p:txBody>
          <a:bodyPr wrap="none" lIns="71120" tIns="21590" rIns="71120" bIns="21590" rtlCol="0" anchor="t"/>
          <a:lstStyle/>
          <a:p>
            <a:pPr marL="0" indent="0" algn="l">
              <a:buNone/>
            </a:pPr>
            <a:r>
              <a:rPr lang="en-US" sz="680" kern="0" spc="60" dirty="0">
                <a:solidFill>
                  <a:srgbClr val="C4582A"/>
                </a:solidFill>
                <a:latin typeface="Consolas" pitchFamily="34" charset="0"/>
                <a:ea typeface="Consolas" pitchFamily="34" charset="-122"/>
                <a:cs typeface="Consolas" pitchFamily="34" charset="-120"/>
              </a:rPr>
              <a:t>FLING</a:t>
            </a:r>
            <a:endParaRPr lang="en-US" sz="680" dirty="0"/>
          </a:p>
        </p:txBody>
      </p:sp>
      <p:sp>
        <p:nvSpPr>
          <p:cNvPr id="19" name="Text 15"/>
          <p:cNvSpPr/>
          <p:nvPr/>
        </p:nvSpPr>
        <p:spPr>
          <a:xfrm>
            <a:off x="3622030" y="2243733"/>
            <a:ext cx="1928515" cy="2073747"/>
          </a:xfrm>
          <a:prstGeom prst="roundRect">
            <a:avLst>
              <a:gd name="adj" fmla="val 2963"/>
            </a:avLst>
          </a:prstGeom>
          <a:solidFill>
            <a:srgbClr val="1E1A16"/>
          </a:solidFill>
          <a:ln w="9525">
            <a:solidFill>
              <a:srgbClr val="C4582A">
                <a:alpha val="20000"/>
              </a:srgbClr>
            </a:solidFill>
          </a:ln>
        </p:spPr>
        <p:txBody>
          <a:bodyPr wrap="square" lIns="128270" tIns="100330" rIns="128270" bIns="100330" rtlCol="0" anchor="t"/>
          <a:lstStyle/>
          <a:p>
            <a:pPr marL="0" indent="0" algn="l">
              <a:lnSpc>
                <a:spcPts val="1440"/>
              </a:lnSpc>
              <a:buNone/>
            </a:pPr>
            <a:r>
              <a:rPr lang="en-US" sz="900" b="1" dirty="0">
                <a:solidFill>
                  <a:srgbClr val="C4582A"/>
                </a:solidFill>
                <a:latin typeface="Consolas" pitchFamily="34" charset="0"/>
                <a:ea typeface="Consolas" pitchFamily="34" charset="-122"/>
                <a:cs typeface="Consolas" pitchFamily="34" charset="-120"/>
              </a:rPr>
              <a:t>ingredient</a:t>
            </a:r>
            <a:r>
              <a:rPr lang="en-US" sz="900" dirty="0">
                <a:solidFill>
                  <a:srgbClr val="FAF6F1"/>
                </a:solidFill>
                <a:latin typeface="Consolas" pitchFamily="34" charset="0"/>
                <a:ea typeface="Consolas" pitchFamily="34" charset="-122"/>
                <a:cs typeface="Consolas" pitchFamily="34" charset="-120"/>
              </a:rPr>
              <a:t> </a:t>
            </a:r>
            <a:r>
              <a:rPr lang="en-US" sz="900" dirty="0">
                <a:solidFill>
                  <a:srgbClr val="7EB8DA"/>
                </a:solidFill>
                <a:latin typeface="Consolas" pitchFamily="34" charset="0"/>
                <a:ea typeface="Consolas" pitchFamily="34" charset="-122"/>
                <a:cs typeface="Consolas" pitchFamily="34" charset="-120"/>
              </a:rPr>
              <a:t>z</a:t>
            </a:r>
            <a:r>
              <a:rPr lang="en-US" sz="900" dirty="0">
                <a:solidFill>
                  <a:srgbClr val="FAF6F1"/>
                </a:solidFill>
                <a:latin typeface="Consolas" pitchFamily="34" charset="0"/>
                <a:ea typeface="Consolas" pitchFamily="34" charset="-122"/>
                <a:cs typeface="Consolas" pitchFamily="34" charset="-120"/>
              </a:rPr>
              <a:t>: </a:t>
            </a:r>
            <a:r>
              <a:rPr lang="en-US" sz="900" dirty="0">
                <a:solidFill>
                  <a:srgbClr val="C4B5A6"/>
                </a:solidFill>
                <a:latin typeface="Consolas" pitchFamily="34" charset="0"/>
                <a:ea typeface="Consolas" pitchFamily="34" charset="-122"/>
                <a:cs typeface="Consolas" pitchFamily="34" charset="-120"/>
              </a:rPr>
              <a:t>kg</a:t>
            </a:r>
            <a:r>
              <a:rPr lang="en-US" sz="900" dirty="0">
                <a:solidFill>
                  <a:srgbClr val="FAF6F1"/>
                </a:solidFill>
                <a:latin typeface="Consolas" pitchFamily="34" charset="0"/>
                <a:ea typeface="Consolas" pitchFamily="34" charset="-122"/>
                <a:cs typeface="Consolas" pitchFamily="34" charset="-120"/>
              </a:rPr>
              <a:t> = </a:t>
            </a:r>
            <a:r>
              <a:rPr lang="en-US" sz="900" dirty="0">
                <a:solidFill>
                  <a:srgbClr val="7EB8DA"/>
                </a:solidFill>
                <a:latin typeface="Consolas" pitchFamily="34" charset="0"/>
                <a:ea typeface="Consolas" pitchFamily="34" charset="-122"/>
                <a:cs typeface="Consolas" pitchFamily="34" charset="-120"/>
              </a:rPr>
              <a:t>x</a:t>
            </a:r>
            <a:r>
              <a:rPr lang="en-US" sz="900" dirty="0">
                <a:solidFill>
                  <a:srgbClr val="FAF6F1"/>
                </a:solidFill>
                <a:latin typeface="Consolas" pitchFamily="34" charset="0"/>
                <a:ea typeface="Consolas" pitchFamily="34" charset="-122"/>
                <a:cs typeface="Consolas" pitchFamily="34" charset="-120"/>
              </a:rPr>
              <a:t> + </a:t>
            </a:r>
            <a:r>
              <a:rPr lang="en-US" sz="900" dirty="0">
                <a:solidFill>
                  <a:srgbClr val="7EB8DA"/>
                </a:solidFill>
                <a:latin typeface="Consolas" pitchFamily="34" charset="0"/>
                <a:ea typeface="Consolas" pitchFamily="34" charset="-122"/>
                <a:cs typeface="Consolas" pitchFamily="34" charset="-120"/>
              </a:rPr>
              <a:t>y</a:t>
            </a:r>
            <a:br/>
            <a:r>
              <a:rPr lang="en-US" sz="900" dirty="0">
                <a:solidFill>
                  <a:srgbClr val="FAF6F1"/>
                </a:solidFill>
                <a:latin typeface="Consolas" pitchFamily="34" charset="0"/>
                <a:ea typeface="Consolas" pitchFamily="34" charset="-122"/>
                <a:cs typeface="Consolas" pitchFamily="34" charset="-120"/>
              </a:rPr>
              <a:t> </a:t>
            </a:r>
            <a:r>
              <a:rPr lang="en-US" sz="900" i="1" dirty="0">
                <a:solidFill>
                  <a:srgbClr val="7A6E62"/>
                </a:solidFill>
                <a:latin typeface="Consolas" pitchFamily="34" charset="0"/>
                <a:ea typeface="Consolas" pitchFamily="34" charset="-122"/>
                <a:cs typeface="Consolas" pitchFamily="34" charset="-120"/>
              </a:rPr>
              <a:t>// kg + kg → kg ✓</a:t>
            </a:r>
            <a:br/>
            <a:r>
              <a:rPr lang="en-US" sz="900" dirty="0">
                <a:solidFill>
                  <a:srgbClr val="FAF6F1"/>
                </a:solidFill>
                <a:latin typeface="Consolas" pitchFamily="34" charset="0"/>
                <a:ea typeface="Consolas" pitchFamily="34" charset="-122"/>
                <a:cs typeface="Consolas" pitchFamily="34" charset="-120"/>
              </a:rPr>
              <a:t> </a:t>
            </a:r>
            <a:r>
              <a:rPr lang="en-US" sz="900" i="1" dirty="0">
                <a:solidFill>
                  <a:srgbClr val="7A6E62"/>
                </a:solidFill>
                <a:latin typeface="Consolas" pitchFamily="34" charset="0"/>
                <a:ea typeface="Consolas" pitchFamily="34" charset="-122"/>
                <a:cs typeface="Consolas" pitchFamily="34" charset="-120"/>
              </a:rPr>
              <a:t>// kg + ml → TypeError ✗</a:t>
            </a:r>
            <a:endParaRPr lang="en-US" sz="900" dirty="0"/>
          </a:p>
        </p:txBody>
      </p:sp>
      <p:pic>
        <p:nvPicPr>
          <p:cNvPr id="20" name="Image 2" descr="preencoded.png"/>
          <p:cNvPicPr>
            <a:picLocks noChangeAspect="1"/>
          </p:cNvPicPr>
          <p:nvPr/>
        </p:nvPicPr>
        <p:blipFill>
          <a:blip r:embed="rId5">
            <a:alphaModFix amt="70000"/>
            <a:extLst>
              <a:ext uri="{96DAC541-7B7A-43D3-8B79-37D633B846F1}">
                <asvg:svgBlip xmlns:asvg="http://schemas.microsoft.com/office/drawing/2016/SVG/main" r:embed="rId7"/>
              </a:ext>
            </a:extLst>
          </a:blip>
          <a:stretch>
            <a:fillRect/>
          </a:stretch>
        </p:blipFill>
        <p:spPr>
          <a:xfrm>
            <a:off x="5950595" y="2793057"/>
            <a:ext cx="150465" cy="150465"/>
          </a:xfrm>
          <a:prstGeom prst="rect">
            <a:avLst/>
          </a:prstGeom>
        </p:spPr>
      </p:pic>
      <p:sp>
        <p:nvSpPr>
          <p:cNvPr id="21" name="Text 16"/>
          <p:cNvSpPr/>
          <p:nvPr/>
        </p:nvSpPr>
        <p:spPr>
          <a:xfrm>
            <a:off x="6272510" y="1278880"/>
            <a:ext cx="2414290" cy="3178820"/>
          </a:xfrm>
          <a:prstGeom prst="roundRect">
            <a:avLst>
              <a:gd name="adj" fmla="val 4156"/>
            </a:avLst>
          </a:prstGeom>
          <a:solidFill>
            <a:srgbClr val="3D3530"/>
          </a:solidFill>
          <a:ln/>
        </p:spPr>
        <p:txBody>
          <a:bodyPr wrap="square" rtlCol="0" anchor="t"/>
          <a:lstStyle/>
          <a:p>
            <a:pPr marL="0" indent="0">
              <a:buNone/>
            </a:pPr>
            <a:endParaRPr lang="en-US" dirty="0"/>
          </a:p>
        </p:txBody>
      </p:sp>
      <p:sp>
        <p:nvSpPr>
          <p:cNvPr id="22" name="Text 17"/>
          <p:cNvSpPr/>
          <p:nvPr/>
        </p:nvSpPr>
        <p:spPr>
          <a:xfrm>
            <a:off x="6272510" y="1278880"/>
            <a:ext cx="28575" cy="3178820"/>
          </a:xfrm>
          <a:custGeom>
            <a:avLst/>
            <a:gdLst/>
            <a:ahLst/>
            <a:cxnLst/>
            <a:rect l="l" t="t" r="r" b="b"/>
            <a:pathLst>
              <a:path w="28575" h="3178820">
                <a:moveTo>
                  <a:pt x="0" y="100330"/>
                </a:moveTo>
                <a:lnTo>
                  <a:pt x="3572" y="73797"/>
                </a:lnTo>
                <a:lnTo>
                  <a:pt x="7144" y="63149"/>
                </a:lnTo>
                <a:lnTo>
                  <a:pt x="10716" y="55215"/>
                </a:lnTo>
                <a:lnTo>
                  <a:pt x="14288" y="48727"/>
                </a:lnTo>
                <a:lnTo>
                  <a:pt x="17859" y="43192"/>
                </a:lnTo>
                <a:lnTo>
                  <a:pt x="21431" y="38353"/>
                </a:lnTo>
                <a:lnTo>
                  <a:pt x="25003" y="34058"/>
                </a:lnTo>
                <a:lnTo>
                  <a:pt x="28575" y="30206"/>
                </a:lnTo>
                <a:lnTo>
                  <a:pt x="28575" y="3148614"/>
                </a:lnTo>
                <a:lnTo>
                  <a:pt x="25003" y="3144762"/>
                </a:lnTo>
                <a:lnTo>
                  <a:pt x="21431" y="3140467"/>
                </a:lnTo>
                <a:lnTo>
                  <a:pt x="17859" y="3135628"/>
                </a:lnTo>
                <a:lnTo>
                  <a:pt x="14288" y="3130092"/>
                </a:lnTo>
                <a:lnTo>
                  <a:pt x="10716" y="3123605"/>
                </a:lnTo>
                <a:lnTo>
                  <a:pt x="7144" y="3115671"/>
                </a:lnTo>
                <a:lnTo>
                  <a:pt x="3572" y="3105023"/>
                </a:lnTo>
                <a:lnTo>
                  <a:pt x="0" y="3078490"/>
                </a:lnTo>
                <a:close/>
              </a:path>
            </a:pathLst>
          </a:custGeom>
          <a:solidFill>
            <a:srgbClr val="C4582A"/>
          </a:solidFill>
          <a:ln/>
        </p:spPr>
        <p:txBody>
          <a:bodyPr wrap="square" rtlCol="0" anchor="t"/>
          <a:lstStyle/>
          <a:p>
            <a:pPr marL="0" indent="0">
              <a:buNone/>
            </a:pPr>
            <a:endParaRPr lang="en-US" dirty="0"/>
          </a:p>
        </p:txBody>
      </p:sp>
      <p:sp>
        <p:nvSpPr>
          <p:cNvPr id="23" name="Text 18"/>
          <p:cNvSpPr/>
          <p:nvPr/>
        </p:nvSpPr>
        <p:spPr>
          <a:xfrm>
            <a:off x="6200775" y="1178570"/>
            <a:ext cx="228600" cy="251460"/>
          </a:xfrm>
          <a:prstGeom prst="ellipse">
            <a:avLst/>
          </a:prstGeom>
          <a:solidFill>
            <a:srgbClr val="C4582A"/>
          </a:solidFill>
          <a:ln/>
        </p:spPr>
        <p:txBody>
          <a:bodyPr wrap="none" lIns="0" tIns="0" rIns="0" bIns="0" rtlCol="0" anchor="ctr"/>
          <a:lstStyle/>
          <a:p>
            <a:pPr marL="0" indent="0" algn="ctr">
              <a:buNone/>
            </a:pPr>
            <a:r>
              <a:rPr lang="en-US" sz="840" b="1" dirty="0">
                <a:solidFill>
                  <a:srgbClr val="FFFFFF"/>
                </a:solidFill>
                <a:latin typeface="Constantia" pitchFamily="34" charset="0"/>
                <a:ea typeface="Constantia" pitchFamily="34" charset="-122"/>
                <a:cs typeface="Constantia" pitchFamily="34" charset="-120"/>
              </a:rPr>
              <a:t>3</a:t>
            </a:r>
            <a:endParaRPr lang="en-US" sz="840" dirty="0"/>
          </a:p>
        </p:txBody>
      </p:sp>
      <p:sp>
        <p:nvSpPr>
          <p:cNvPr id="24" name="Text 19"/>
          <p:cNvSpPr/>
          <p:nvPr/>
        </p:nvSpPr>
        <p:spPr>
          <a:xfrm>
            <a:off x="6529685" y="1479500"/>
            <a:ext cx="2121366" cy="192435"/>
          </a:xfrm>
          <a:prstGeom prst="rect">
            <a:avLst/>
          </a:prstGeom>
          <a:noFill/>
          <a:ln/>
        </p:spPr>
        <p:txBody>
          <a:bodyPr wrap="none" lIns="0" tIns="0" rIns="0" bIns="0" rtlCol="0" anchor="t"/>
          <a:lstStyle/>
          <a:p>
            <a:pPr marL="0" indent="0" algn="l">
              <a:lnSpc>
                <a:spcPts val="1515"/>
              </a:lnSpc>
              <a:spcAft>
                <a:spcPts val="230"/>
              </a:spcAft>
              <a:buNone/>
            </a:pPr>
            <a:r>
              <a:rPr lang="en-US" sz="1010" b="1" dirty="0">
                <a:solidFill>
                  <a:srgbClr val="FAF6F1"/>
                </a:solidFill>
                <a:latin typeface="Constantia" pitchFamily="34" charset="0"/>
                <a:ea typeface="Constantia" pitchFamily="34" charset="-122"/>
                <a:cs typeface="Constantia" pitchFamily="34" charset="-120"/>
              </a:rPr>
              <a:t>Serve the result</a:t>
            </a:r>
            <a:endParaRPr lang="en-US" sz="1010" dirty="0"/>
          </a:p>
        </p:txBody>
      </p:sp>
      <p:sp>
        <p:nvSpPr>
          <p:cNvPr id="25" name="Text 20"/>
          <p:cNvSpPr/>
          <p:nvPr/>
        </p:nvSpPr>
        <p:spPr>
          <a:xfrm>
            <a:off x="6529685" y="1701105"/>
            <a:ext cx="2121366" cy="150465"/>
          </a:xfrm>
          <a:prstGeom prst="rect">
            <a:avLst/>
          </a:prstGeom>
          <a:noFill/>
          <a:ln/>
        </p:spPr>
        <p:txBody>
          <a:bodyPr wrap="none" lIns="0" tIns="0" rIns="0" bIns="0" rtlCol="0" anchor="t"/>
          <a:lstStyle/>
          <a:p>
            <a:pPr marL="0" indent="0" algn="l">
              <a:lnSpc>
                <a:spcPts val="1185"/>
              </a:lnSpc>
              <a:spcAft>
                <a:spcPts val="680"/>
              </a:spcAft>
              <a:buNone/>
            </a:pPr>
            <a:r>
              <a:rPr lang="en-US" sz="790" dirty="0">
                <a:solidFill>
                  <a:srgbClr val="C4B5A6"/>
                </a:solidFill>
                <a:latin typeface="Corbel" pitchFamily="34" charset="0"/>
                <a:ea typeface="Corbel" pitchFamily="34" charset="-122"/>
                <a:cs typeface="Corbel" pitchFamily="34" charset="-120"/>
              </a:rPr>
              <a:t>Output the final value</a:t>
            </a:r>
            <a:endParaRPr lang="en-US" sz="790" dirty="0"/>
          </a:p>
        </p:txBody>
      </p:sp>
      <p:sp>
        <p:nvSpPr>
          <p:cNvPr id="26" name="Text 21"/>
          <p:cNvSpPr/>
          <p:nvPr/>
        </p:nvSpPr>
        <p:spPr>
          <a:xfrm>
            <a:off x="6529685" y="1937891"/>
            <a:ext cx="1967085" cy="191691"/>
          </a:xfrm>
          <a:prstGeom prst="roundRect">
            <a:avLst>
              <a:gd name="adj" fmla="val 22526"/>
            </a:avLst>
          </a:prstGeom>
          <a:solidFill>
            <a:srgbClr val="C4582A">
              <a:alpha val="15000"/>
            </a:srgbClr>
          </a:solidFill>
          <a:ln w="9525">
            <a:solidFill>
              <a:srgbClr val="C4582A">
                <a:alpha val="30000"/>
              </a:srgbClr>
            </a:solidFill>
          </a:ln>
        </p:spPr>
        <p:txBody>
          <a:bodyPr wrap="none" lIns="71120" tIns="21590" rIns="71120" bIns="21590" rtlCol="0" anchor="t"/>
          <a:lstStyle/>
          <a:p>
            <a:pPr marL="0" indent="0" algn="l">
              <a:buNone/>
            </a:pPr>
            <a:r>
              <a:rPr lang="en-US" sz="680" kern="0" spc="60" dirty="0">
                <a:solidFill>
                  <a:srgbClr val="C4582A"/>
                </a:solidFill>
                <a:latin typeface="Consolas" pitchFamily="34" charset="0"/>
                <a:ea typeface="Consolas" pitchFamily="34" charset="-122"/>
                <a:cs typeface="Consolas" pitchFamily="34" charset="-120"/>
              </a:rPr>
              <a:t>FLING</a:t>
            </a:r>
            <a:endParaRPr lang="en-US" sz="680" dirty="0"/>
          </a:p>
        </p:txBody>
      </p:sp>
      <p:sp>
        <p:nvSpPr>
          <p:cNvPr id="27" name="Text 22"/>
          <p:cNvSpPr/>
          <p:nvPr/>
        </p:nvSpPr>
        <p:spPr>
          <a:xfrm>
            <a:off x="6529685" y="2243733"/>
            <a:ext cx="1967085" cy="402431"/>
          </a:xfrm>
          <a:prstGeom prst="roundRect">
            <a:avLst>
              <a:gd name="adj" fmla="val 14201"/>
            </a:avLst>
          </a:prstGeom>
          <a:solidFill>
            <a:srgbClr val="1E1A16"/>
          </a:solidFill>
          <a:ln w="9525">
            <a:solidFill>
              <a:srgbClr val="C4582A">
                <a:alpha val="20000"/>
              </a:srgbClr>
            </a:solidFill>
          </a:ln>
        </p:spPr>
        <p:txBody>
          <a:bodyPr wrap="none" lIns="128270" tIns="100330" rIns="128270" bIns="100330" rtlCol="0" anchor="t"/>
          <a:lstStyle/>
          <a:p>
            <a:pPr marL="0" indent="0" algn="l">
              <a:buNone/>
            </a:pPr>
            <a:r>
              <a:rPr lang="en-US" sz="900" b="1" dirty="0">
                <a:solidFill>
                  <a:srgbClr val="C4582A"/>
                </a:solidFill>
                <a:latin typeface="Consolas" pitchFamily="34" charset="0"/>
                <a:ea typeface="Consolas" pitchFamily="34" charset="-122"/>
                <a:cs typeface="Consolas" pitchFamily="34" charset="-120"/>
              </a:rPr>
              <a:t>serve</a:t>
            </a:r>
            <a:endParaRPr lang="en-US" sz="900" dirty="0"/>
          </a:p>
          <a:p>
            <a:pPr marL="0" indent="0" algn="l">
              <a:buNone/>
            </a:pPr>
            <a:r>
              <a:rPr lang="en-US" sz="900" dirty="0">
                <a:solidFill>
                  <a:srgbClr val="7EB8DA"/>
                </a:solidFill>
                <a:latin typeface="Consolas" pitchFamily="34" charset="0"/>
                <a:ea typeface="Consolas" pitchFamily="34" charset="-122"/>
                <a:cs typeface="Consolas" pitchFamily="34" charset="-120"/>
              </a:rPr>
              <a:t>z</a:t>
            </a:r>
            <a:endParaRPr lang="en-US" sz="900" dirty="0"/>
          </a:p>
        </p:txBody>
      </p:sp>
      <p:pic>
        <p:nvPicPr>
          <p:cNvPr id="28" name="Image 3" descr="preencoded.png"/>
          <p:cNvPicPr>
            <a:picLocks noChangeAspect="1"/>
          </p:cNvPicPr>
          <p:nvPr/>
        </p:nvPicPr>
        <p:blipFill>
          <a:blip r:embed="rId8">
            <a:alphaModFix amt="70000"/>
            <a:extLst>
              <a:ext uri="{96DAC541-7B7A-43D3-8B79-37D633B846F1}">
                <asvg:svgBlip xmlns:asvg="http://schemas.microsoft.com/office/drawing/2016/SVG/main" r:embed="rId9"/>
              </a:ext>
            </a:extLst>
          </a:blip>
          <a:stretch>
            <a:fillRect/>
          </a:stretch>
        </p:blipFill>
        <p:spPr>
          <a:xfrm>
            <a:off x="6517193" y="2719992"/>
            <a:ext cx="132588" cy="132588"/>
          </a:xfrm>
          <a:prstGeom prst="rect">
            <a:avLst/>
          </a:prstGeom>
        </p:spPr>
      </p:pic>
      <p:sp>
        <p:nvSpPr>
          <p:cNvPr id="29" name="Text 23"/>
          <p:cNvSpPr/>
          <p:nvPr/>
        </p:nvSpPr>
        <p:spPr>
          <a:xfrm>
            <a:off x="6558855" y="2863453"/>
            <a:ext cx="537790" cy="104775"/>
          </a:xfrm>
          <a:prstGeom prst="rect">
            <a:avLst/>
          </a:prstGeom>
          <a:noFill/>
          <a:ln/>
        </p:spPr>
        <p:txBody>
          <a:bodyPr wrap="none" lIns="0" tIns="0" rIns="0" bIns="0" rtlCol="0" anchor="ctr"/>
          <a:lstStyle/>
          <a:p>
            <a:pPr marL="0" indent="0" algn="l">
              <a:lnSpc>
                <a:spcPts val="1095"/>
              </a:lnSpc>
              <a:buNone/>
            </a:pPr>
            <a:r>
              <a:rPr lang="en-US" sz="730" dirty="0">
                <a:solidFill>
                  <a:srgbClr val="C4B5A6"/>
                </a:solidFill>
                <a:latin typeface="Corbel" pitchFamily="34" charset="0"/>
                <a:ea typeface="Corbel" pitchFamily="34" charset="-122"/>
                <a:cs typeface="Corbel" pitchFamily="34" charset="-120"/>
              </a:rPr>
              <a:t>Compiles to</a:t>
            </a:r>
            <a:endParaRPr lang="en-US" sz="730" dirty="0"/>
          </a:p>
        </p:txBody>
      </p:sp>
      <p:sp>
        <p:nvSpPr>
          <p:cNvPr id="30" name="Text 24"/>
          <p:cNvSpPr/>
          <p:nvPr/>
        </p:nvSpPr>
        <p:spPr>
          <a:xfrm>
            <a:off x="6529685" y="3050084"/>
            <a:ext cx="1967085" cy="191691"/>
          </a:xfrm>
          <a:prstGeom prst="roundRect">
            <a:avLst>
              <a:gd name="adj" fmla="val 22526"/>
            </a:avLst>
          </a:prstGeom>
          <a:solidFill>
            <a:srgbClr val="6ABF69">
              <a:alpha val="12000"/>
            </a:srgbClr>
          </a:solidFill>
          <a:ln w="9525">
            <a:solidFill>
              <a:srgbClr val="6ABF69">
                <a:alpha val="30000"/>
              </a:srgbClr>
            </a:solidFill>
          </a:ln>
        </p:spPr>
        <p:txBody>
          <a:bodyPr wrap="none" lIns="71120" tIns="21590" rIns="71120" bIns="21590" rtlCol="0" anchor="t"/>
          <a:lstStyle/>
          <a:p>
            <a:pPr marL="0" indent="0" algn="l">
              <a:buNone/>
            </a:pPr>
            <a:r>
              <a:rPr lang="en-US" sz="680" kern="0" spc="60" dirty="0">
                <a:solidFill>
                  <a:srgbClr val="6ABF69"/>
                </a:solidFill>
                <a:latin typeface="Consolas" pitchFamily="34" charset="0"/>
                <a:ea typeface="Consolas" pitchFamily="34" charset="-122"/>
                <a:cs typeface="Consolas" pitchFamily="34" charset="-120"/>
              </a:rPr>
              <a:t>JAVASCRIPT</a:t>
            </a:r>
            <a:endParaRPr lang="en-US" sz="680" dirty="0"/>
          </a:p>
        </p:txBody>
      </p:sp>
      <p:sp>
        <p:nvSpPr>
          <p:cNvPr id="31" name="Text 25"/>
          <p:cNvSpPr/>
          <p:nvPr/>
        </p:nvSpPr>
        <p:spPr>
          <a:xfrm>
            <a:off x="6529685" y="3355925"/>
            <a:ext cx="1928515" cy="602748"/>
          </a:xfrm>
          <a:prstGeom prst="roundRect">
            <a:avLst>
              <a:gd name="adj" fmla="val 9482"/>
            </a:avLst>
          </a:prstGeom>
          <a:solidFill>
            <a:srgbClr val="1E1A16"/>
          </a:solidFill>
          <a:ln w="9525">
            <a:solidFill>
              <a:srgbClr val="6ABF69">
                <a:alpha val="20000"/>
              </a:srgbClr>
            </a:solidFill>
          </a:ln>
        </p:spPr>
        <p:txBody>
          <a:bodyPr wrap="square" lIns="128270" tIns="100330" rIns="128270" bIns="100330" rtlCol="0" anchor="t"/>
          <a:lstStyle/>
          <a:p>
            <a:pPr marL="0" indent="0" algn="l">
              <a:lnSpc>
                <a:spcPts val="1440"/>
              </a:lnSpc>
              <a:buNone/>
            </a:pPr>
            <a:r>
              <a:rPr lang="en-US" sz="900" dirty="0">
                <a:solidFill>
                  <a:srgbClr val="C4582A"/>
                </a:solidFill>
                <a:latin typeface="Consolas" pitchFamily="34" charset="0"/>
                <a:ea typeface="Consolas" pitchFamily="34" charset="-122"/>
                <a:cs typeface="Consolas" pitchFamily="34" charset="-120"/>
              </a:rPr>
              <a:t>const</a:t>
            </a:r>
            <a:r>
              <a:rPr lang="en-US" sz="900" dirty="0">
                <a:solidFill>
                  <a:srgbClr val="FAF6F1"/>
                </a:solidFill>
                <a:latin typeface="Consolas" pitchFamily="34" charset="0"/>
                <a:ea typeface="Consolas" pitchFamily="34" charset="-122"/>
                <a:cs typeface="Consolas" pitchFamily="34" charset="-120"/>
              </a:rPr>
              <a:t> </a:t>
            </a:r>
            <a:r>
              <a:rPr lang="en-US" sz="900" dirty="0">
                <a:solidFill>
                  <a:srgbClr val="7EB8DA"/>
                </a:solidFill>
                <a:latin typeface="Consolas" pitchFamily="34" charset="0"/>
                <a:ea typeface="Consolas" pitchFamily="34" charset="-122"/>
                <a:cs typeface="Consolas" pitchFamily="34" charset="-120"/>
              </a:rPr>
              <a:t>z</a:t>
            </a:r>
            <a:r>
              <a:rPr lang="en-US" sz="900" dirty="0">
                <a:solidFill>
                  <a:srgbClr val="FAF6F1"/>
                </a:solidFill>
                <a:latin typeface="Consolas" pitchFamily="34" charset="0"/>
                <a:ea typeface="Consolas" pitchFamily="34" charset="-122"/>
                <a:cs typeface="Consolas" pitchFamily="34" charset="-120"/>
              </a:rPr>
              <a:t> = (</a:t>
            </a:r>
            <a:r>
              <a:rPr lang="en-US" sz="900" dirty="0">
                <a:solidFill>
                  <a:srgbClr val="6ABF69"/>
                </a:solidFill>
                <a:latin typeface="Consolas" pitchFamily="34" charset="0"/>
                <a:ea typeface="Consolas" pitchFamily="34" charset="-122"/>
                <a:cs typeface="Consolas" pitchFamily="34" charset="-120"/>
              </a:rPr>
              <a:t>5</a:t>
            </a:r>
            <a:r>
              <a:rPr lang="en-US" sz="900" dirty="0">
                <a:solidFill>
                  <a:srgbClr val="FAF6F1"/>
                </a:solidFill>
                <a:latin typeface="Consolas" pitchFamily="34" charset="0"/>
                <a:ea typeface="Consolas" pitchFamily="34" charset="-122"/>
                <a:cs typeface="Consolas" pitchFamily="34" charset="-120"/>
              </a:rPr>
              <a:t> + </a:t>
            </a:r>
            <a:r>
              <a:rPr lang="en-US" sz="900" dirty="0">
                <a:solidFill>
                  <a:srgbClr val="6ABF69"/>
                </a:solidFill>
                <a:latin typeface="Consolas" pitchFamily="34" charset="0"/>
                <a:ea typeface="Consolas" pitchFamily="34" charset="-122"/>
                <a:cs typeface="Consolas" pitchFamily="34" charset="-120"/>
              </a:rPr>
              <a:t>6</a:t>
            </a:r>
            <a:r>
              <a:rPr lang="en-US" sz="900" dirty="0">
                <a:solidFill>
                  <a:srgbClr val="FAF6F1"/>
                </a:solidFill>
                <a:latin typeface="Consolas" pitchFamily="34" charset="0"/>
                <a:ea typeface="Consolas" pitchFamily="34" charset="-122"/>
                <a:cs typeface="Consolas" pitchFamily="34" charset="-120"/>
              </a:rPr>
              <a:t>);</a:t>
            </a:r>
            <a:br/>
            <a:r>
              <a:rPr lang="en-US" sz="900" dirty="0">
                <a:solidFill>
                  <a:srgbClr val="FAF6F1"/>
                </a:solidFill>
                <a:latin typeface="Consolas" pitchFamily="34" charset="0"/>
                <a:ea typeface="Consolas" pitchFamily="34" charset="-122"/>
                <a:cs typeface="Consolas" pitchFamily="34" charset="-120"/>
              </a:rPr>
              <a:t> </a:t>
            </a:r>
            <a:r>
              <a:rPr lang="en-US" sz="900" dirty="0">
                <a:solidFill>
                  <a:srgbClr val="D4A76A"/>
                </a:solidFill>
                <a:latin typeface="Consolas" pitchFamily="34" charset="0"/>
                <a:ea typeface="Consolas" pitchFamily="34" charset="-122"/>
                <a:cs typeface="Consolas" pitchFamily="34" charset="-120"/>
              </a:rPr>
              <a:t>console</a:t>
            </a:r>
            <a:r>
              <a:rPr lang="en-US" sz="900" dirty="0">
                <a:solidFill>
                  <a:srgbClr val="FAF6F1"/>
                </a:solidFill>
                <a:latin typeface="Consolas" pitchFamily="34" charset="0"/>
                <a:ea typeface="Consolas" pitchFamily="34" charset="-122"/>
                <a:cs typeface="Consolas" pitchFamily="34" charset="-120"/>
              </a:rPr>
              <a:t>.</a:t>
            </a:r>
            <a:r>
              <a:rPr lang="en-US" sz="900" dirty="0">
                <a:solidFill>
                  <a:srgbClr val="D4A76A"/>
                </a:solidFill>
                <a:latin typeface="Consolas" pitchFamily="34" charset="0"/>
                <a:ea typeface="Consolas" pitchFamily="34" charset="-122"/>
                <a:cs typeface="Consolas" pitchFamily="34" charset="-120"/>
              </a:rPr>
              <a:t>log</a:t>
            </a:r>
            <a:r>
              <a:rPr lang="en-US" sz="900" dirty="0">
                <a:solidFill>
                  <a:srgbClr val="FAF6F1"/>
                </a:solidFill>
                <a:latin typeface="Consolas" pitchFamily="34" charset="0"/>
                <a:ea typeface="Consolas" pitchFamily="34" charset="-122"/>
                <a:cs typeface="Consolas" pitchFamily="34" charset="-120"/>
              </a:rPr>
              <a:t>(</a:t>
            </a:r>
            <a:r>
              <a:rPr lang="en-US" sz="900" dirty="0">
                <a:solidFill>
                  <a:srgbClr val="7EB8DA"/>
                </a:solidFill>
                <a:latin typeface="Consolas" pitchFamily="34" charset="0"/>
                <a:ea typeface="Consolas" pitchFamily="34" charset="-122"/>
                <a:cs typeface="Consolas" pitchFamily="34" charset="-120"/>
              </a:rPr>
              <a:t>z</a:t>
            </a:r>
            <a:r>
              <a:rPr lang="en-US" sz="900" dirty="0">
                <a:solidFill>
                  <a:srgbClr val="FAF6F1"/>
                </a:solidFill>
                <a:latin typeface="Consolas" pitchFamily="34" charset="0"/>
                <a:ea typeface="Consolas" pitchFamily="34" charset="-122"/>
                <a:cs typeface="Consolas" pitchFamily="34" charset="-120"/>
              </a:rPr>
              <a:t>);</a:t>
            </a:r>
            <a:endParaRPr lang="en-US" sz="900" dirty="0"/>
          </a:p>
        </p:txBody>
      </p:sp>
      <p:pic>
        <p:nvPicPr>
          <p:cNvPr id="32" name="Image 4"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590139" y="4648581"/>
            <a:ext cx="132588" cy="132588"/>
          </a:xfrm>
          <a:prstGeom prst="rect">
            <a:avLst/>
          </a:prstGeom>
        </p:spPr>
      </p:pic>
      <p:sp>
        <p:nvSpPr>
          <p:cNvPr id="33" name="Text 26"/>
          <p:cNvSpPr/>
          <p:nvPr/>
        </p:nvSpPr>
        <p:spPr>
          <a:xfrm>
            <a:off x="2761655" y="4629150"/>
            <a:ext cx="4151218" cy="171450"/>
          </a:xfrm>
          <a:prstGeom prst="rect">
            <a:avLst/>
          </a:prstGeom>
          <a:noFill/>
          <a:ln/>
        </p:spPr>
        <p:txBody>
          <a:bodyPr wrap="none" lIns="0" tIns="0" rIns="0" bIns="0" rtlCol="0" anchor="ctr"/>
          <a:lstStyle/>
          <a:p>
            <a:pPr marL="0" indent="0" algn="l">
              <a:lnSpc>
                <a:spcPts val="1350"/>
              </a:lnSpc>
              <a:buNone/>
            </a:pPr>
            <a:r>
              <a:rPr lang="en-US" sz="900" dirty="0">
                <a:solidFill>
                  <a:srgbClr val="C4B5A6"/>
                </a:solidFill>
                <a:latin typeface="Corbel" pitchFamily="34" charset="0"/>
                <a:ea typeface="Corbel" pitchFamily="34" charset="-122"/>
                <a:cs typeface="Corbel" pitchFamily="34" charset="-120"/>
              </a:rPr>
              <a:t>Units checked at compile time — clean JavaScript emitted at the other end</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D2520"/>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C4582A">
                  <a:alpha val="8000"/>
                </a:srgbClr>
              </a:gs>
              <a:gs pos="60000">
                <a:srgbClr val="000000">
                  <a:alpha val="0"/>
                </a:srgbClr>
              </a:gs>
            </a:gsLst>
            <a:path path="circle">
              <a:fillToRect l="80000" t="20000" r="20000" b="80000"/>
            </a:path>
          </a:gradFill>
          <a:ln/>
        </p:spPr>
        <p:txBody>
          <a:bodyPr wrap="square" rtlCol="0" anchor="t"/>
          <a:lstStyle/>
          <a:p>
            <a:pPr marL="0" indent="0">
              <a:buNone/>
            </a:pPr>
            <a:endParaRPr lang="en-US" dirty="0"/>
          </a:p>
        </p:txBody>
      </p:sp>
      <p:sp>
        <p:nvSpPr>
          <p:cNvPr id="3" name="Text 1"/>
          <p:cNvSpPr/>
          <p:nvPr/>
        </p:nvSpPr>
        <p:spPr>
          <a:xfrm>
            <a:off x="0" y="0"/>
            <a:ext cx="9144000" cy="5143500"/>
          </a:xfrm>
          <a:prstGeom prst="rect">
            <a:avLst/>
          </a:prstGeom>
          <a:gradFill rotWithShape="1">
            <a:gsLst>
              <a:gs pos="0">
                <a:srgbClr val="C4582A">
                  <a:alpha val="5000"/>
                </a:srgbClr>
              </a:gs>
              <a:gs pos="50000">
                <a:srgbClr val="000000">
                  <a:alpha val="0"/>
                </a:srgbClr>
              </a:gs>
            </a:gsLst>
            <a:path path="circle">
              <a:fillToRect l="15000" t="80000" r="85000" b="20000"/>
            </a:path>
          </a:gradFill>
          <a:ln/>
        </p:spPr>
        <p:txBody>
          <a:bodyPr wrap="square" rtlCol="0" anchor="t"/>
          <a:lstStyle/>
          <a:p>
            <a:pPr marL="0" indent="0">
              <a:buNone/>
            </a:pPr>
            <a:endParaRPr lang="en-US" dirty="0"/>
          </a:p>
        </p:txBody>
      </p:sp>
      <p:sp>
        <p:nvSpPr>
          <p:cNvPr id="4" name="Text 2"/>
          <p:cNvSpPr/>
          <p:nvPr/>
        </p:nvSpPr>
        <p:spPr>
          <a:xfrm>
            <a:off x="2207865" y="1093143"/>
            <a:ext cx="514350" cy="514350"/>
          </a:xfrm>
          <a:prstGeom prst="ellipse">
            <a:avLst/>
          </a:prstGeom>
          <a:solidFill>
            <a:srgbClr val="C4582A">
              <a:alpha val="12000"/>
            </a:srgbClr>
          </a:solidFill>
          <a:ln w="9525">
            <a:solidFill>
              <a:srgbClr val="C4582A">
                <a:alpha val="30000"/>
              </a:srgbClr>
            </a:solidFill>
          </a:ln>
        </p:spPr>
        <p:txBody>
          <a:bodyPr wrap="square" rtlCol="0" anchor="t"/>
          <a:lstStyle/>
          <a:p>
            <a:pPr marL="0" indent="0">
              <a:buNone/>
            </a:pPr>
            <a:endParaRPr lang="en-US" dirty="0"/>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57884" y="1243161"/>
            <a:ext cx="214313" cy="214313"/>
          </a:xfrm>
          <a:prstGeom prst="rect">
            <a:avLst/>
          </a:prstGeom>
        </p:spPr>
      </p:pic>
      <p:sp>
        <p:nvSpPr>
          <p:cNvPr id="6" name="Text 3"/>
          <p:cNvSpPr/>
          <p:nvPr/>
        </p:nvSpPr>
        <p:spPr>
          <a:xfrm>
            <a:off x="2792607" y="1130350"/>
            <a:ext cx="4244437" cy="439936"/>
          </a:xfrm>
          <a:prstGeom prst="rect">
            <a:avLst/>
          </a:prstGeom>
          <a:noFill/>
          <a:ln/>
        </p:spPr>
        <p:txBody>
          <a:bodyPr wrap="none" lIns="0" tIns="0" rIns="0" bIns="0" rtlCol="0" anchor="ctr"/>
          <a:lstStyle/>
          <a:p>
            <a:pPr marL="0" indent="0" algn="ctr">
              <a:lnSpc>
                <a:spcPts val="3465"/>
              </a:lnSpc>
              <a:buNone/>
            </a:pPr>
            <a:r>
              <a:rPr lang="en-US" sz="3150" b="1" kern="0" spc="-30" dirty="0">
                <a:solidFill>
                  <a:srgbClr val="FAF6F1"/>
                </a:solidFill>
                <a:latin typeface="Constantia" pitchFamily="34" charset="0"/>
                <a:ea typeface="Constantia" pitchFamily="34" charset="-122"/>
                <a:cs typeface="Constantia" pitchFamily="34" charset="-120"/>
              </a:rPr>
              <a:t>Start cooking with code.</a:t>
            </a:r>
            <a:endParaRPr lang="en-US" sz="3150" dirty="0"/>
          </a:p>
        </p:txBody>
      </p:sp>
      <p:sp>
        <p:nvSpPr>
          <p:cNvPr id="7" name="Text 4"/>
          <p:cNvSpPr/>
          <p:nvPr/>
        </p:nvSpPr>
        <p:spPr>
          <a:xfrm>
            <a:off x="2438192" y="1778943"/>
            <a:ext cx="4267617" cy="215205"/>
          </a:xfrm>
          <a:prstGeom prst="rect">
            <a:avLst/>
          </a:prstGeom>
          <a:noFill/>
          <a:ln/>
        </p:spPr>
        <p:txBody>
          <a:bodyPr wrap="none" lIns="0" tIns="0" rIns="0" bIns="0" rtlCol="0" anchor="ctr"/>
          <a:lstStyle/>
          <a:p>
            <a:pPr marL="0" indent="0" algn="ctr">
              <a:lnSpc>
                <a:spcPts val="1695"/>
              </a:lnSpc>
              <a:buNone/>
            </a:pPr>
            <a:r>
              <a:rPr lang="en-US" sz="1130" dirty="0">
                <a:solidFill>
                  <a:srgbClr val="C4B8AA"/>
                </a:solidFill>
                <a:latin typeface="Corbel" pitchFamily="34" charset="0"/>
                <a:ea typeface="Corbel" pitchFamily="34" charset="-122"/>
                <a:cs typeface="Corbel" pitchFamily="34" charset="-120"/>
              </a:rPr>
              <a:t>Clone, install, and compile your first recipe in under a minute.</a:t>
            </a:r>
            <a:endParaRPr lang="en-US" sz="1130" dirty="0"/>
          </a:p>
        </p:txBody>
      </p:sp>
      <p:sp>
        <p:nvSpPr>
          <p:cNvPr id="8" name="Text 5"/>
          <p:cNvSpPr/>
          <p:nvPr/>
        </p:nvSpPr>
        <p:spPr>
          <a:xfrm>
            <a:off x="1644848" y="2279898"/>
            <a:ext cx="2841427" cy="579090"/>
          </a:xfrm>
          <a:prstGeom prst="roundRect">
            <a:avLst>
              <a:gd name="adj" fmla="val 14913"/>
            </a:avLst>
          </a:prstGeom>
          <a:solidFill>
            <a:srgbClr val="3D3530"/>
          </a:solidFill>
          <a:ln w="9525">
            <a:solidFill>
              <a:srgbClr val="C4582A">
                <a:alpha val="30000"/>
              </a:srgbClr>
            </a:solidFill>
          </a:ln>
        </p:spPr>
        <p:txBody>
          <a:bodyPr wrap="square" rtlCol="0" anchor="t"/>
          <a:lstStyle/>
          <a:p>
            <a:pPr marL="0" indent="0">
              <a:buNone/>
            </a:pPr>
            <a:endParaRPr lang="en-US" dirty="0"/>
          </a:p>
        </p:txBody>
      </p:sp>
      <p:sp>
        <p:nvSpPr>
          <p:cNvPr id="9" name="Text 6"/>
          <p:cNvSpPr/>
          <p:nvPr/>
        </p:nvSpPr>
        <p:spPr>
          <a:xfrm>
            <a:off x="1854994" y="2411909"/>
            <a:ext cx="314920" cy="314920"/>
          </a:xfrm>
          <a:prstGeom prst="roundRect">
            <a:avLst>
              <a:gd name="adj" fmla="val 22584"/>
            </a:avLst>
          </a:prstGeom>
          <a:solidFill>
            <a:srgbClr val="C4582A">
              <a:alpha val="15000"/>
            </a:srgbClr>
          </a:solidFill>
          <a:ln/>
        </p:spPr>
        <p:txBody>
          <a:bodyPr wrap="square" rtlCol="0" anchor="t"/>
          <a:lstStyle/>
          <a:p>
            <a:pPr marL="0" indent="0">
              <a:buNone/>
            </a:pPr>
            <a:endParaRPr lang="en-US" dirty="0"/>
          </a:p>
        </p:txBody>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946160" y="2503075"/>
            <a:ext cx="132588" cy="132588"/>
          </a:xfrm>
          <a:prstGeom prst="rect">
            <a:avLst/>
          </a:prstGeom>
        </p:spPr>
      </p:pic>
      <p:sp>
        <p:nvSpPr>
          <p:cNvPr id="11" name="Text 7"/>
          <p:cNvSpPr/>
          <p:nvPr/>
        </p:nvSpPr>
        <p:spPr>
          <a:xfrm>
            <a:off x="2270224" y="2403723"/>
            <a:ext cx="2206496" cy="139005"/>
          </a:xfrm>
          <a:prstGeom prst="rect">
            <a:avLst/>
          </a:prstGeom>
          <a:noFill/>
          <a:ln/>
        </p:spPr>
        <p:txBody>
          <a:bodyPr wrap="none" lIns="0" tIns="0" rIns="0" bIns="0" rtlCol="0" anchor="t"/>
          <a:lstStyle/>
          <a:p>
            <a:pPr marL="0" indent="0" algn="l">
              <a:lnSpc>
                <a:spcPts val="1095"/>
              </a:lnSpc>
              <a:buNone/>
            </a:pPr>
            <a:r>
              <a:rPr lang="en-US" sz="730" b="1" kern="0" spc="80" dirty="0">
                <a:solidFill>
                  <a:srgbClr val="C4B8AA"/>
                </a:solidFill>
                <a:latin typeface="Corbel" pitchFamily="34" charset="0"/>
                <a:ea typeface="Corbel" pitchFamily="34" charset="-122"/>
                <a:cs typeface="Corbel" pitchFamily="34" charset="-120"/>
              </a:rPr>
              <a:t>GITHUB</a:t>
            </a:r>
            <a:endParaRPr lang="en-US" sz="730" dirty="0"/>
          </a:p>
        </p:txBody>
      </p:sp>
      <p:sp>
        <p:nvSpPr>
          <p:cNvPr id="12" name="Text 8"/>
          <p:cNvSpPr/>
          <p:nvPr/>
        </p:nvSpPr>
        <p:spPr>
          <a:xfrm>
            <a:off x="2270224" y="2542729"/>
            <a:ext cx="2206496" cy="192435"/>
          </a:xfrm>
          <a:prstGeom prst="rect">
            <a:avLst/>
          </a:prstGeom>
          <a:noFill/>
          <a:ln/>
        </p:spPr>
        <p:txBody>
          <a:bodyPr wrap="none" lIns="0" tIns="0" rIns="0" bIns="0" rtlCol="0" anchor="t"/>
          <a:lstStyle/>
          <a:p>
            <a:pPr marL="0" indent="0" algn="l">
              <a:lnSpc>
                <a:spcPts val="1515"/>
              </a:lnSpc>
              <a:buNone/>
            </a:pPr>
            <a:r>
              <a:rPr lang="en-US" sz="1010" b="1" dirty="0">
                <a:solidFill>
                  <a:srgbClr val="FAF6F1"/>
                </a:solidFill>
                <a:latin typeface="Consolas" pitchFamily="34" charset="0"/>
                <a:ea typeface="Consolas" pitchFamily="34" charset="-122"/>
                <a:cs typeface="Consolas" pitchFamily="34" charset="-120"/>
              </a:rPr>
              <a:t>github.com/FewBlue04/Fling</a:t>
            </a:r>
            <a:endParaRPr lang="en-US" sz="1010" dirty="0"/>
          </a:p>
        </p:txBody>
      </p:sp>
      <p:sp>
        <p:nvSpPr>
          <p:cNvPr id="13" name="Text 9"/>
          <p:cNvSpPr/>
          <p:nvPr/>
        </p:nvSpPr>
        <p:spPr>
          <a:xfrm>
            <a:off x="4657725" y="2279898"/>
            <a:ext cx="2841427" cy="579090"/>
          </a:xfrm>
          <a:prstGeom prst="roundRect">
            <a:avLst>
              <a:gd name="adj" fmla="val 14913"/>
            </a:avLst>
          </a:prstGeom>
          <a:solidFill>
            <a:srgbClr val="3D3530"/>
          </a:solidFill>
          <a:ln w="9525">
            <a:solidFill>
              <a:srgbClr val="C4582A">
                <a:alpha val="30000"/>
              </a:srgbClr>
            </a:solidFill>
          </a:ln>
        </p:spPr>
        <p:txBody>
          <a:bodyPr wrap="square" rtlCol="0" anchor="t"/>
          <a:lstStyle/>
          <a:p>
            <a:pPr marL="0" indent="0">
              <a:buNone/>
            </a:pPr>
            <a:endParaRPr lang="en-US" dirty="0"/>
          </a:p>
        </p:txBody>
      </p:sp>
      <p:sp>
        <p:nvSpPr>
          <p:cNvPr id="14" name="Text 10"/>
          <p:cNvSpPr/>
          <p:nvPr/>
        </p:nvSpPr>
        <p:spPr>
          <a:xfrm>
            <a:off x="4867870" y="2411909"/>
            <a:ext cx="314920" cy="314920"/>
          </a:xfrm>
          <a:prstGeom prst="roundRect">
            <a:avLst>
              <a:gd name="adj" fmla="val 22584"/>
            </a:avLst>
          </a:prstGeom>
          <a:solidFill>
            <a:srgbClr val="C4582A">
              <a:alpha val="15000"/>
            </a:srgbClr>
          </a:solidFill>
          <a:ln/>
        </p:spPr>
        <p:txBody>
          <a:bodyPr wrap="square" rtlCol="0" anchor="t"/>
          <a:lstStyle/>
          <a:p>
            <a:pPr marL="0" indent="0">
              <a:buNone/>
            </a:pPr>
            <a:endParaRPr lang="en-US" dirty="0"/>
          </a:p>
        </p:txBody>
      </p:sp>
      <p:pic>
        <p:nvPicPr>
          <p:cNvPr id="1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959036" y="2503075"/>
            <a:ext cx="132588" cy="132588"/>
          </a:xfrm>
          <a:prstGeom prst="rect">
            <a:avLst/>
          </a:prstGeom>
        </p:spPr>
      </p:pic>
      <p:sp>
        <p:nvSpPr>
          <p:cNvPr id="16" name="Text 11"/>
          <p:cNvSpPr/>
          <p:nvPr/>
        </p:nvSpPr>
        <p:spPr>
          <a:xfrm>
            <a:off x="5283101" y="2403723"/>
            <a:ext cx="2206496" cy="139005"/>
          </a:xfrm>
          <a:prstGeom prst="rect">
            <a:avLst/>
          </a:prstGeom>
          <a:noFill/>
          <a:ln/>
        </p:spPr>
        <p:txBody>
          <a:bodyPr wrap="none" lIns="0" tIns="0" rIns="0" bIns="0" rtlCol="0" anchor="t"/>
          <a:lstStyle/>
          <a:p>
            <a:pPr marL="0" indent="0" algn="l">
              <a:lnSpc>
                <a:spcPts val="1095"/>
              </a:lnSpc>
              <a:buNone/>
            </a:pPr>
            <a:r>
              <a:rPr lang="en-US" sz="730" b="1" kern="0" spc="80" dirty="0">
                <a:solidFill>
                  <a:srgbClr val="C4B8AA"/>
                </a:solidFill>
                <a:latin typeface="Corbel" pitchFamily="34" charset="0"/>
                <a:ea typeface="Corbel" pitchFamily="34" charset="-122"/>
                <a:cs typeface="Corbel" pitchFamily="34" charset="-120"/>
              </a:rPr>
              <a:t>WEBSITE</a:t>
            </a:r>
            <a:endParaRPr lang="en-US" sz="730" dirty="0"/>
          </a:p>
        </p:txBody>
      </p:sp>
      <p:sp>
        <p:nvSpPr>
          <p:cNvPr id="17" name="Text 12"/>
          <p:cNvSpPr/>
          <p:nvPr/>
        </p:nvSpPr>
        <p:spPr>
          <a:xfrm>
            <a:off x="5283101" y="2542729"/>
            <a:ext cx="2206496" cy="192435"/>
          </a:xfrm>
          <a:prstGeom prst="rect">
            <a:avLst/>
          </a:prstGeom>
          <a:noFill/>
          <a:ln/>
        </p:spPr>
        <p:txBody>
          <a:bodyPr wrap="none" lIns="0" tIns="0" rIns="0" bIns="0" rtlCol="0" anchor="t"/>
          <a:lstStyle/>
          <a:p>
            <a:pPr marL="0" indent="0" algn="l">
              <a:lnSpc>
                <a:spcPts val="1515"/>
              </a:lnSpc>
              <a:buNone/>
            </a:pPr>
            <a:r>
              <a:rPr lang="en-US" sz="1010" b="1" dirty="0">
                <a:solidFill>
                  <a:srgbClr val="FAF6F1"/>
                </a:solidFill>
                <a:latin typeface="Consolas" pitchFamily="34" charset="0"/>
                <a:ea typeface="Consolas" pitchFamily="34" charset="-122"/>
                <a:cs typeface="Consolas" pitchFamily="34" charset="-120"/>
              </a:rPr>
              <a:t>fewblue04.github.io/Fling/</a:t>
            </a:r>
            <a:endParaRPr lang="en-US" sz="1010" dirty="0"/>
          </a:p>
        </p:txBody>
      </p:sp>
      <p:sp>
        <p:nvSpPr>
          <p:cNvPr id="18" name="Text 13"/>
          <p:cNvSpPr/>
          <p:nvPr/>
        </p:nvSpPr>
        <p:spPr>
          <a:xfrm>
            <a:off x="2261592" y="3116759"/>
            <a:ext cx="4620816" cy="440085"/>
          </a:xfrm>
          <a:prstGeom prst="roundRect">
            <a:avLst>
              <a:gd name="adj" fmla="val 16161"/>
            </a:avLst>
          </a:prstGeom>
          <a:solidFill>
            <a:srgbClr val="000000">
              <a:alpha val="35000"/>
            </a:srgbClr>
          </a:solidFill>
          <a:ln w="9525">
            <a:solidFill>
              <a:srgbClr val="C4582A">
                <a:alpha val="20000"/>
              </a:srgbClr>
            </a:solidFill>
          </a:ln>
        </p:spPr>
        <p:txBody>
          <a:bodyPr wrap="square" rtlCol="0" anchor="t"/>
          <a:lstStyle/>
          <a:p>
            <a:pPr marL="0" indent="0">
              <a:buNone/>
            </a:pPr>
            <a:endParaRPr lang="en-US" dirty="0"/>
          </a:p>
        </p:txBody>
      </p:sp>
      <p:pic>
        <p:nvPicPr>
          <p:cNvPr id="19"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448306" y="3270433"/>
            <a:ext cx="132588" cy="132588"/>
          </a:xfrm>
          <a:prstGeom prst="rect">
            <a:avLst/>
          </a:prstGeom>
        </p:spPr>
      </p:pic>
      <p:sp>
        <p:nvSpPr>
          <p:cNvPr id="20" name="Text 14"/>
          <p:cNvSpPr/>
          <p:nvPr/>
        </p:nvSpPr>
        <p:spPr>
          <a:xfrm>
            <a:off x="2614910" y="3256806"/>
            <a:ext cx="635198" cy="159990"/>
          </a:xfrm>
          <a:prstGeom prst="rect">
            <a:avLst/>
          </a:prstGeom>
          <a:noFill/>
          <a:ln/>
        </p:spPr>
        <p:txBody>
          <a:bodyPr wrap="none" lIns="0" tIns="0" rIns="0" bIns="0" rtlCol="0" anchor="ctr"/>
          <a:lstStyle/>
          <a:p>
            <a:pPr marL="0" indent="0" algn="ctr">
              <a:lnSpc>
                <a:spcPts val="1260"/>
              </a:lnSpc>
              <a:buNone/>
            </a:pPr>
            <a:r>
              <a:rPr lang="en-US" sz="840" b="1" dirty="0">
                <a:solidFill>
                  <a:srgbClr val="FAF6F1"/>
                </a:solidFill>
                <a:latin typeface="Consolas" pitchFamily="34" charset="0"/>
                <a:ea typeface="Consolas" pitchFamily="34" charset="-122"/>
                <a:cs typeface="Consolas" pitchFamily="34" charset="-120"/>
              </a:rPr>
              <a:t>git clone</a:t>
            </a:r>
            <a:endParaRPr lang="en-US" sz="840" dirty="0"/>
          </a:p>
        </p:txBody>
      </p:sp>
      <p:sp>
        <p:nvSpPr>
          <p:cNvPr id="21" name="Text 15"/>
          <p:cNvSpPr/>
          <p:nvPr/>
        </p:nvSpPr>
        <p:spPr>
          <a:xfrm>
            <a:off x="3303694" y="3240584"/>
            <a:ext cx="84966" cy="192435"/>
          </a:xfrm>
          <a:prstGeom prst="rect">
            <a:avLst/>
          </a:prstGeom>
          <a:noFill/>
          <a:ln/>
        </p:spPr>
        <p:txBody>
          <a:bodyPr wrap="none" lIns="0" tIns="0" rIns="0" bIns="0" rtlCol="0" anchor="ctr"/>
          <a:lstStyle/>
          <a:p>
            <a:pPr marL="0" indent="0" algn="ctr">
              <a:lnSpc>
                <a:spcPts val="1515"/>
              </a:lnSpc>
              <a:buNone/>
            </a:pPr>
            <a:r>
              <a:rPr lang="en-US" sz="1010" dirty="0">
                <a:solidFill>
                  <a:srgbClr val="C4582A"/>
                </a:solidFill>
                <a:latin typeface="Consolas" pitchFamily="34" charset="0"/>
                <a:ea typeface="Consolas" pitchFamily="34" charset="-122"/>
                <a:cs typeface="Consolas" pitchFamily="34" charset="-120"/>
              </a:rPr>
              <a:t>→</a:t>
            </a:r>
            <a:endParaRPr lang="en-US" sz="1010" dirty="0"/>
          </a:p>
        </p:txBody>
      </p:sp>
      <p:sp>
        <p:nvSpPr>
          <p:cNvPr id="22" name="Text 16"/>
          <p:cNvSpPr/>
          <p:nvPr/>
        </p:nvSpPr>
        <p:spPr>
          <a:xfrm>
            <a:off x="3435831" y="3256806"/>
            <a:ext cx="776317" cy="159990"/>
          </a:xfrm>
          <a:prstGeom prst="rect">
            <a:avLst/>
          </a:prstGeom>
          <a:noFill/>
          <a:ln/>
        </p:spPr>
        <p:txBody>
          <a:bodyPr wrap="none" lIns="0" tIns="0" rIns="0" bIns="0" rtlCol="0" anchor="ctr"/>
          <a:lstStyle/>
          <a:p>
            <a:pPr marL="0" indent="0" algn="ctr">
              <a:lnSpc>
                <a:spcPts val="1260"/>
              </a:lnSpc>
              <a:buNone/>
            </a:pPr>
            <a:r>
              <a:rPr lang="en-US" sz="840" b="1" dirty="0">
                <a:solidFill>
                  <a:srgbClr val="FAF6F1"/>
                </a:solidFill>
                <a:latin typeface="Consolas" pitchFamily="34" charset="0"/>
                <a:ea typeface="Consolas" pitchFamily="34" charset="-122"/>
                <a:cs typeface="Consolas" pitchFamily="34" charset="-120"/>
              </a:rPr>
              <a:t>npm install</a:t>
            </a:r>
            <a:endParaRPr lang="en-US" sz="840" dirty="0"/>
          </a:p>
        </p:txBody>
      </p:sp>
      <p:sp>
        <p:nvSpPr>
          <p:cNvPr id="23" name="Text 17"/>
          <p:cNvSpPr/>
          <p:nvPr/>
        </p:nvSpPr>
        <p:spPr>
          <a:xfrm>
            <a:off x="4259320" y="3240584"/>
            <a:ext cx="84966" cy="192435"/>
          </a:xfrm>
          <a:prstGeom prst="rect">
            <a:avLst/>
          </a:prstGeom>
          <a:noFill/>
          <a:ln/>
        </p:spPr>
        <p:txBody>
          <a:bodyPr wrap="none" lIns="0" tIns="0" rIns="0" bIns="0" rtlCol="0" anchor="ctr"/>
          <a:lstStyle/>
          <a:p>
            <a:pPr marL="0" indent="0" algn="ctr">
              <a:lnSpc>
                <a:spcPts val="1515"/>
              </a:lnSpc>
              <a:buNone/>
            </a:pPr>
            <a:r>
              <a:rPr lang="en-US" sz="1010" dirty="0">
                <a:solidFill>
                  <a:srgbClr val="C4582A"/>
                </a:solidFill>
                <a:latin typeface="Consolas" pitchFamily="34" charset="0"/>
                <a:ea typeface="Consolas" pitchFamily="34" charset="-122"/>
                <a:cs typeface="Consolas" pitchFamily="34" charset="-120"/>
              </a:rPr>
              <a:t>→</a:t>
            </a:r>
            <a:endParaRPr lang="en-US" sz="1010" dirty="0"/>
          </a:p>
        </p:txBody>
      </p:sp>
      <p:sp>
        <p:nvSpPr>
          <p:cNvPr id="24" name="Text 18"/>
          <p:cNvSpPr/>
          <p:nvPr/>
        </p:nvSpPr>
        <p:spPr>
          <a:xfrm>
            <a:off x="4314468" y="3256806"/>
            <a:ext cx="2470071" cy="159990"/>
          </a:xfrm>
          <a:prstGeom prst="rect">
            <a:avLst/>
          </a:prstGeom>
          <a:noFill/>
          <a:ln/>
        </p:spPr>
        <p:txBody>
          <a:bodyPr wrap="none" lIns="0" tIns="0" rIns="0" bIns="0" rtlCol="0" anchor="ctr"/>
          <a:lstStyle/>
          <a:p>
            <a:pPr marL="0" indent="0" algn="ctr">
              <a:lnSpc>
                <a:spcPts val="1260"/>
              </a:lnSpc>
              <a:buNone/>
            </a:pPr>
            <a:r>
              <a:rPr lang="en-US" sz="840" b="1" dirty="0">
                <a:solidFill>
                  <a:srgbClr val="FAF6F1"/>
                </a:solidFill>
                <a:latin typeface="Consolas" pitchFamily="34" charset="0"/>
                <a:ea typeface="Consolas" pitchFamily="34" charset="-122"/>
                <a:cs typeface="Consolas" pitchFamily="34" charset="-120"/>
              </a:rPr>
              <a:t>node src/fling.js yourprogram.fling</a:t>
            </a:r>
            <a:endParaRPr lang="en-US" sz="840" dirty="0"/>
          </a:p>
        </p:txBody>
      </p:sp>
      <p:pic>
        <p:nvPicPr>
          <p:cNvPr id="25"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588776" y="3908608"/>
            <a:ext cx="132588" cy="132588"/>
          </a:xfrm>
          <a:prstGeom prst="rect">
            <a:avLst/>
          </a:prstGeom>
        </p:spPr>
      </p:pic>
      <p:sp>
        <p:nvSpPr>
          <p:cNvPr id="26" name="Text 19"/>
          <p:cNvSpPr/>
          <p:nvPr/>
        </p:nvSpPr>
        <p:spPr>
          <a:xfrm>
            <a:off x="3685996" y="3899743"/>
            <a:ext cx="1938992" cy="150465"/>
          </a:xfrm>
          <a:prstGeom prst="rect">
            <a:avLst/>
          </a:prstGeom>
          <a:noFill/>
          <a:ln/>
        </p:spPr>
        <p:txBody>
          <a:bodyPr wrap="none" lIns="0" tIns="0" rIns="0" bIns="0" rtlCol="0" anchor="ctr"/>
          <a:lstStyle/>
          <a:p>
            <a:pPr marL="0" indent="0" algn="ctr">
              <a:lnSpc>
                <a:spcPts val="1185"/>
              </a:lnSpc>
              <a:buNone/>
            </a:pPr>
            <a:r>
              <a:rPr lang="en-US" sz="790" dirty="0">
                <a:solidFill>
                  <a:srgbClr val="C4B8AA"/>
                </a:solidFill>
                <a:latin typeface="Corbel" pitchFamily="34" charset="0"/>
                <a:ea typeface="Corbel" pitchFamily="34" charset="-122"/>
                <a:cs typeface="Corbel" pitchFamily="34" charset="-120"/>
              </a:rPr>
              <a:t>Built at Loyola Marymount University</a:t>
            </a:r>
            <a:endParaRPr lang="en-US" sz="79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1571</Words>
  <Application>Microsoft Office PowerPoint</Application>
  <PresentationFormat>On-screen Show (16:9)</PresentationFormat>
  <Paragraphs>169</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Consolas</vt:lpstr>
      <vt:lpstr>Constantia</vt:lpstr>
      <vt:lpstr>Corbel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subject>PptxGenJS Presentation</dc:subject>
  <dc:creator>docgen</dc:creator>
  <cp:lastModifiedBy>Dietsch, Matthew</cp:lastModifiedBy>
  <cp:revision>3</cp:revision>
  <dcterms:created xsi:type="dcterms:W3CDTF">2026-05-04T09:13:28Z</dcterms:created>
  <dcterms:modified xsi:type="dcterms:W3CDTF">2026-05-04T09:46:09Z</dcterms:modified>
</cp:coreProperties>
</file>